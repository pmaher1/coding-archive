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6"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ddy Maher" initials="PM" lastIdx="17" clrIdx="0">
    <p:extLst>
      <p:ext uri="{19B8F6BF-5375-455C-9EA6-DF929625EA0E}">
        <p15:presenceInfo xmlns:p15="http://schemas.microsoft.com/office/powerpoint/2012/main" userId="S-1-5-21-533636080-3694528349-3776484076-36715" providerId="AD"/>
      </p:ext>
    </p:extLst>
  </p:cmAuthor>
  <p:cmAuthor id="2" name="Brendan Maher" initials="BM" lastIdx="2" clrIdx="1">
    <p:extLst>
      <p:ext uri="{19B8F6BF-5375-455C-9EA6-DF929625EA0E}">
        <p15:presenceInfo xmlns:p15="http://schemas.microsoft.com/office/powerpoint/2012/main" userId="a66032caf3a586b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A829"/>
    <a:srgbClr val="27E1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343"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3-22T09:19:52.333" idx="1">
    <p:pos x="-8" y="4111"/>
    <p:text>Maker Labs Product;  https://www.makerlab-electronics.com/product/arduino-uno-r3-atmega328p-ch340g/</p:text>
    <p:extLst>
      <p:ext uri="{C676402C-5697-4E1C-873F-D02D1690AC5C}">
        <p15:threadingInfo xmlns:p15="http://schemas.microsoft.com/office/powerpoint/2012/main" timeZoneBias="-600"/>
      </p:ext>
    </p:extLst>
  </p:cm>
  <p:cm authorId="1" dt="2019-03-22T09:23:50.055" idx="2">
    <p:pos x="-6" y="3971"/>
    <p:text>Arduino website; https://store.arduino.cc/usa/arduino-uno-rev3</p:text>
    <p:extLst>
      <p:ext uri="{C676402C-5697-4E1C-873F-D02D1690AC5C}">
        <p15:threadingInfo xmlns:p15="http://schemas.microsoft.com/office/powerpoint/2012/main" timeZoneBias="-600"/>
      </p:ext>
    </p:extLst>
  </p:cm>
  <p:cm authorId="1" dt="2019-03-22T09:38:19.789" idx="3">
    <p:pos x="-21" y="3838"/>
    <p:text>The engineering projects website offers a good source for understanding with the Arduino Uno and is the source of much of this slide. https://www.theengineeringprojects.com/2018/06/introduction-to-arduino-uno.html</p:text>
    <p:extLst>
      <p:ext uri="{C676402C-5697-4E1C-873F-D02D1690AC5C}">
        <p15:threadingInfo xmlns:p15="http://schemas.microsoft.com/office/powerpoint/2012/main" timeZoneBias="-600"/>
      </p:ext>
    </p:extLst>
  </p:cm>
  <p:cm authorId="1" dt="2019-03-28T09:19:06.076" idx="4">
    <p:pos x="-7" y="3705"/>
    <p:text>The list of Arduinos such as the Lilypad and the Arduino Red and the Arduino Mega can be found on the Sparkfun website: https://learn.sparkfun.com/tutorials/what-is-an-arduino/all#whats-on-the-board</p:text>
    <p:extLst>
      <p:ext uri="{C676402C-5697-4E1C-873F-D02D1690AC5C}">
        <p15:threadingInfo xmlns:p15="http://schemas.microsoft.com/office/powerpoint/2012/main" timeZoneBias="-6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9-03-28T09:31:47.413" idx="5">
    <p:pos x="1" y="4144"/>
    <p:text>The IDE can be found on the following website: https://create.arduino.cc/editor/yosdanf/8dd31739-60f8-4086-a3c3-f2e2f2e3fa5c</p:text>
    <p:extLst>
      <p:ext uri="{C676402C-5697-4E1C-873F-D02D1690AC5C}">
        <p15:threadingInfo xmlns:p15="http://schemas.microsoft.com/office/powerpoint/2012/main" timeZoneBias="-600"/>
      </p:ext>
    </p:extLst>
  </p:cm>
  <p:cm authorId="1" dt="2019-03-31T19:32:59.202" idx="6">
    <p:pos x="0" y="4001"/>
    <p:text>C++ Libraries and resources about the language can be found on the cplusplus website; http://www.cplusplus.com/</p:text>
    <p:extLst>
      <p:ext uri="{C676402C-5697-4E1C-873F-D02D1690AC5C}">
        <p15:threadingInfo xmlns:p15="http://schemas.microsoft.com/office/powerpoint/2012/main" timeZoneBias="-600"/>
      </p:ext>
    </p:extLst>
  </p:cm>
  <p:cm authorId="1" dt="2019-03-31T20:08:37.547" idx="7">
    <p:pos x="1" y="3850"/>
    <p:text>Involt software and code can be found on their github; https://involt.github.io/</p:text>
    <p:extLst>
      <p:ext uri="{C676402C-5697-4E1C-873F-D02D1690AC5C}">
        <p15:threadingInfo xmlns:p15="http://schemas.microsoft.com/office/powerpoint/2012/main" timeZoneBias="-600"/>
      </p:ext>
    </p:extLst>
  </p:cm>
  <p:cm authorId="1" dt="2019-03-31T20:31:43.845" idx="11">
    <p:pos x="1" y="3719"/>
    <p:text>Circuit.io is another way for creating projects for the Arduino with interactive environments for testing hardware solutions with the Arduino; https://www.circuito.io/</p:text>
    <p:extLst>
      <p:ext uri="{C676402C-5697-4E1C-873F-D02D1690AC5C}">
        <p15:threadingInfo xmlns:p15="http://schemas.microsoft.com/office/powerpoint/2012/main" timeZoneBias="-600"/>
      </p:ext>
    </p:extLst>
  </p:cm>
  <p:cm authorId="1" dt="2019-04-01T12:40:59.061" idx="12">
    <p:pos x="1" y="3598"/>
    <p:text>References; http://snap4arduino.rocks/ http://blog.ardublock.com/</p:text>
    <p:extLst>
      <p:ext uri="{C676402C-5697-4E1C-873F-D02D1690AC5C}">
        <p15:threadingInfo xmlns:p15="http://schemas.microsoft.com/office/powerpoint/2012/main" timeZoneBias="-6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9-03-31T20:09:28.700" idx="8">
    <p:pos x="-8" y="4138"/>
    <p:text>Burglar Alarm website; http://www.circuitstoday.com/burglar-alarm-using-arduino-and-pir-sensor</p:text>
    <p:extLst>
      <p:ext uri="{C676402C-5697-4E1C-873F-D02D1690AC5C}">
        <p15:threadingInfo xmlns:p15="http://schemas.microsoft.com/office/powerpoint/2012/main" timeZoneBias="-600"/>
      </p:ext>
    </p:extLst>
  </p:cm>
  <p:cm authorId="1" dt="2019-03-31T20:10:37.382" idx="9">
    <p:pos x="-9" y="3997"/>
    <p:text>The Arduino projects page with over 200 projects can be found at; https://create.arduino.cc/projecthub/projects/tags/iot?f=1</p:text>
    <p:extLst>
      <p:ext uri="{C676402C-5697-4E1C-873F-D02D1690AC5C}">
        <p15:threadingInfo xmlns:p15="http://schemas.microsoft.com/office/powerpoint/2012/main" timeZoneBias="-600"/>
      </p:ext>
    </p:extLst>
  </p:cm>
  <p:cm authorId="1" dt="2019-03-31T20:12:13.384" idx="10">
    <p:pos x="-7" y="3858"/>
    <p:text>The Solar statistics example can be found on the website; https://www.instructables.com/id/Solar-Tracking-With-Arduino-Intelligent-System/</p:text>
    <p:extLst>
      <p:ext uri="{C676402C-5697-4E1C-873F-D02D1690AC5C}">
        <p15:threadingInfo xmlns:p15="http://schemas.microsoft.com/office/powerpoint/2012/main" timeZoneBias="-600"/>
      </p:ext>
    </p:extLst>
  </p:cm>
  <p:cm authorId="1" dt="2019-04-01T19:55:18.631" idx="13">
    <p:pos x="-25" y="3710"/>
    <p:text>https://create.arduino.cc/projecthub/Homer/arduino-web-based-car-race-brick-game-cb1b30?ref=tag&amp;ref_id=iot&amp;offset=12 Car game  https://create.arduino.cc/projecthub/mjrobot/local-and-remote-programmable-robotic-arm-f6ba98?ref=tag&amp;ref_id=iot&amp;offset=36 Robot arm</p:text>
    <p:extLst>
      <p:ext uri="{C676402C-5697-4E1C-873F-D02D1690AC5C}">
        <p15:threadingInfo xmlns:p15="http://schemas.microsoft.com/office/powerpoint/2012/main" timeZoneBias="-60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19-04-01T20:14:58.734" idx="14">
    <p:pos x="10" y="4086"/>
    <p:text>The project used for the case study; https://create.arduino.cc/projecthub/vicentezavala/iot-arduino-ball-tracking-3c251c?</p:text>
    <p:extLst>
      <p:ext uri="{C676402C-5697-4E1C-873F-D02D1690AC5C}">
        <p15:threadingInfo xmlns:p15="http://schemas.microsoft.com/office/powerpoint/2012/main" timeZoneBias="-600"/>
      </p:ext>
    </p:extLst>
  </p:cm>
  <p:cm authorId="1" dt="2019-04-04T20:01:01.796" idx="15">
    <p:pos x="19" y="3797"/>
    <p:text>Reference of the tennis ball image used; ref=tag&amp;ref_id=iot&amp;offset=71 http://ftptennis.net/ftp-tennis-college/ftp-tennis-college-courses/fundamentals-of-tennis-courses/the-tennis-court/section-01-tennis-court-anatomy/</p:text>
    <p:extLst>
      <p:ext uri="{C676402C-5697-4E1C-873F-D02D1690AC5C}">
        <p15:threadingInfo xmlns:p15="http://schemas.microsoft.com/office/powerpoint/2012/main" timeZoneBias="-600"/>
      </p:ext>
    </p:extLst>
  </p:cm>
  <p:cm authorId="1" dt="2019-04-04T20:01:19.207" idx="16">
    <p:pos x="6" y="3934"/>
    <p:text>This is an example of a rotating solar panel on the nevonprojects website; https://nevonprojects.com/rotating-solar-panel-using-arduino/</p:text>
    <p:extLst>
      <p:ext uri="{C676402C-5697-4E1C-873F-D02D1690AC5C}">
        <p15:threadingInfo xmlns:p15="http://schemas.microsoft.com/office/powerpoint/2012/main" timeZoneBias="-6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19-04-04T22:05:43.686" idx="17">
    <p:pos x="1" y="4109"/>
    <p:text>The mind-map demonstrated was created using coggle and can be found on this link; https://coggle.it/diagram/XKXXa3d8TmnBpBe8/t/-</p:text>
    <p:extLst>
      <p:ext uri="{C676402C-5697-4E1C-873F-D02D1690AC5C}">
        <p15:threadingInfo xmlns:p15="http://schemas.microsoft.com/office/powerpoint/2012/main" timeZoneBias="-60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43032C70-8EA2-4A59-B24C-68E89AF401AC}" type="datetimeFigureOut">
              <a:rPr lang="en-AU" smtClean="0"/>
              <a:t>18/08/2021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3695919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3032C70-8EA2-4A59-B24C-68E89AF401AC}" type="datetimeFigureOut">
              <a:rPr lang="en-AU" smtClean="0"/>
              <a:t>18/08/2021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398788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032C70-8EA2-4A59-B24C-68E89AF401AC}" type="datetimeFigureOut">
              <a:rPr lang="en-AU" smtClean="0"/>
              <a:t>18/08/2021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826221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43032C70-8EA2-4A59-B24C-68E89AF401AC}" type="datetimeFigureOut">
              <a:rPr lang="en-AU" smtClean="0"/>
              <a:t>18/08/2021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638741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43032C70-8EA2-4A59-B24C-68E89AF401AC}" type="datetimeFigureOut">
              <a:rPr lang="en-AU" smtClean="0"/>
              <a:t>18/08/2021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1918501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43032C70-8EA2-4A59-B24C-68E89AF401AC}" type="datetimeFigureOut">
              <a:rPr lang="en-AU" smtClean="0"/>
              <a:t>18/08/2021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131427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032C70-8EA2-4A59-B24C-68E89AF401AC}" type="datetimeFigureOut">
              <a:rPr lang="en-AU" smtClean="0"/>
              <a:t>18/08/2021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20508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032C70-8EA2-4A59-B24C-68E89AF401AC}" type="datetimeFigureOut">
              <a:rPr lang="en-AU" smtClean="0"/>
              <a:t>18/08/2021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1492856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032C70-8EA2-4A59-B24C-68E89AF401AC}" type="datetimeFigureOut">
              <a:rPr lang="en-AU" smtClean="0"/>
              <a:t>18/08/2021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3940054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3032C70-8EA2-4A59-B24C-68E89AF401AC}" type="datetimeFigureOut">
              <a:rPr lang="en-AU" smtClean="0"/>
              <a:t>18/08/2021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3067606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43032C70-8EA2-4A59-B24C-68E89AF401AC}" type="datetimeFigureOut">
              <a:rPr lang="en-AU" smtClean="0"/>
              <a:t>18/08/2021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8C56A9A-FC43-4CF2-970D-F45BE779857E}" type="slidenum">
              <a:rPr lang="en-AU" smtClean="0"/>
              <a:t>‹#›</a:t>
            </a:fld>
            <a:endParaRPr lang="en-AU"/>
          </a:p>
        </p:txBody>
      </p:sp>
    </p:spTree>
    <p:extLst>
      <p:ext uri="{BB962C8B-B14F-4D97-AF65-F5344CB8AC3E}">
        <p14:creationId xmlns:p14="http://schemas.microsoft.com/office/powerpoint/2010/main" val="1235064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032C70-8EA2-4A59-B24C-68E89AF401AC}" type="datetimeFigureOut">
              <a:rPr lang="en-AU" smtClean="0"/>
              <a:t>18/08/2021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C56A9A-FC43-4CF2-970D-F45BE779857E}" type="slidenum">
              <a:rPr lang="en-AU" smtClean="0"/>
              <a:t>‹#›</a:t>
            </a:fld>
            <a:endParaRPr lang="en-AU"/>
          </a:p>
        </p:txBody>
      </p:sp>
    </p:spTree>
    <p:extLst>
      <p:ext uri="{BB962C8B-B14F-4D97-AF65-F5344CB8AC3E}">
        <p14:creationId xmlns:p14="http://schemas.microsoft.com/office/powerpoint/2010/main" val="2453033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comments" Target="../comments/comment1.xml"/><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comments" Target="../comments/comment2.xml"/><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jpeg"/><Relationship Id="rId12" Type="http://schemas.openxmlformats.org/officeDocument/2006/relationships/comments" Target="../comments/comment3.xml"/><Relationship Id="rId2" Type="http://schemas.openxmlformats.org/officeDocument/2006/relationships/image" Target="../media/image20.jpeg"/><Relationship Id="rId1" Type="http://schemas.openxmlformats.org/officeDocument/2006/relationships/slideLayout" Target="../slideLayouts/slideLayout1.xml"/><Relationship Id="rId6" Type="http://schemas.openxmlformats.org/officeDocument/2006/relationships/image" Target="../media/image24.jpeg"/><Relationship Id="rId11" Type="http://schemas.openxmlformats.org/officeDocument/2006/relationships/image" Target="../media/image29.jpeg"/><Relationship Id="rId5" Type="http://schemas.openxmlformats.org/officeDocument/2006/relationships/image" Target="../media/image23.png"/><Relationship Id="rId10" Type="http://schemas.openxmlformats.org/officeDocument/2006/relationships/image" Target="../media/image28.jpeg"/><Relationship Id="rId4" Type="http://schemas.openxmlformats.org/officeDocument/2006/relationships/image" Target="../media/image22.png"/><Relationship Id="rId9"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comments" Target="../comments/comment4.xml"/><Relationship Id="rId5" Type="http://schemas.openxmlformats.org/officeDocument/2006/relationships/image" Target="../media/image33.png"/><Relationship Id="rId4" Type="http://schemas.openxmlformats.org/officeDocument/2006/relationships/image" Target="../media/image32.jpeg"/></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012" y="1329613"/>
            <a:ext cx="3725235" cy="2246769"/>
          </a:xfrm>
          <a:prstGeom prst="rect">
            <a:avLst/>
          </a:prstGeom>
          <a:solidFill>
            <a:schemeClr val="bg1"/>
          </a:solidFill>
          <a:ln>
            <a:solidFill>
              <a:srgbClr val="00B050"/>
            </a:solidFill>
          </a:ln>
        </p:spPr>
        <p:txBody>
          <a:bodyPr wrap="square" rtlCol="0">
            <a:spAutoFit/>
          </a:bodyPr>
          <a:lstStyle/>
          <a:p>
            <a:r>
              <a:rPr lang="en-AU" sz="1000" dirty="0"/>
              <a:t>This is the </a:t>
            </a:r>
            <a:r>
              <a:rPr lang="it-IT" sz="1000" dirty="0"/>
              <a:t>Arduino UNO R3 ATmega328P CH340G as seen on the Maker labs electronics’ website.</a:t>
            </a:r>
          </a:p>
          <a:p>
            <a:r>
              <a:rPr lang="en-AU" sz="1000" dirty="0"/>
              <a:t>Specifications include: Microcontroller: ATmega328</a:t>
            </a:r>
          </a:p>
          <a:p>
            <a:r>
              <a:rPr lang="en-AU" sz="1000" dirty="0"/>
              <a:t>Operating voltage: 5V</a:t>
            </a:r>
          </a:p>
          <a:p>
            <a:r>
              <a:rPr lang="en-AU" sz="1000" dirty="0"/>
              <a:t>Input voltage (recommended): 7-12V</a:t>
            </a:r>
          </a:p>
          <a:p>
            <a:r>
              <a:rPr lang="en-AU" sz="1000" dirty="0"/>
              <a:t>Input voltage (limits): 6-20V</a:t>
            </a:r>
          </a:p>
          <a:p>
            <a:r>
              <a:rPr lang="en-AU" sz="1000" dirty="0"/>
              <a:t>Digital I/O pins: 14 (of which 6 provide PWM output)</a:t>
            </a:r>
          </a:p>
          <a:p>
            <a:r>
              <a:rPr lang="en-AU" sz="1000" dirty="0"/>
              <a:t>Analog input pins: 6</a:t>
            </a:r>
          </a:p>
          <a:p>
            <a:r>
              <a:rPr lang="en-AU" sz="1000" dirty="0"/>
              <a:t>DC current per I/O Pin: 40 mA</a:t>
            </a:r>
          </a:p>
          <a:p>
            <a:r>
              <a:rPr lang="en-AU" sz="1000" dirty="0"/>
              <a:t>DC current for 3.3V Pin: 50 mA</a:t>
            </a:r>
          </a:p>
          <a:p>
            <a:r>
              <a:rPr lang="en-AU" sz="1000" dirty="0"/>
              <a:t>Flash memory: 32 KB of which 0.5 KB used by bootloader</a:t>
            </a:r>
          </a:p>
          <a:p>
            <a:r>
              <a:rPr lang="en-AU" sz="1000" dirty="0"/>
              <a:t>SRAM: 2 KB</a:t>
            </a:r>
          </a:p>
          <a:p>
            <a:r>
              <a:rPr lang="en-AU" sz="1000" dirty="0"/>
              <a:t>EEPROM: 1 KB</a:t>
            </a:r>
          </a:p>
          <a:p>
            <a:r>
              <a:rPr lang="en-AU" sz="1000" dirty="0"/>
              <a:t>Clock speed: 16 MHz</a:t>
            </a:r>
          </a:p>
        </p:txBody>
      </p:sp>
      <p:sp>
        <p:nvSpPr>
          <p:cNvPr id="6" name="TextBox 5"/>
          <p:cNvSpPr txBox="1"/>
          <p:nvPr/>
        </p:nvSpPr>
        <p:spPr>
          <a:xfrm>
            <a:off x="76013" y="91830"/>
            <a:ext cx="3114687" cy="1169551"/>
          </a:xfrm>
          <a:prstGeom prst="rect">
            <a:avLst/>
          </a:prstGeom>
          <a:noFill/>
          <a:ln>
            <a:solidFill>
              <a:srgbClr val="00B050"/>
            </a:solidFill>
          </a:ln>
        </p:spPr>
        <p:txBody>
          <a:bodyPr wrap="square" rtlCol="0">
            <a:spAutoFit/>
          </a:bodyPr>
          <a:lstStyle/>
          <a:p>
            <a:r>
              <a:rPr lang="en-AU" sz="1000" dirty="0"/>
              <a:t>The Arduino board as described by the Arduino website; ‘the best board to get started with electronics and coding. If this is your first experience tinkering with the platform, the UNO is the most robust board you can start playing with. The UNO is the most used and documented board of the whole Arduino family.</a:t>
            </a:r>
          </a:p>
          <a:p>
            <a:endParaRPr lang="en-AU" sz="1000" dirty="0"/>
          </a:p>
        </p:txBody>
      </p:sp>
      <p:sp>
        <p:nvSpPr>
          <p:cNvPr id="7" name="Title 1"/>
          <p:cNvSpPr>
            <a:spLocks noGrp="1"/>
          </p:cNvSpPr>
          <p:nvPr>
            <p:ph type="title"/>
          </p:nvPr>
        </p:nvSpPr>
        <p:spPr>
          <a:xfrm>
            <a:off x="3589960" y="-108234"/>
            <a:ext cx="12661247" cy="1325563"/>
          </a:xfrm>
        </p:spPr>
        <p:txBody>
          <a:bodyPr>
            <a:normAutofit/>
          </a:bodyPr>
          <a:lstStyle/>
          <a:p>
            <a:r>
              <a:rPr lang="en-AU" sz="5400" b="1" dirty="0"/>
              <a:t>Arduino- Board and Hardware</a:t>
            </a:r>
            <a:endParaRPr lang="en-AU" sz="5400" dirty="0"/>
          </a:p>
        </p:txBody>
      </p:sp>
      <p:pic>
        <p:nvPicPr>
          <p:cNvPr id="8" name="Picture 7"/>
          <p:cNvPicPr>
            <a:picLocks noChangeAspect="1"/>
          </p:cNvPicPr>
          <p:nvPr/>
        </p:nvPicPr>
        <p:blipFill>
          <a:blip r:embed="rId2"/>
          <a:stretch>
            <a:fillRect/>
          </a:stretch>
        </p:blipFill>
        <p:spPr>
          <a:xfrm>
            <a:off x="7484016" y="992207"/>
            <a:ext cx="4546506" cy="2542133"/>
          </a:xfrm>
          <a:prstGeom prst="rect">
            <a:avLst/>
          </a:prstGeom>
          <a:ln>
            <a:solidFill>
              <a:srgbClr val="00B050"/>
            </a:solidFill>
          </a:ln>
        </p:spPr>
      </p:pic>
      <p:sp>
        <p:nvSpPr>
          <p:cNvPr id="9" name="TextBox 8"/>
          <p:cNvSpPr txBox="1"/>
          <p:nvPr/>
        </p:nvSpPr>
        <p:spPr>
          <a:xfrm>
            <a:off x="7461061" y="3662295"/>
            <a:ext cx="4546506" cy="861774"/>
          </a:xfrm>
          <a:prstGeom prst="rect">
            <a:avLst/>
          </a:prstGeom>
          <a:solidFill>
            <a:schemeClr val="bg1"/>
          </a:solidFill>
          <a:ln>
            <a:solidFill>
              <a:srgbClr val="00B050"/>
            </a:solidFill>
          </a:ln>
        </p:spPr>
        <p:txBody>
          <a:bodyPr wrap="square" rtlCol="0">
            <a:spAutoFit/>
          </a:bodyPr>
          <a:lstStyle/>
          <a:p>
            <a:r>
              <a:rPr lang="en-AU" sz="1000" dirty="0"/>
              <a:t>Annotated image and diagram of the hardware components and features of the Arduino Uno. It can be seen through this image the various pins and components within the Arduino the functionalities of the Arduino Uno. The range of functionality attributes to the creative initiative the Arduino boards and products provide.</a:t>
            </a:r>
          </a:p>
          <a:p>
            <a:endParaRPr lang="en-AU" sz="1000" dirty="0"/>
          </a:p>
        </p:txBody>
      </p:sp>
      <p:cxnSp>
        <p:nvCxnSpPr>
          <p:cNvPr id="10" name="Straight Arrow Connector 9"/>
          <p:cNvCxnSpPr/>
          <p:nvPr/>
        </p:nvCxnSpPr>
        <p:spPr>
          <a:xfrm flipH="1" flipV="1">
            <a:off x="9436545" y="3192823"/>
            <a:ext cx="9681" cy="46947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026" name="Picture 2" descr="https://au.element14.com/productimages/standard/en_GB/2851780-4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7562" y="4642889"/>
            <a:ext cx="3834021" cy="192899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174318" y="4614880"/>
            <a:ext cx="1024644" cy="2092881"/>
          </a:xfrm>
          <a:prstGeom prst="rect">
            <a:avLst/>
          </a:prstGeom>
          <a:solidFill>
            <a:schemeClr val="bg1"/>
          </a:solidFill>
          <a:ln>
            <a:solidFill>
              <a:srgbClr val="00B050"/>
            </a:solidFill>
          </a:ln>
        </p:spPr>
        <p:txBody>
          <a:bodyPr wrap="square" rtlCol="0">
            <a:spAutoFit/>
          </a:bodyPr>
          <a:lstStyle/>
          <a:p>
            <a:r>
              <a:rPr lang="en-AU" sz="1000" dirty="0"/>
              <a:t>The Arduino Education kit provides many boards, jumpers and electronic components, it is a kit that provides the foundations for many projects to be made for hobbyists and student alike.</a:t>
            </a:r>
          </a:p>
        </p:txBody>
      </p:sp>
      <p:pic>
        <p:nvPicPr>
          <p:cNvPr id="13" name="Picture 2" descr="Image result for arduino un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6611" y="3633005"/>
            <a:ext cx="3194711" cy="2019767"/>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14" name="Straight Arrow Connector 13"/>
          <p:cNvCxnSpPr>
            <a:stCxn id="5" idx="2"/>
          </p:cNvCxnSpPr>
          <p:nvPr/>
        </p:nvCxnSpPr>
        <p:spPr>
          <a:xfrm flipH="1">
            <a:off x="1938629" y="3576382"/>
            <a:ext cx="1" cy="31419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p:cNvCxnSpPr/>
          <p:nvPr/>
        </p:nvCxnSpPr>
        <p:spPr>
          <a:xfrm>
            <a:off x="8172806" y="5546377"/>
            <a:ext cx="1093843" cy="4870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TextBox 20"/>
          <p:cNvSpPr txBox="1"/>
          <p:nvPr/>
        </p:nvSpPr>
        <p:spPr>
          <a:xfrm>
            <a:off x="4094028" y="929344"/>
            <a:ext cx="2616502" cy="861774"/>
          </a:xfrm>
          <a:prstGeom prst="rect">
            <a:avLst/>
          </a:prstGeom>
          <a:solidFill>
            <a:schemeClr val="bg1"/>
          </a:solidFill>
          <a:ln>
            <a:solidFill>
              <a:srgbClr val="00B050"/>
            </a:solidFill>
          </a:ln>
        </p:spPr>
        <p:txBody>
          <a:bodyPr wrap="square" rtlCol="0">
            <a:spAutoFit/>
          </a:bodyPr>
          <a:lstStyle/>
          <a:p>
            <a:r>
              <a:rPr lang="en-AU" sz="1000" dirty="0"/>
              <a:t>The Arduino UNO is not the only Arduino board, there are many other boards and designs, such as the following boards; the </a:t>
            </a:r>
            <a:r>
              <a:rPr lang="en-AU" sz="1000" dirty="0" err="1"/>
              <a:t>Lilypad</a:t>
            </a:r>
            <a:r>
              <a:rPr lang="en-AU" sz="1000" dirty="0"/>
              <a:t> Arduino, the </a:t>
            </a:r>
            <a:r>
              <a:rPr lang="en-AU" sz="1000" dirty="0" err="1"/>
              <a:t>RedBoard</a:t>
            </a:r>
            <a:r>
              <a:rPr lang="en-AU" sz="1000" dirty="0"/>
              <a:t> and the Arduino Mega</a:t>
            </a:r>
          </a:p>
        </p:txBody>
      </p:sp>
      <p:grpSp>
        <p:nvGrpSpPr>
          <p:cNvPr id="17" name="Group 16"/>
          <p:cNvGrpSpPr/>
          <p:nvPr/>
        </p:nvGrpSpPr>
        <p:grpSpPr>
          <a:xfrm>
            <a:off x="3979031" y="1853627"/>
            <a:ext cx="1580967" cy="3741453"/>
            <a:chOff x="4148910" y="2027335"/>
            <a:chExt cx="1580967" cy="3741453"/>
          </a:xfrm>
        </p:grpSpPr>
        <p:pic>
          <p:nvPicPr>
            <p:cNvPr id="1028" name="Picture 4" descr="alt tex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48910" y="2027335"/>
              <a:ext cx="1552643" cy="1231691"/>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1030" name="Picture 6" descr="alt text"/>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48910" y="3259027"/>
              <a:ext cx="1580967" cy="1298366"/>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1032" name="Picture 8" descr="alt tex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48910" y="4557392"/>
              <a:ext cx="1526410" cy="1211396"/>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grpSp>
      <p:sp>
        <p:nvSpPr>
          <p:cNvPr id="22" name="TextBox 21"/>
          <p:cNvSpPr txBox="1"/>
          <p:nvPr/>
        </p:nvSpPr>
        <p:spPr>
          <a:xfrm>
            <a:off x="5578930" y="1869307"/>
            <a:ext cx="1425807" cy="1015663"/>
          </a:xfrm>
          <a:prstGeom prst="rect">
            <a:avLst/>
          </a:prstGeom>
          <a:solidFill>
            <a:schemeClr val="bg1"/>
          </a:solidFill>
          <a:ln>
            <a:solidFill>
              <a:srgbClr val="00B050"/>
            </a:solidFill>
          </a:ln>
        </p:spPr>
        <p:txBody>
          <a:bodyPr wrap="square" rtlCol="0">
            <a:spAutoFit/>
          </a:bodyPr>
          <a:lstStyle/>
          <a:p>
            <a:r>
              <a:rPr lang="en-AU" sz="1000" dirty="0"/>
              <a:t>The Arduino </a:t>
            </a:r>
            <a:r>
              <a:rPr lang="en-AU" sz="1000" dirty="0" err="1"/>
              <a:t>Lilypad</a:t>
            </a:r>
            <a:r>
              <a:rPr lang="en-AU" sz="1000" dirty="0"/>
              <a:t> is a unique flexible and wearable board with conductive thread, stated even to be washable. </a:t>
            </a:r>
          </a:p>
        </p:txBody>
      </p:sp>
      <p:sp>
        <p:nvSpPr>
          <p:cNvPr id="24" name="TextBox 23"/>
          <p:cNvSpPr txBox="1"/>
          <p:nvPr/>
        </p:nvSpPr>
        <p:spPr>
          <a:xfrm>
            <a:off x="5618826" y="3117957"/>
            <a:ext cx="1425807" cy="1169551"/>
          </a:xfrm>
          <a:prstGeom prst="rect">
            <a:avLst/>
          </a:prstGeom>
          <a:solidFill>
            <a:schemeClr val="bg1"/>
          </a:solidFill>
          <a:ln>
            <a:solidFill>
              <a:srgbClr val="00B050"/>
            </a:solidFill>
          </a:ln>
        </p:spPr>
        <p:txBody>
          <a:bodyPr wrap="square" rtlCol="0">
            <a:spAutoFit/>
          </a:bodyPr>
          <a:lstStyle/>
          <a:p>
            <a:r>
              <a:rPr lang="en-AU" sz="1000" dirty="0"/>
              <a:t>The </a:t>
            </a:r>
            <a:r>
              <a:rPr lang="en-AU" sz="1000" dirty="0" err="1"/>
              <a:t>RedBoard</a:t>
            </a:r>
            <a:r>
              <a:rPr lang="en-AU" sz="1000" dirty="0"/>
              <a:t> made by </a:t>
            </a:r>
            <a:r>
              <a:rPr lang="en-AU" sz="1000" dirty="0" err="1"/>
              <a:t>SparkFun</a:t>
            </a:r>
            <a:r>
              <a:rPr lang="en-AU" sz="1000" dirty="0"/>
              <a:t> whilst not too technically different, provides an aesthetic alternative to the blue of the traditional Arduino UNO boards</a:t>
            </a:r>
          </a:p>
        </p:txBody>
      </p:sp>
      <p:sp>
        <p:nvSpPr>
          <p:cNvPr id="25" name="TextBox 24"/>
          <p:cNvSpPr txBox="1"/>
          <p:nvPr/>
        </p:nvSpPr>
        <p:spPr>
          <a:xfrm>
            <a:off x="5629911" y="4591250"/>
            <a:ext cx="1425807" cy="1015663"/>
          </a:xfrm>
          <a:prstGeom prst="rect">
            <a:avLst/>
          </a:prstGeom>
          <a:solidFill>
            <a:schemeClr val="bg1"/>
          </a:solidFill>
          <a:ln>
            <a:solidFill>
              <a:srgbClr val="00B050"/>
            </a:solidFill>
          </a:ln>
        </p:spPr>
        <p:txBody>
          <a:bodyPr wrap="square" rtlCol="0">
            <a:spAutoFit/>
          </a:bodyPr>
          <a:lstStyle/>
          <a:p>
            <a:r>
              <a:rPr lang="en-AU" sz="1000" dirty="0"/>
              <a:t>The Arduino Mega provides many more pins and functions as a much more capable board with more functionalities.</a:t>
            </a:r>
          </a:p>
        </p:txBody>
      </p:sp>
      <p:cxnSp>
        <p:nvCxnSpPr>
          <p:cNvPr id="27" name="Straight Arrow Connector 26"/>
          <p:cNvCxnSpPr/>
          <p:nvPr/>
        </p:nvCxnSpPr>
        <p:spPr>
          <a:xfrm flipH="1">
            <a:off x="5357710" y="2192472"/>
            <a:ext cx="221220" cy="14013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p:cNvCxnSpPr/>
          <p:nvPr/>
        </p:nvCxnSpPr>
        <p:spPr>
          <a:xfrm flipH="1">
            <a:off x="5252013" y="3581777"/>
            <a:ext cx="357131" cy="5782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p:cNvCxnSpPr/>
          <p:nvPr/>
        </p:nvCxnSpPr>
        <p:spPr>
          <a:xfrm flipH="1">
            <a:off x="5125458" y="4890708"/>
            <a:ext cx="493368" cy="1175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flipH="1">
            <a:off x="4661620" y="1765934"/>
            <a:ext cx="9682" cy="471925"/>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5" name="Picture 2" descr="Image result for arduino uno shield"/>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824955" y="5740903"/>
            <a:ext cx="1051776" cy="1051776"/>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19" name="Picture 18"/>
          <p:cNvPicPr>
            <a:picLocks noChangeAspect="1"/>
          </p:cNvPicPr>
          <p:nvPr/>
        </p:nvPicPr>
        <p:blipFill>
          <a:blip r:embed="rId9"/>
          <a:stretch>
            <a:fillRect/>
          </a:stretch>
        </p:blipFill>
        <p:spPr>
          <a:xfrm>
            <a:off x="238126" y="5755251"/>
            <a:ext cx="1265833" cy="1037428"/>
          </a:xfrm>
          <a:prstGeom prst="rect">
            <a:avLst/>
          </a:prstGeom>
          <a:ln>
            <a:solidFill>
              <a:srgbClr val="00B050"/>
            </a:solidFill>
          </a:ln>
        </p:spPr>
      </p:pic>
      <p:sp>
        <p:nvSpPr>
          <p:cNvPr id="32" name="TextBox 31"/>
          <p:cNvSpPr txBox="1"/>
          <p:nvPr/>
        </p:nvSpPr>
        <p:spPr>
          <a:xfrm>
            <a:off x="1563967" y="5714518"/>
            <a:ext cx="4142388" cy="1323439"/>
          </a:xfrm>
          <a:prstGeom prst="rect">
            <a:avLst/>
          </a:prstGeom>
          <a:solidFill>
            <a:schemeClr val="bg1"/>
          </a:solidFill>
          <a:ln>
            <a:solidFill>
              <a:srgbClr val="00B050"/>
            </a:solidFill>
          </a:ln>
        </p:spPr>
        <p:txBody>
          <a:bodyPr wrap="square" rtlCol="0">
            <a:spAutoFit/>
          </a:bodyPr>
          <a:lstStyle/>
          <a:p>
            <a:r>
              <a:rPr lang="en-AU" sz="1000" dirty="0"/>
              <a:t>There are more extensions and capabilities to the Arduino boards however, sensors provide much more functionality to the Arduino and therefore make the Arduino’s much more useful. Some of the sensors as shown on the left detect; light, ultrasonic sound, temperature, humidity and much more. More pins and extensions can be added via the shields for the Arduinos, they connect the Arduino to more functionalities and hardware components  The shield on the right is the shield for the Arduino R3</a:t>
            </a:r>
          </a:p>
          <a:p>
            <a:endParaRPr lang="en-AU" sz="1000" dirty="0"/>
          </a:p>
        </p:txBody>
      </p:sp>
      <p:cxnSp>
        <p:nvCxnSpPr>
          <p:cNvPr id="33" name="Straight Arrow Connector 32"/>
          <p:cNvCxnSpPr/>
          <p:nvPr/>
        </p:nvCxnSpPr>
        <p:spPr>
          <a:xfrm flipH="1">
            <a:off x="1070599" y="6273965"/>
            <a:ext cx="493368" cy="1175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p:cNvCxnSpPr/>
          <p:nvPr/>
        </p:nvCxnSpPr>
        <p:spPr>
          <a:xfrm>
            <a:off x="5690022" y="6285716"/>
            <a:ext cx="510990"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1415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8247915" y="3820173"/>
            <a:ext cx="3828027" cy="1475592"/>
          </a:xfrm>
          <a:prstGeom prst="rect">
            <a:avLst/>
          </a:prstGeom>
          <a:ln>
            <a:solidFill>
              <a:srgbClr val="00B050"/>
            </a:solidFill>
          </a:ln>
        </p:spPr>
      </p:pic>
      <p:sp>
        <p:nvSpPr>
          <p:cNvPr id="10" name="Title 9"/>
          <p:cNvSpPr>
            <a:spLocks noGrp="1"/>
          </p:cNvSpPr>
          <p:nvPr>
            <p:ph type="title"/>
          </p:nvPr>
        </p:nvSpPr>
        <p:spPr>
          <a:xfrm>
            <a:off x="4639594" y="-177771"/>
            <a:ext cx="10515600" cy="1325563"/>
          </a:xfrm>
        </p:spPr>
        <p:txBody>
          <a:bodyPr>
            <a:normAutofit/>
          </a:bodyPr>
          <a:lstStyle/>
          <a:p>
            <a:r>
              <a:rPr lang="en-AU" sz="5400" b="1" dirty="0"/>
              <a:t>Arduino IDE and Software</a:t>
            </a:r>
            <a:endParaRPr lang="en-AU" sz="5400" dirty="0"/>
          </a:p>
        </p:txBody>
      </p:sp>
      <p:pic>
        <p:nvPicPr>
          <p:cNvPr id="2" name="Picture 1"/>
          <p:cNvPicPr>
            <a:picLocks noChangeAspect="1"/>
          </p:cNvPicPr>
          <p:nvPr/>
        </p:nvPicPr>
        <p:blipFill>
          <a:blip r:embed="rId3"/>
          <a:stretch>
            <a:fillRect/>
          </a:stretch>
        </p:blipFill>
        <p:spPr>
          <a:xfrm>
            <a:off x="45395" y="99887"/>
            <a:ext cx="2362612" cy="1841188"/>
          </a:xfrm>
          <a:prstGeom prst="rect">
            <a:avLst/>
          </a:prstGeom>
          <a:ln>
            <a:solidFill>
              <a:srgbClr val="00B050"/>
            </a:solidFill>
          </a:ln>
        </p:spPr>
      </p:pic>
      <p:sp>
        <p:nvSpPr>
          <p:cNvPr id="11" name="TextBox 10"/>
          <p:cNvSpPr txBox="1"/>
          <p:nvPr/>
        </p:nvSpPr>
        <p:spPr>
          <a:xfrm>
            <a:off x="2610098" y="141958"/>
            <a:ext cx="1555914" cy="1355551"/>
          </a:xfrm>
          <a:prstGeom prst="rect">
            <a:avLst/>
          </a:prstGeom>
          <a:noFill/>
          <a:ln>
            <a:solidFill>
              <a:srgbClr val="00B050"/>
            </a:solidFill>
          </a:ln>
        </p:spPr>
        <p:txBody>
          <a:bodyPr wrap="square" rtlCol="0">
            <a:spAutoFit/>
          </a:bodyPr>
          <a:lstStyle/>
          <a:p>
            <a:r>
              <a:rPr lang="en-AU" sz="1000" dirty="0"/>
              <a:t>All Arduino boards that can be programmed using the IDE. This UI demonstrates a scrolling menu with a search function to differentiate and find the board suited for programming.</a:t>
            </a:r>
          </a:p>
        </p:txBody>
      </p:sp>
      <p:cxnSp>
        <p:nvCxnSpPr>
          <p:cNvPr id="12" name="Straight Arrow Connector 11"/>
          <p:cNvCxnSpPr/>
          <p:nvPr/>
        </p:nvCxnSpPr>
        <p:spPr>
          <a:xfrm flipH="1" flipV="1">
            <a:off x="1725964" y="991292"/>
            <a:ext cx="878497" cy="761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026" name="Picture 2" descr="Image result for c++">
            <a:extLst>
              <a:ext uri="{FF2B5EF4-FFF2-40B4-BE49-F238E27FC236}">
                <a16:creationId xmlns:a16="http://schemas.microsoft.com/office/drawing/2014/main" id="{E4308C57-D63C-4102-BF9A-18AE108B3F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110" y="5259207"/>
            <a:ext cx="1085964" cy="1220755"/>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320047" y="4961369"/>
            <a:ext cx="1518776" cy="1824086"/>
          </a:xfrm>
          <a:prstGeom prst="rect">
            <a:avLst/>
          </a:prstGeom>
          <a:noFill/>
          <a:ln>
            <a:solidFill>
              <a:srgbClr val="00B050"/>
            </a:solidFill>
          </a:ln>
        </p:spPr>
        <p:txBody>
          <a:bodyPr wrap="square" rtlCol="0">
            <a:spAutoFit/>
          </a:bodyPr>
          <a:lstStyle/>
          <a:p>
            <a:r>
              <a:rPr lang="en-AU" sz="1000" dirty="0"/>
              <a:t>C++ is a very popular programming language. C++ is a C-based language variant that uses object-orientated language. C++ as a general language is fast in executing and gives much control to the developer. It is integral to the Arduino as it is was is used in their IDE.</a:t>
            </a:r>
            <a:endParaRPr lang="en-AU" sz="900" dirty="0"/>
          </a:p>
        </p:txBody>
      </p:sp>
      <p:sp>
        <p:nvSpPr>
          <p:cNvPr id="14" name="TextBox 13"/>
          <p:cNvSpPr txBox="1"/>
          <p:nvPr/>
        </p:nvSpPr>
        <p:spPr>
          <a:xfrm>
            <a:off x="8347076" y="3196143"/>
            <a:ext cx="3629707" cy="553998"/>
          </a:xfrm>
          <a:prstGeom prst="rect">
            <a:avLst/>
          </a:prstGeom>
          <a:noFill/>
          <a:ln>
            <a:solidFill>
              <a:srgbClr val="00B050"/>
            </a:solidFill>
          </a:ln>
        </p:spPr>
        <p:txBody>
          <a:bodyPr wrap="square" rtlCol="0">
            <a:spAutoFit/>
          </a:bodyPr>
          <a:lstStyle/>
          <a:p>
            <a:r>
              <a:rPr lang="en-AU" sz="1000" dirty="0"/>
              <a:t>Arduino features an IDE that allows for use of various languages. There is a terminal where users can write in C++ to write their programs for the Arduino boards.</a:t>
            </a:r>
            <a:endParaRPr lang="en-AU" sz="900" dirty="0"/>
          </a:p>
        </p:txBody>
      </p:sp>
      <p:cxnSp>
        <p:nvCxnSpPr>
          <p:cNvPr id="15" name="Straight Arrow Connector 14"/>
          <p:cNvCxnSpPr/>
          <p:nvPr/>
        </p:nvCxnSpPr>
        <p:spPr>
          <a:xfrm flipH="1">
            <a:off x="10499228" y="3742172"/>
            <a:ext cx="3791" cy="51623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6" name="TextBox 15"/>
          <p:cNvSpPr txBox="1"/>
          <p:nvPr/>
        </p:nvSpPr>
        <p:spPr>
          <a:xfrm>
            <a:off x="8435543" y="740747"/>
            <a:ext cx="3452775" cy="2400657"/>
          </a:xfrm>
          <a:prstGeom prst="rect">
            <a:avLst/>
          </a:prstGeom>
          <a:noFill/>
          <a:ln>
            <a:solidFill>
              <a:srgbClr val="00B050"/>
            </a:solidFill>
          </a:ln>
        </p:spPr>
        <p:txBody>
          <a:bodyPr wrap="square" rtlCol="0">
            <a:spAutoFit/>
          </a:bodyPr>
          <a:lstStyle/>
          <a:p>
            <a:r>
              <a:rPr lang="en-AU" sz="1000" dirty="0"/>
              <a:t>Hardware is infamously only one half of a digital solution, and is useless without software. The Arduino IDE and code is integral to the functionality and purpose of the various Arduino boards. </a:t>
            </a:r>
          </a:p>
          <a:p>
            <a:endParaRPr lang="en-AU" sz="1000" dirty="0"/>
          </a:p>
          <a:p>
            <a:r>
              <a:rPr lang="en-AU" sz="1000" dirty="0"/>
              <a:t>Arduino offers an open-source platform and there is much information for users to learn from therefore making the Arduino brand and boards one of the most user-friendly experiences.</a:t>
            </a:r>
          </a:p>
          <a:p>
            <a:endParaRPr lang="en-AU" sz="1000" dirty="0"/>
          </a:p>
          <a:p>
            <a:r>
              <a:rPr lang="en-AU" sz="1000" dirty="0"/>
              <a:t>Learning languages such as C++ are beneficial in unlocking the true control and capabilities the hardware components of the Arduino offer. And as seen in the proceeding ‘Intelligent Systems’ slide, there is immense capability and creative potential for the Arduino products.</a:t>
            </a:r>
          </a:p>
        </p:txBody>
      </p:sp>
      <p:sp>
        <p:nvSpPr>
          <p:cNvPr id="17" name="TextBox 16"/>
          <p:cNvSpPr txBox="1"/>
          <p:nvPr/>
        </p:nvSpPr>
        <p:spPr>
          <a:xfrm>
            <a:off x="1402981" y="2046902"/>
            <a:ext cx="1435842" cy="2862322"/>
          </a:xfrm>
          <a:prstGeom prst="rect">
            <a:avLst/>
          </a:prstGeom>
          <a:noFill/>
          <a:ln>
            <a:solidFill>
              <a:srgbClr val="00B050"/>
            </a:solidFill>
          </a:ln>
        </p:spPr>
        <p:txBody>
          <a:bodyPr wrap="square" rtlCol="0">
            <a:spAutoFit/>
          </a:bodyPr>
          <a:lstStyle/>
          <a:p>
            <a:r>
              <a:rPr lang="en-AU" sz="1000" dirty="0"/>
              <a:t>This feature amongst the UI of the Arduino IDE displays the vast libraries created from the open-source platform and is testament to the creative potential of the Arduino.</a:t>
            </a:r>
          </a:p>
          <a:p>
            <a:r>
              <a:rPr lang="en-AU" sz="1000" dirty="0"/>
              <a:t>The UI even accustoms for selection of favourites and customs from the libraries one may find from the search functionality. With libraries languages such as Python and C# can be used.</a:t>
            </a:r>
          </a:p>
        </p:txBody>
      </p:sp>
      <p:pic>
        <p:nvPicPr>
          <p:cNvPr id="18" name="Picture 17"/>
          <p:cNvPicPr>
            <a:picLocks noChangeAspect="1"/>
          </p:cNvPicPr>
          <p:nvPr/>
        </p:nvPicPr>
        <p:blipFill>
          <a:blip r:embed="rId5"/>
          <a:stretch>
            <a:fillRect/>
          </a:stretch>
        </p:blipFill>
        <p:spPr>
          <a:xfrm>
            <a:off x="70790" y="2046902"/>
            <a:ext cx="1263967" cy="2727507"/>
          </a:xfrm>
          <a:prstGeom prst="rect">
            <a:avLst/>
          </a:prstGeom>
          <a:ln>
            <a:solidFill>
              <a:srgbClr val="00B050"/>
            </a:solidFill>
          </a:ln>
        </p:spPr>
      </p:pic>
      <p:cxnSp>
        <p:nvCxnSpPr>
          <p:cNvPr id="19" name="Straight Arrow Connector 18"/>
          <p:cNvCxnSpPr/>
          <p:nvPr/>
        </p:nvCxnSpPr>
        <p:spPr>
          <a:xfrm flipH="1">
            <a:off x="728154" y="3347322"/>
            <a:ext cx="806462" cy="1949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p:nvPr/>
        </p:nvCxnSpPr>
        <p:spPr>
          <a:xfrm flipH="1" flipV="1">
            <a:off x="676644" y="6055606"/>
            <a:ext cx="693712" cy="1922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1" name="Picture 20"/>
          <p:cNvPicPr>
            <a:picLocks noChangeAspect="1"/>
          </p:cNvPicPr>
          <p:nvPr/>
        </p:nvPicPr>
        <p:blipFill>
          <a:blip r:embed="rId6"/>
          <a:stretch>
            <a:fillRect/>
          </a:stretch>
        </p:blipFill>
        <p:spPr>
          <a:xfrm>
            <a:off x="9332742" y="5560678"/>
            <a:ext cx="2743200" cy="962025"/>
          </a:xfrm>
          <a:prstGeom prst="rect">
            <a:avLst/>
          </a:prstGeom>
          <a:ln>
            <a:solidFill>
              <a:srgbClr val="00B050"/>
            </a:solidFill>
          </a:ln>
        </p:spPr>
      </p:pic>
      <p:sp>
        <p:nvSpPr>
          <p:cNvPr id="22" name="TextBox 21"/>
          <p:cNvSpPr txBox="1"/>
          <p:nvPr/>
        </p:nvSpPr>
        <p:spPr>
          <a:xfrm>
            <a:off x="7126752" y="5365797"/>
            <a:ext cx="2131226" cy="1477328"/>
          </a:xfrm>
          <a:prstGeom prst="rect">
            <a:avLst/>
          </a:prstGeom>
          <a:noFill/>
          <a:ln>
            <a:solidFill>
              <a:srgbClr val="00B050"/>
            </a:solidFill>
          </a:ln>
        </p:spPr>
        <p:txBody>
          <a:bodyPr wrap="square" rtlCol="0">
            <a:spAutoFit/>
          </a:bodyPr>
          <a:lstStyle/>
          <a:p>
            <a:r>
              <a:rPr lang="en-AU" sz="1000" dirty="0" err="1"/>
              <a:t>Involt</a:t>
            </a:r>
            <a:r>
              <a:rPr lang="en-AU" sz="1000" dirty="0"/>
              <a:t> is a website/ service that uses the Arduino for HTML/ CSS prototyping. It provides UI prototyping with a branch to hardware in being the Arduino. It uses HTML/ JavaScript to control the Arduino using such methods as PWM with JavaScript elements such as Range-slider.</a:t>
            </a:r>
          </a:p>
        </p:txBody>
      </p:sp>
      <p:cxnSp>
        <p:nvCxnSpPr>
          <p:cNvPr id="23" name="Straight Arrow Connector 22"/>
          <p:cNvCxnSpPr/>
          <p:nvPr/>
        </p:nvCxnSpPr>
        <p:spPr>
          <a:xfrm>
            <a:off x="8963891" y="6020701"/>
            <a:ext cx="368851" cy="4198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4" name="Picture 23"/>
          <p:cNvPicPr>
            <a:picLocks noChangeAspect="1"/>
          </p:cNvPicPr>
          <p:nvPr/>
        </p:nvPicPr>
        <p:blipFill>
          <a:blip r:embed="rId7"/>
          <a:stretch>
            <a:fillRect/>
          </a:stretch>
        </p:blipFill>
        <p:spPr>
          <a:xfrm>
            <a:off x="2942405" y="1656954"/>
            <a:ext cx="1256815" cy="2802298"/>
          </a:xfrm>
          <a:prstGeom prst="rect">
            <a:avLst/>
          </a:prstGeom>
          <a:ln>
            <a:solidFill>
              <a:srgbClr val="00B050"/>
            </a:solidFill>
          </a:ln>
        </p:spPr>
      </p:pic>
      <p:sp>
        <p:nvSpPr>
          <p:cNvPr id="27" name="TextBox 26"/>
          <p:cNvSpPr txBox="1"/>
          <p:nvPr/>
        </p:nvSpPr>
        <p:spPr>
          <a:xfrm>
            <a:off x="2952473" y="4551393"/>
            <a:ext cx="1213539" cy="2246769"/>
          </a:xfrm>
          <a:prstGeom prst="rect">
            <a:avLst/>
          </a:prstGeom>
          <a:noFill/>
          <a:ln>
            <a:solidFill>
              <a:srgbClr val="00B050"/>
            </a:solidFill>
          </a:ln>
        </p:spPr>
        <p:txBody>
          <a:bodyPr wrap="square" rtlCol="0">
            <a:spAutoFit/>
          </a:bodyPr>
          <a:lstStyle/>
          <a:p>
            <a:r>
              <a:rPr lang="en-AU" sz="1000" dirty="0"/>
              <a:t>Attributing to the educational prospects of the Arduino brand, the Arduino IDE presents a window in the form of  the ‘Examples’. The examples present much educational material for Arduino developers to adopt and analyse.</a:t>
            </a:r>
          </a:p>
        </p:txBody>
      </p:sp>
      <p:cxnSp>
        <p:nvCxnSpPr>
          <p:cNvPr id="28" name="Straight Arrow Connector 27"/>
          <p:cNvCxnSpPr/>
          <p:nvPr/>
        </p:nvCxnSpPr>
        <p:spPr>
          <a:xfrm flipV="1">
            <a:off x="3462807" y="3680480"/>
            <a:ext cx="21073" cy="97025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050" name="Picture 2" descr="Image result for snap4arduino blocks"/>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36236" y="883582"/>
            <a:ext cx="1682247" cy="1261015"/>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2052" name="Picture 4" descr="Image result for ardublock block"/>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45765" y="2314941"/>
            <a:ext cx="1678684" cy="1059670"/>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29" name="TextBox 28"/>
          <p:cNvSpPr txBox="1"/>
          <p:nvPr/>
        </p:nvSpPr>
        <p:spPr>
          <a:xfrm>
            <a:off x="6438118" y="957751"/>
            <a:ext cx="1763263" cy="2246769"/>
          </a:xfrm>
          <a:prstGeom prst="rect">
            <a:avLst/>
          </a:prstGeom>
          <a:noFill/>
          <a:ln>
            <a:solidFill>
              <a:srgbClr val="00B050"/>
            </a:solidFill>
          </a:ln>
        </p:spPr>
        <p:txBody>
          <a:bodyPr wrap="square" rtlCol="0">
            <a:spAutoFit/>
          </a:bodyPr>
          <a:lstStyle/>
          <a:p>
            <a:r>
              <a:rPr lang="en-AU" sz="1000" dirty="0"/>
              <a:t>The Arduino is not just limited to being programmed in a terminal/character environment, There are graphical alternatives for developers also in the form of </a:t>
            </a:r>
            <a:r>
              <a:rPr lang="en-AU" sz="1000" dirty="0" err="1"/>
              <a:t>ArduBlock</a:t>
            </a:r>
            <a:r>
              <a:rPr lang="en-AU" sz="1000" dirty="0"/>
              <a:t> and Snap4Arduino. The pictures demonstrating the interfaces (Snap4Arduino above and the </a:t>
            </a:r>
            <a:r>
              <a:rPr lang="en-AU" sz="1000" dirty="0" err="1"/>
              <a:t>ArduBlock</a:t>
            </a:r>
            <a:r>
              <a:rPr lang="en-AU" sz="1000" dirty="0"/>
              <a:t> interface) demonstrate the block development seen in IDE such as block.ly with the </a:t>
            </a:r>
            <a:r>
              <a:rPr lang="en-AU" sz="1000" dirty="0" err="1"/>
              <a:t>Microbit</a:t>
            </a:r>
            <a:r>
              <a:rPr lang="en-AU" sz="1000" dirty="0"/>
              <a:t>.</a:t>
            </a:r>
          </a:p>
        </p:txBody>
      </p:sp>
      <p:cxnSp>
        <p:nvCxnSpPr>
          <p:cNvPr id="30" name="Straight Arrow Connector 29"/>
          <p:cNvCxnSpPr/>
          <p:nvPr/>
        </p:nvCxnSpPr>
        <p:spPr>
          <a:xfrm flipH="1" flipV="1">
            <a:off x="5915891" y="1514089"/>
            <a:ext cx="513211" cy="70294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p:cNvCxnSpPr/>
          <p:nvPr/>
        </p:nvCxnSpPr>
        <p:spPr>
          <a:xfrm flipH="1">
            <a:off x="5902389" y="2217035"/>
            <a:ext cx="540214" cy="58576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054" name="Picture 6" descr="Image result for python langua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45817" y="3554870"/>
            <a:ext cx="1570344" cy="1570344"/>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34" name="TextBox 33"/>
          <p:cNvSpPr txBox="1"/>
          <p:nvPr/>
        </p:nvSpPr>
        <p:spPr>
          <a:xfrm>
            <a:off x="4257413" y="3601378"/>
            <a:ext cx="2131226" cy="1323439"/>
          </a:xfrm>
          <a:prstGeom prst="rect">
            <a:avLst/>
          </a:prstGeom>
          <a:noFill/>
          <a:ln>
            <a:solidFill>
              <a:srgbClr val="00B050"/>
            </a:solidFill>
          </a:ln>
        </p:spPr>
        <p:txBody>
          <a:bodyPr wrap="square" rtlCol="0">
            <a:spAutoFit/>
          </a:bodyPr>
          <a:lstStyle/>
          <a:p>
            <a:r>
              <a:rPr lang="en-AU" sz="1000" dirty="0"/>
              <a:t>Python is also available to be used for Arduino for those developers specialised in Python. With the communication to the hardware being through serial input, using </a:t>
            </a:r>
            <a:r>
              <a:rPr lang="en-AU" sz="1000" dirty="0" err="1"/>
              <a:t>pySerial</a:t>
            </a:r>
            <a:r>
              <a:rPr lang="en-AU" sz="1000" dirty="0"/>
              <a:t>, there is much information on their website on how to perform the task.</a:t>
            </a:r>
          </a:p>
        </p:txBody>
      </p:sp>
      <p:cxnSp>
        <p:nvCxnSpPr>
          <p:cNvPr id="35" name="Straight Arrow Connector 34"/>
          <p:cNvCxnSpPr>
            <a:stCxn id="34" idx="3"/>
          </p:cNvCxnSpPr>
          <p:nvPr/>
        </p:nvCxnSpPr>
        <p:spPr>
          <a:xfrm flipV="1">
            <a:off x="6388639" y="4258406"/>
            <a:ext cx="385512" cy="469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32" name="Picture 31"/>
          <p:cNvPicPr>
            <a:picLocks noChangeAspect="1"/>
          </p:cNvPicPr>
          <p:nvPr/>
        </p:nvPicPr>
        <p:blipFill>
          <a:blip r:embed="rId11"/>
          <a:stretch>
            <a:fillRect/>
          </a:stretch>
        </p:blipFill>
        <p:spPr>
          <a:xfrm>
            <a:off x="4331096" y="5094561"/>
            <a:ext cx="811544" cy="774146"/>
          </a:xfrm>
          <a:prstGeom prst="rect">
            <a:avLst/>
          </a:prstGeom>
          <a:ln>
            <a:solidFill>
              <a:srgbClr val="00B050"/>
            </a:solidFill>
          </a:ln>
        </p:spPr>
      </p:pic>
      <p:pic>
        <p:nvPicPr>
          <p:cNvPr id="2058" name="Picture 10" descr="Image result for visual studio"/>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331096" y="5978816"/>
            <a:ext cx="805563" cy="80556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41" name="TextBox 40"/>
          <p:cNvSpPr txBox="1"/>
          <p:nvPr/>
        </p:nvSpPr>
        <p:spPr>
          <a:xfrm>
            <a:off x="5285107" y="5166946"/>
            <a:ext cx="1750245" cy="1631216"/>
          </a:xfrm>
          <a:prstGeom prst="rect">
            <a:avLst/>
          </a:prstGeom>
          <a:noFill/>
          <a:ln>
            <a:solidFill>
              <a:srgbClr val="00B050"/>
            </a:solidFill>
          </a:ln>
        </p:spPr>
        <p:txBody>
          <a:bodyPr wrap="square" rtlCol="0">
            <a:spAutoFit/>
          </a:bodyPr>
          <a:lstStyle/>
          <a:p>
            <a:r>
              <a:rPr lang="en-AU" sz="1000" dirty="0"/>
              <a:t>Development for strictly Microsoft developers (in knowing only C#) exists also with the Arduino. Using ‘</a:t>
            </a:r>
            <a:r>
              <a:rPr lang="en-AU" sz="1000" dirty="0" err="1"/>
              <a:t>CmdMessenger</a:t>
            </a:r>
            <a:r>
              <a:rPr lang="en-AU" sz="1000" dirty="0"/>
              <a:t>’, communication with serial inputs  can be used with different languages and can even be ran in Visual Studio with C#.</a:t>
            </a:r>
          </a:p>
        </p:txBody>
      </p:sp>
      <p:cxnSp>
        <p:nvCxnSpPr>
          <p:cNvPr id="42" name="Straight Arrow Connector 41"/>
          <p:cNvCxnSpPr/>
          <p:nvPr/>
        </p:nvCxnSpPr>
        <p:spPr>
          <a:xfrm flipH="1">
            <a:off x="4782812" y="5978816"/>
            <a:ext cx="540214" cy="58576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p:cNvCxnSpPr/>
          <p:nvPr/>
        </p:nvCxnSpPr>
        <p:spPr>
          <a:xfrm flipH="1" flipV="1">
            <a:off x="4903934" y="5560678"/>
            <a:ext cx="451980" cy="42234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31624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4154" y="-1405379"/>
            <a:ext cx="13378792" cy="2322404"/>
          </a:xfrm>
        </p:spPr>
        <p:txBody>
          <a:bodyPr>
            <a:normAutofit/>
          </a:bodyPr>
          <a:lstStyle/>
          <a:p>
            <a:r>
              <a:rPr lang="en-AU" sz="5400" b="1" dirty="0"/>
              <a:t>Arduino Intelligent Systems</a:t>
            </a:r>
          </a:p>
        </p:txBody>
      </p:sp>
      <p:pic>
        <p:nvPicPr>
          <p:cNvPr id="1026" name="Picture 2" descr="https://cdn.instructables.com/F07/RRIZ/JHKTY0V3/F07RRIZJHKTY0V3.LARGE.jpg?auto=webp&amp;crop=3: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092" y="229126"/>
            <a:ext cx="2094158" cy="139520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6" name="Straight Arrow Connector 5"/>
          <p:cNvCxnSpPr>
            <a:cxnSpLocks/>
            <a:stCxn id="4" idx="1"/>
          </p:cNvCxnSpPr>
          <p:nvPr/>
        </p:nvCxnSpPr>
        <p:spPr>
          <a:xfrm flipH="1">
            <a:off x="1325608" y="892968"/>
            <a:ext cx="921989" cy="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 name="TextBox 3"/>
          <p:cNvSpPr txBox="1"/>
          <p:nvPr/>
        </p:nvSpPr>
        <p:spPr>
          <a:xfrm>
            <a:off x="2247597" y="77360"/>
            <a:ext cx="1640832" cy="1631216"/>
          </a:xfrm>
          <a:prstGeom prst="rect">
            <a:avLst/>
          </a:prstGeom>
          <a:noFill/>
          <a:ln>
            <a:solidFill>
              <a:srgbClr val="00B050"/>
            </a:solidFill>
          </a:ln>
        </p:spPr>
        <p:txBody>
          <a:bodyPr wrap="square" rtlCol="0">
            <a:spAutoFit/>
          </a:bodyPr>
          <a:lstStyle/>
          <a:p>
            <a:r>
              <a:rPr lang="en-AU" sz="1000" dirty="0"/>
              <a:t>This Arduino is being used for solar tracking, connected with a solar panel and displaying the solar statistics found on the solar panel. This conveys an insightful approach as how computation and programs can be used to collect real life data</a:t>
            </a:r>
          </a:p>
        </p:txBody>
      </p:sp>
      <p:grpSp>
        <p:nvGrpSpPr>
          <p:cNvPr id="10" name="Group 9"/>
          <p:cNvGrpSpPr/>
          <p:nvPr/>
        </p:nvGrpSpPr>
        <p:grpSpPr>
          <a:xfrm>
            <a:off x="121376" y="1841912"/>
            <a:ext cx="2717212" cy="1460074"/>
            <a:chOff x="4218794" y="3587263"/>
            <a:chExt cx="5579300" cy="3111074"/>
          </a:xfrm>
        </p:grpSpPr>
        <p:pic>
          <p:nvPicPr>
            <p:cNvPr id="7" name="Picture 6"/>
            <p:cNvPicPr>
              <a:picLocks noChangeAspect="1"/>
            </p:cNvPicPr>
            <p:nvPr/>
          </p:nvPicPr>
          <p:blipFill>
            <a:blip r:embed="rId3"/>
            <a:stretch>
              <a:fillRect/>
            </a:stretch>
          </p:blipFill>
          <p:spPr>
            <a:xfrm>
              <a:off x="6991875" y="3587263"/>
              <a:ext cx="2806219" cy="3111074"/>
            </a:xfrm>
            <a:prstGeom prst="rect">
              <a:avLst/>
            </a:prstGeom>
            <a:ln>
              <a:solidFill>
                <a:srgbClr val="00B050"/>
              </a:solidFill>
            </a:ln>
          </p:spPr>
        </p:pic>
        <p:pic>
          <p:nvPicPr>
            <p:cNvPr id="9" name="Picture 8"/>
            <p:cNvPicPr>
              <a:picLocks noChangeAspect="1"/>
            </p:cNvPicPr>
            <p:nvPr/>
          </p:nvPicPr>
          <p:blipFill>
            <a:blip r:embed="rId4"/>
            <a:stretch>
              <a:fillRect/>
            </a:stretch>
          </p:blipFill>
          <p:spPr>
            <a:xfrm>
              <a:off x="4218794" y="3587263"/>
              <a:ext cx="2773081" cy="3111074"/>
            </a:xfrm>
            <a:prstGeom prst="rect">
              <a:avLst/>
            </a:prstGeom>
            <a:ln>
              <a:solidFill>
                <a:srgbClr val="00B050"/>
              </a:solidFill>
            </a:ln>
          </p:spPr>
        </p:pic>
      </p:grpSp>
      <p:cxnSp>
        <p:nvCxnSpPr>
          <p:cNvPr id="12" name="Straight Arrow Connector 11"/>
          <p:cNvCxnSpPr>
            <a:cxnSpLocks/>
          </p:cNvCxnSpPr>
          <p:nvPr/>
        </p:nvCxnSpPr>
        <p:spPr>
          <a:xfrm flipV="1">
            <a:off x="575820" y="2930679"/>
            <a:ext cx="0" cy="73003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2050" name="Picture 2" descr="http://www.circuitstoday.com/wp-content/uploads/2016/02/Simple_Burglar_Alarm_Arduin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4417" y="4660757"/>
            <a:ext cx="2132583" cy="2034379"/>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9504290" y="4549676"/>
            <a:ext cx="2608195" cy="2308324"/>
          </a:xfrm>
          <a:prstGeom prst="rect">
            <a:avLst/>
          </a:prstGeom>
          <a:noFill/>
          <a:ln>
            <a:solidFill>
              <a:srgbClr val="00B050"/>
            </a:solidFill>
          </a:ln>
        </p:spPr>
        <p:txBody>
          <a:bodyPr wrap="square" rtlCol="0">
            <a:spAutoFit/>
          </a:bodyPr>
          <a:lstStyle/>
          <a:p>
            <a:r>
              <a:rPr lang="en-US" altLang="en-US" sz="800" dirty="0" err="1">
                <a:solidFill>
                  <a:srgbClr val="333333"/>
                </a:solidFill>
                <a:latin typeface="Arial Unicode MS"/>
              </a:rPr>
              <a:t>int</a:t>
            </a:r>
            <a:r>
              <a:rPr lang="en-US" altLang="en-US" sz="800" dirty="0">
                <a:solidFill>
                  <a:srgbClr val="333333"/>
                </a:solidFill>
                <a:latin typeface="Arial Unicode MS"/>
              </a:rPr>
              <a:t> sensor=7; //The output of PIR sensor connected to pin 7</a:t>
            </a:r>
          </a:p>
          <a:p>
            <a:r>
              <a:rPr lang="en-US" altLang="en-US" sz="800" dirty="0" err="1">
                <a:solidFill>
                  <a:srgbClr val="333333"/>
                </a:solidFill>
                <a:latin typeface="Arial Unicode MS"/>
              </a:rPr>
              <a:t>int</a:t>
            </a:r>
            <a:r>
              <a:rPr lang="en-US" altLang="en-US" sz="800" dirty="0">
                <a:solidFill>
                  <a:srgbClr val="333333"/>
                </a:solidFill>
                <a:latin typeface="Arial Unicode MS"/>
              </a:rPr>
              <a:t> </a:t>
            </a:r>
            <a:r>
              <a:rPr lang="en-US" altLang="en-US" sz="800" dirty="0" err="1">
                <a:solidFill>
                  <a:srgbClr val="333333"/>
                </a:solidFill>
                <a:latin typeface="Arial Unicode MS"/>
              </a:rPr>
              <a:t>push_switch</a:t>
            </a:r>
            <a:r>
              <a:rPr lang="en-US" altLang="en-US" sz="800" dirty="0">
                <a:solidFill>
                  <a:srgbClr val="333333"/>
                </a:solidFill>
                <a:latin typeface="Arial Unicode MS"/>
              </a:rPr>
              <a:t>=6; // push button switch connected to pin 6</a:t>
            </a:r>
          </a:p>
          <a:p>
            <a:r>
              <a:rPr lang="en-US" altLang="en-US" sz="800" dirty="0" err="1">
                <a:solidFill>
                  <a:srgbClr val="333333"/>
                </a:solidFill>
                <a:latin typeface="Arial Unicode MS"/>
              </a:rPr>
              <a:t>int</a:t>
            </a:r>
            <a:r>
              <a:rPr lang="en-US" altLang="en-US" sz="800" dirty="0">
                <a:solidFill>
                  <a:srgbClr val="333333"/>
                </a:solidFill>
                <a:latin typeface="Arial Unicode MS"/>
              </a:rPr>
              <a:t> buzzer=8; // buzzer connected at pin 8 </a:t>
            </a:r>
          </a:p>
          <a:p>
            <a:r>
              <a:rPr lang="en-US" altLang="en-US" sz="800" dirty="0" err="1">
                <a:solidFill>
                  <a:srgbClr val="333333"/>
                </a:solidFill>
                <a:latin typeface="Arial Unicode MS"/>
              </a:rPr>
              <a:t>int</a:t>
            </a:r>
            <a:r>
              <a:rPr lang="en-US" altLang="en-US" sz="800" dirty="0">
                <a:solidFill>
                  <a:srgbClr val="333333"/>
                </a:solidFill>
                <a:latin typeface="Arial Unicode MS"/>
              </a:rPr>
              <a:t> </a:t>
            </a:r>
            <a:r>
              <a:rPr lang="en-US" altLang="en-US" sz="800" dirty="0" err="1">
                <a:solidFill>
                  <a:srgbClr val="333333"/>
                </a:solidFill>
                <a:latin typeface="Arial Unicode MS"/>
              </a:rPr>
              <a:t>sensor_value</a:t>
            </a:r>
            <a:r>
              <a:rPr lang="en-US" altLang="en-US" sz="800" dirty="0">
                <a:solidFill>
                  <a:srgbClr val="333333"/>
                </a:solidFill>
                <a:latin typeface="Arial Unicode MS"/>
              </a:rPr>
              <a:t>; //variable to hold read sensor value void setup() { </a:t>
            </a:r>
            <a:r>
              <a:rPr lang="en-US" altLang="en-US" sz="800" dirty="0" err="1">
                <a:solidFill>
                  <a:srgbClr val="333333"/>
                </a:solidFill>
                <a:latin typeface="Arial Unicode MS"/>
              </a:rPr>
              <a:t>pinMode</a:t>
            </a:r>
            <a:r>
              <a:rPr lang="en-US" altLang="en-US" sz="800" dirty="0">
                <a:solidFill>
                  <a:srgbClr val="333333"/>
                </a:solidFill>
                <a:latin typeface="Arial Unicode MS"/>
              </a:rPr>
              <a:t>(</a:t>
            </a:r>
            <a:r>
              <a:rPr lang="en-US" altLang="en-US" sz="800" dirty="0" err="1">
                <a:solidFill>
                  <a:srgbClr val="333333"/>
                </a:solidFill>
                <a:latin typeface="Arial Unicode MS"/>
              </a:rPr>
              <a:t>sensor,INPUT</a:t>
            </a:r>
            <a:r>
              <a:rPr lang="en-US" altLang="en-US" sz="800" dirty="0">
                <a:solidFill>
                  <a:srgbClr val="333333"/>
                </a:solidFill>
                <a:latin typeface="Arial Unicode MS"/>
              </a:rPr>
              <a:t>); // configuring pin 7 as Input </a:t>
            </a:r>
            <a:r>
              <a:rPr lang="en-US" altLang="en-US" sz="800" dirty="0" err="1">
                <a:solidFill>
                  <a:srgbClr val="333333"/>
                </a:solidFill>
                <a:latin typeface="Arial Unicode MS"/>
              </a:rPr>
              <a:t>pinMode</a:t>
            </a:r>
            <a:r>
              <a:rPr lang="en-US" altLang="en-US" sz="800" dirty="0">
                <a:solidFill>
                  <a:srgbClr val="333333"/>
                </a:solidFill>
                <a:latin typeface="Arial Unicode MS"/>
              </a:rPr>
              <a:t>(</a:t>
            </a:r>
            <a:r>
              <a:rPr lang="en-US" altLang="en-US" sz="800" dirty="0" err="1">
                <a:solidFill>
                  <a:srgbClr val="333333"/>
                </a:solidFill>
                <a:latin typeface="Arial Unicode MS"/>
              </a:rPr>
              <a:t>push_switch,INPUT</a:t>
            </a:r>
            <a:r>
              <a:rPr lang="en-US" altLang="en-US" sz="800" dirty="0">
                <a:solidFill>
                  <a:srgbClr val="333333"/>
                </a:solidFill>
                <a:latin typeface="Arial Unicode MS"/>
              </a:rPr>
              <a:t>); // configuring pin 6 as Input </a:t>
            </a:r>
            <a:r>
              <a:rPr lang="en-US" altLang="en-US" sz="800" dirty="0" err="1">
                <a:solidFill>
                  <a:srgbClr val="333333"/>
                </a:solidFill>
                <a:latin typeface="Arial Unicode MS"/>
              </a:rPr>
              <a:t>pinMode</a:t>
            </a:r>
            <a:r>
              <a:rPr lang="en-US" altLang="en-US" sz="800" dirty="0">
                <a:solidFill>
                  <a:srgbClr val="333333"/>
                </a:solidFill>
                <a:latin typeface="Arial Unicode MS"/>
              </a:rPr>
              <a:t>(</a:t>
            </a:r>
            <a:r>
              <a:rPr lang="en-US" altLang="en-US" sz="800" dirty="0" err="1">
                <a:solidFill>
                  <a:srgbClr val="333333"/>
                </a:solidFill>
                <a:latin typeface="Arial Unicode MS"/>
              </a:rPr>
              <a:t>buzzer,OUTPUT</a:t>
            </a:r>
            <a:r>
              <a:rPr lang="en-US" altLang="en-US" sz="800" dirty="0">
                <a:solidFill>
                  <a:srgbClr val="333333"/>
                </a:solidFill>
                <a:latin typeface="Arial Unicode MS"/>
              </a:rPr>
              <a:t>); // configuring pin 8 as OUTPUT } </a:t>
            </a:r>
          </a:p>
          <a:p>
            <a:r>
              <a:rPr lang="en-US" altLang="en-US" sz="800" dirty="0">
                <a:solidFill>
                  <a:srgbClr val="333333"/>
                </a:solidFill>
                <a:latin typeface="Arial Unicode MS"/>
              </a:rPr>
              <a:t>void loop() { </a:t>
            </a:r>
            <a:r>
              <a:rPr lang="en-US" altLang="en-US" sz="800" dirty="0" err="1">
                <a:solidFill>
                  <a:srgbClr val="333333"/>
                </a:solidFill>
                <a:latin typeface="Arial Unicode MS"/>
              </a:rPr>
              <a:t>sensor_value</a:t>
            </a:r>
            <a:r>
              <a:rPr lang="en-US" altLang="en-US" sz="800" dirty="0">
                <a:solidFill>
                  <a:srgbClr val="333333"/>
                </a:solidFill>
                <a:latin typeface="Arial Unicode MS"/>
              </a:rPr>
              <a:t>=</a:t>
            </a:r>
            <a:r>
              <a:rPr lang="en-US" altLang="en-US" sz="800" dirty="0" err="1">
                <a:solidFill>
                  <a:srgbClr val="333333"/>
                </a:solidFill>
                <a:latin typeface="Arial Unicode MS"/>
              </a:rPr>
              <a:t>digitalRead</a:t>
            </a:r>
            <a:r>
              <a:rPr lang="en-US" altLang="en-US" sz="800" dirty="0">
                <a:solidFill>
                  <a:srgbClr val="333333"/>
                </a:solidFill>
                <a:latin typeface="Arial Unicode MS"/>
              </a:rPr>
              <a:t>(sensor); // Reading sensor value from pin 7</a:t>
            </a:r>
          </a:p>
          <a:p>
            <a:r>
              <a:rPr lang="en-US" altLang="en-US" sz="800" dirty="0">
                <a:solidFill>
                  <a:srgbClr val="333333"/>
                </a:solidFill>
                <a:latin typeface="Arial Unicode MS"/>
              </a:rPr>
              <a:t>if(</a:t>
            </a:r>
            <a:r>
              <a:rPr lang="en-US" altLang="en-US" sz="800" dirty="0" err="1">
                <a:solidFill>
                  <a:srgbClr val="333333"/>
                </a:solidFill>
                <a:latin typeface="Arial Unicode MS"/>
              </a:rPr>
              <a:t>sensor_value</a:t>
            </a:r>
            <a:r>
              <a:rPr lang="en-US" altLang="en-US" sz="800" dirty="0">
                <a:solidFill>
                  <a:srgbClr val="333333"/>
                </a:solidFill>
                <a:latin typeface="Arial Unicode MS"/>
              </a:rPr>
              <a:t>==HIGH) // Checking if PIR sensor sends a HIGH signal to Arduino { </a:t>
            </a:r>
            <a:r>
              <a:rPr lang="en-US" altLang="en-US" sz="800" dirty="0" err="1">
                <a:solidFill>
                  <a:srgbClr val="333333"/>
                </a:solidFill>
                <a:latin typeface="Arial Unicode MS"/>
              </a:rPr>
              <a:t>digitalWrite</a:t>
            </a:r>
            <a:r>
              <a:rPr lang="en-US" altLang="en-US" sz="800" dirty="0">
                <a:solidFill>
                  <a:srgbClr val="333333"/>
                </a:solidFill>
                <a:latin typeface="Arial Unicode MS"/>
              </a:rPr>
              <a:t>(</a:t>
            </a:r>
            <a:r>
              <a:rPr lang="en-US" altLang="en-US" sz="800" dirty="0" err="1">
                <a:solidFill>
                  <a:srgbClr val="333333"/>
                </a:solidFill>
                <a:latin typeface="Arial Unicode MS"/>
              </a:rPr>
              <a:t>buzzer,HIGH</a:t>
            </a:r>
            <a:r>
              <a:rPr lang="en-US" altLang="en-US" sz="800" dirty="0">
                <a:solidFill>
                  <a:srgbClr val="333333"/>
                </a:solidFill>
                <a:latin typeface="Arial Unicode MS"/>
              </a:rPr>
              <a:t>); // Activating the buzzer } if(</a:t>
            </a:r>
            <a:r>
              <a:rPr lang="en-US" altLang="en-US" sz="800" dirty="0" err="1">
                <a:solidFill>
                  <a:srgbClr val="333333"/>
                </a:solidFill>
                <a:latin typeface="Arial Unicode MS"/>
              </a:rPr>
              <a:t>digitalRead</a:t>
            </a:r>
            <a:r>
              <a:rPr lang="en-US" altLang="en-US" sz="800" dirty="0">
                <a:solidFill>
                  <a:srgbClr val="333333"/>
                </a:solidFill>
                <a:latin typeface="Arial Unicode MS"/>
              </a:rPr>
              <a:t>(</a:t>
            </a:r>
            <a:r>
              <a:rPr lang="en-US" altLang="en-US" sz="800" dirty="0" err="1">
                <a:solidFill>
                  <a:srgbClr val="333333"/>
                </a:solidFill>
                <a:latin typeface="Arial Unicode MS"/>
              </a:rPr>
              <a:t>push_switch</a:t>
            </a:r>
            <a:r>
              <a:rPr lang="en-US" altLang="en-US" sz="800" dirty="0">
                <a:solidFill>
                  <a:srgbClr val="333333"/>
                </a:solidFill>
                <a:latin typeface="Arial Unicode MS"/>
              </a:rPr>
              <a:t>==HIGH))// Checking if pushbutton was pressed { </a:t>
            </a:r>
            <a:r>
              <a:rPr lang="en-US" altLang="en-US" sz="800" dirty="0" err="1">
                <a:solidFill>
                  <a:srgbClr val="333333"/>
                </a:solidFill>
                <a:latin typeface="Arial Unicode MS"/>
              </a:rPr>
              <a:t>digitalWrite</a:t>
            </a:r>
            <a:r>
              <a:rPr lang="en-US" altLang="en-US" sz="800" dirty="0">
                <a:solidFill>
                  <a:srgbClr val="333333"/>
                </a:solidFill>
                <a:latin typeface="Arial Unicode MS"/>
              </a:rPr>
              <a:t>(</a:t>
            </a:r>
            <a:r>
              <a:rPr lang="en-US" altLang="en-US" sz="800" dirty="0" err="1">
                <a:solidFill>
                  <a:srgbClr val="333333"/>
                </a:solidFill>
                <a:latin typeface="Arial Unicode MS"/>
              </a:rPr>
              <a:t>buzzer,LOW</a:t>
            </a:r>
            <a:r>
              <a:rPr lang="en-US" altLang="en-US" sz="800" dirty="0">
                <a:solidFill>
                  <a:srgbClr val="333333"/>
                </a:solidFill>
                <a:latin typeface="Arial Unicode MS"/>
              </a:rPr>
              <a:t>); // turning OFF the buzzer }}</a:t>
            </a:r>
            <a:r>
              <a:rPr lang="en-US" altLang="en-US" sz="800" dirty="0"/>
              <a:t> </a:t>
            </a:r>
            <a:endParaRPr lang="en-US" altLang="en-US" sz="800" dirty="0">
              <a:latin typeface="Arial" panose="020B0604020202020204" pitchFamily="34" charset="0"/>
            </a:endParaRPr>
          </a:p>
        </p:txBody>
      </p:sp>
      <p:cxnSp>
        <p:nvCxnSpPr>
          <p:cNvPr id="24" name="Straight Arrow Connector 23"/>
          <p:cNvCxnSpPr/>
          <p:nvPr/>
        </p:nvCxnSpPr>
        <p:spPr>
          <a:xfrm>
            <a:off x="10474253" y="4466486"/>
            <a:ext cx="131390" cy="88364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flipH="1">
            <a:off x="8254479" y="4368402"/>
            <a:ext cx="20566" cy="133543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7807568" y="3143047"/>
            <a:ext cx="3919917" cy="1323439"/>
          </a:xfrm>
          <a:prstGeom prst="rect">
            <a:avLst/>
          </a:prstGeom>
          <a:solidFill>
            <a:schemeClr val="bg1"/>
          </a:solidFill>
          <a:ln>
            <a:solidFill>
              <a:srgbClr val="00B050"/>
            </a:solidFill>
          </a:ln>
        </p:spPr>
        <p:txBody>
          <a:bodyPr wrap="square" rtlCol="0">
            <a:spAutoFit/>
          </a:bodyPr>
          <a:lstStyle/>
          <a:p>
            <a:r>
              <a:rPr lang="en-AU" sz="1000" dirty="0"/>
              <a:t>The following  image on the left shows the circuit frame for a ‘Burglar Alarm using Arduino’. This project uses such hardware devices as PIR sensors; that identify movement using infrared red motion detectors under it’s range. Buzzers are used for sound when triggered using various transistor configurations. Switches are used also to reset the alarm. The image on the right shows the code demonstrated on the website. This code being C++, the primary language of the Arduino</a:t>
            </a:r>
          </a:p>
          <a:p>
            <a:endParaRPr lang="en-AU" sz="1000" dirty="0"/>
          </a:p>
        </p:txBody>
      </p:sp>
      <p:cxnSp>
        <p:nvCxnSpPr>
          <p:cNvPr id="15" name="Straight Arrow Connector 14"/>
          <p:cNvCxnSpPr>
            <a:cxnSpLocks/>
          </p:cNvCxnSpPr>
          <p:nvPr/>
        </p:nvCxnSpPr>
        <p:spPr>
          <a:xfrm flipV="1">
            <a:off x="1689983" y="2961845"/>
            <a:ext cx="185689" cy="69887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121376" y="3513689"/>
            <a:ext cx="2365556" cy="1477328"/>
          </a:xfrm>
          <a:prstGeom prst="rect">
            <a:avLst/>
          </a:prstGeom>
          <a:solidFill>
            <a:schemeClr val="bg1"/>
          </a:solidFill>
          <a:ln>
            <a:solidFill>
              <a:srgbClr val="00B050"/>
            </a:solidFill>
          </a:ln>
        </p:spPr>
        <p:txBody>
          <a:bodyPr wrap="square" rtlCol="0">
            <a:spAutoFit/>
          </a:bodyPr>
          <a:lstStyle/>
          <a:p>
            <a:r>
              <a:rPr lang="en-AU" sz="1000" dirty="0"/>
              <a:t>The Arduino website provides itself many projects that can be made with their products. There is a list of over 200 insightful projects in which it can be used. The website provides coherent descriptions on examples such as: a traffic control system and a web-based car race game with the Arduino used as a controller.</a:t>
            </a:r>
          </a:p>
        </p:txBody>
      </p:sp>
      <p:pic>
        <p:nvPicPr>
          <p:cNvPr id="18" name="Picture 2" descr="Pet Feeder componenets"/>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512" y="5094379"/>
            <a:ext cx="2456193" cy="1639870"/>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25" name="TextBox 24"/>
          <p:cNvSpPr txBox="1"/>
          <p:nvPr/>
        </p:nvSpPr>
        <p:spPr>
          <a:xfrm>
            <a:off x="2659816" y="4852057"/>
            <a:ext cx="2944322" cy="1785104"/>
          </a:xfrm>
          <a:prstGeom prst="rect">
            <a:avLst/>
          </a:prstGeom>
          <a:noFill/>
          <a:ln>
            <a:solidFill>
              <a:srgbClr val="00B050"/>
            </a:solidFill>
          </a:ln>
        </p:spPr>
        <p:txBody>
          <a:bodyPr wrap="square" rtlCol="0">
            <a:spAutoFit/>
          </a:bodyPr>
          <a:lstStyle/>
          <a:p>
            <a:r>
              <a:rPr lang="en-AU" sz="1000" dirty="0"/>
              <a:t>Another project made with the Arduino is a pet feeder. It features a turning bottle of pet food that turns when activated via an app displacing the pet food into the pet’s bowl. This is a prime example of </a:t>
            </a:r>
            <a:r>
              <a:rPr lang="en-AU" sz="1000" dirty="0" err="1"/>
              <a:t>IoT</a:t>
            </a:r>
            <a:r>
              <a:rPr lang="en-AU" sz="1000" dirty="0"/>
              <a:t> as it uses the app as the hub of the project to activate the pet food. The app is created and coded on freeboard which specialises in </a:t>
            </a:r>
            <a:r>
              <a:rPr lang="en-AU" sz="1000" dirty="0" err="1"/>
              <a:t>IoT</a:t>
            </a:r>
            <a:r>
              <a:rPr lang="en-AU" sz="1000" dirty="0"/>
              <a:t> projects. It can be seen on the left the system of the project (which can be elaborated on the source website) and on the right and above the freeboard icon, and below a dog eating from the bowl below the intelligent system.</a:t>
            </a:r>
          </a:p>
        </p:txBody>
      </p:sp>
      <p:pic>
        <p:nvPicPr>
          <p:cNvPr id="1028" name="Picture 4" descr="https://hackster.imgix.net/uploads/attachments/311020/playdog_3_yUOvTQly9X.jpg?auto=compress%2Cformat&amp;w=680&amp;h=510&amp;fit=max"/>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20521" y="5914314"/>
            <a:ext cx="1556605" cy="876735"/>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4098" name="Picture 2" descr="Image result for freeboard ic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5450" y="4660757"/>
            <a:ext cx="1226745" cy="1226745"/>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7838228" y="1019620"/>
            <a:ext cx="3919917" cy="1938992"/>
          </a:xfrm>
          <a:prstGeom prst="rect">
            <a:avLst/>
          </a:prstGeom>
          <a:solidFill>
            <a:schemeClr val="bg1"/>
          </a:solidFill>
          <a:ln>
            <a:solidFill>
              <a:srgbClr val="00B050"/>
            </a:solidFill>
          </a:ln>
        </p:spPr>
        <p:txBody>
          <a:bodyPr wrap="square" rtlCol="0">
            <a:spAutoFit/>
          </a:bodyPr>
          <a:lstStyle/>
          <a:p>
            <a:r>
              <a:rPr lang="en-AU" sz="1000" dirty="0"/>
              <a:t>The point of the Arduino board and products is that they provide kits and functionalities that are meant to encourage creativity and highlight the usefulness and resourcefulness of technology. </a:t>
            </a:r>
          </a:p>
          <a:p>
            <a:endParaRPr lang="en-AU" sz="1000" dirty="0"/>
          </a:p>
          <a:p>
            <a:r>
              <a:rPr lang="en-AU" sz="1000" dirty="0"/>
              <a:t>The open-source nature of the Arduino benefits the Arduino community to where they can learn from Arduino projects across the community whilst sharing their own projects. </a:t>
            </a:r>
          </a:p>
          <a:p>
            <a:endParaRPr lang="en-AU" sz="1000" dirty="0"/>
          </a:p>
          <a:p>
            <a:r>
              <a:rPr lang="en-AU" sz="1000" dirty="0"/>
              <a:t>Intelligent systems are determined by the complexity of the project. Whilst computers are not inherently intelligent, with the use of software and extended hardware components such as sensors and rotaries.</a:t>
            </a:r>
          </a:p>
          <a:p>
            <a:endParaRPr lang="en-AU" sz="1000" dirty="0"/>
          </a:p>
        </p:txBody>
      </p:sp>
      <p:cxnSp>
        <p:nvCxnSpPr>
          <p:cNvPr id="28" name="Straight Arrow Connector 27"/>
          <p:cNvCxnSpPr>
            <a:cxnSpLocks/>
          </p:cNvCxnSpPr>
          <p:nvPr/>
        </p:nvCxnSpPr>
        <p:spPr>
          <a:xfrm flipH="1" flipV="1">
            <a:off x="2247597" y="5914314"/>
            <a:ext cx="398811" cy="40636"/>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p:cNvCxnSpPr>
            <a:cxnSpLocks/>
          </p:cNvCxnSpPr>
          <p:nvPr/>
        </p:nvCxnSpPr>
        <p:spPr>
          <a:xfrm flipV="1">
            <a:off x="5600479" y="5274129"/>
            <a:ext cx="410951" cy="58954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p:cNvCxnSpPr>
            <a:cxnSpLocks/>
          </p:cNvCxnSpPr>
          <p:nvPr/>
        </p:nvCxnSpPr>
        <p:spPr>
          <a:xfrm>
            <a:off x="5573610" y="5862611"/>
            <a:ext cx="464687" cy="38632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32" name="Picture 31"/>
          <p:cNvPicPr>
            <a:picLocks noChangeAspect="1"/>
          </p:cNvPicPr>
          <p:nvPr/>
        </p:nvPicPr>
        <p:blipFill>
          <a:blip r:embed="rId9"/>
          <a:stretch>
            <a:fillRect/>
          </a:stretch>
        </p:blipFill>
        <p:spPr>
          <a:xfrm>
            <a:off x="5989755" y="2118126"/>
            <a:ext cx="1489670" cy="1106090"/>
          </a:xfrm>
          <a:prstGeom prst="rect">
            <a:avLst/>
          </a:prstGeom>
          <a:ln>
            <a:solidFill>
              <a:srgbClr val="00B050"/>
            </a:solidFill>
          </a:ln>
        </p:spPr>
      </p:pic>
      <p:sp>
        <p:nvSpPr>
          <p:cNvPr id="41" name="TextBox 40"/>
          <p:cNvSpPr txBox="1"/>
          <p:nvPr/>
        </p:nvSpPr>
        <p:spPr>
          <a:xfrm>
            <a:off x="2997165" y="1849155"/>
            <a:ext cx="2480596" cy="2862322"/>
          </a:xfrm>
          <a:prstGeom prst="rect">
            <a:avLst/>
          </a:prstGeom>
          <a:noFill/>
          <a:ln>
            <a:solidFill>
              <a:srgbClr val="00B050"/>
            </a:solidFill>
          </a:ln>
        </p:spPr>
        <p:txBody>
          <a:bodyPr wrap="square" rtlCol="0">
            <a:spAutoFit/>
          </a:bodyPr>
          <a:lstStyle/>
          <a:p>
            <a:r>
              <a:rPr lang="en-AU" sz="1000" dirty="0"/>
              <a:t>This Arduino is used for programming robotic arms, this is an example of further complexity in this intelligent system. This system uses a remote control app similar to other solutions, to control the movement and rotations of the hydraulic arm. The source website offers much complexity in how to build the hydraulic arms, to how the circuits are configured on the Arduino board, to how the solution is connected wirelessly. The overall solution is demonstrated in the first picture (upmost), highlighting the full flow-chart, the second picture is the hydraulic arms connected and the third picture gives insight in the complexity in being the diagram used to describe the circuitry needed for this solution</a:t>
            </a:r>
          </a:p>
        </p:txBody>
      </p:sp>
      <p:pic>
        <p:nvPicPr>
          <p:cNvPr id="4102" name="Picture 6" descr="https://hackster.imgix.net/uploads/attachments/232969/FWTERQ1IL6XK8O6.LARGE.jpg?auto=compress%2Cformat&amp;w=680&amp;h=510&amp;fit=max"/>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038105" y="3290076"/>
            <a:ext cx="1392969" cy="1259600"/>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pic>
        <p:nvPicPr>
          <p:cNvPr id="4104" name="Picture 8" descr="https://hackster.imgix.net/uploads/attachments/232965/FAZQDRQIL5J7UJK.LARGE.jpg?auto=compress%2Cformat&amp;w=680&amp;h=510&amp;fit=max"/>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604138" y="907409"/>
            <a:ext cx="1924159" cy="1100732"/>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cxnSp>
        <p:nvCxnSpPr>
          <p:cNvPr id="44" name="Straight Arrow Connector 43"/>
          <p:cNvCxnSpPr>
            <a:cxnSpLocks/>
          </p:cNvCxnSpPr>
          <p:nvPr/>
        </p:nvCxnSpPr>
        <p:spPr>
          <a:xfrm flipV="1">
            <a:off x="5443662" y="1798510"/>
            <a:ext cx="396342" cy="134453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p:cNvCxnSpPr>
            <a:cxnSpLocks/>
          </p:cNvCxnSpPr>
          <p:nvPr/>
        </p:nvCxnSpPr>
        <p:spPr>
          <a:xfrm>
            <a:off x="5429006" y="3113999"/>
            <a:ext cx="745005" cy="630554"/>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p:cNvCxnSpPr>
            <a:cxnSpLocks/>
          </p:cNvCxnSpPr>
          <p:nvPr/>
        </p:nvCxnSpPr>
        <p:spPr>
          <a:xfrm flipV="1">
            <a:off x="5448646" y="2941869"/>
            <a:ext cx="801841" cy="20117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6037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p:cNvSpPr txBox="1"/>
          <p:nvPr/>
        </p:nvSpPr>
        <p:spPr>
          <a:xfrm>
            <a:off x="8495039" y="4429807"/>
            <a:ext cx="3145824" cy="2360056"/>
          </a:xfrm>
          <a:prstGeom prst="rect">
            <a:avLst/>
          </a:prstGeom>
          <a:noFill/>
          <a:ln>
            <a:solidFill>
              <a:srgbClr val="00B050"/>
            </a:solidFill>
          </a:ln>
        </p:spPr>
        <p:txBody>
          <a:bodyPr wrap="square" rtlCol="0">
            <a:spAutoFit/>
          </a:bodyPr>
          <a:lstStyle/>
          <a:p>
            <a:endParaRPr lang="en-AU" sz="1000" dirty="0"/>
          </a:p>
        </p:txBody>
      </p:sp>
      <p:sp>
        <p:nvSpPr>
          <p:cNvPr id="53" name="Title 9"/>
          <p:cNvSpPr>
            <a:spLocks noGrp="1"/>
          </p:cNvSpPr>
          <p:nvPr>
            <p:ph type="title"/>
          </p:nvPr>
        </p:nvSpPr>
        <p:spPr>
          <a:xfrm>
            <a:off x="3378831" y="-136207"/>
            <a:ext cx="10515600" cy="1325563"/>
          </a:xfrm>
        </p:spPr>
        <p:txBody>
          <a:bodyPr>
            <a:normAutofit/>
          </a:bodyPr>
          <a:lstStyle/>
          <a:p>
            <a:r>
              <a:rPr lang="en-AU" sz="5400" b="1" dirty="0"/>
              <a:t>Case Study- Intelligent Systems</a:t>
            </a:r>
            <a:endParaRPr lang="en-AU" sz="5400" dirty="0"/>
          </a:p>
        </p:txBody>
      </p:sp>
      <p:sp>
        <p:nvSpPr>
          <p:cNvPr id="54" name="TextBox 53"/>
          <p:cNvSpPr txBox="1"/>
          <p:nvPr/>
        </p:nvSpPr>
        <p:spPr>
          <a:xfrm>
            <a:off x="8883924" y="986107"/>
            <a:ext cx="3003276" cy="1015663"/>
          </a:xfrm>
          <a:prstGeom prst="rect">
            <a:avLst/>
          </a:prstGeom>
          <a:noFill/>
          <a:ln>
            <a:solidFill>
              <a:srgbClr val="00B050"/>
            </a:solidFill>
          </a:ln>
        </p:spPr>
        <p:txBody>
          <a:bodyPr wrap="square" rtlCol="0">
            <a:spAutoFit/>
          </a:bodyPr>
          <a:lstStyle/>
          <a:p>
            <a:r>
              <a:rPr lang="en-AU" sz="1000" dirty="0"/>
              <a:t>The case study used for the assignment will be one found on the Arduino projects page. Labelled ‘</a:t>
            </a:r>
            <a:r>
              <a:rPr lang="en-AU" sz="1000" dirty="0" err="1"/>
              <a:t>IoT</a:t>
            </a:r>
            <a:r>
              <a:rPr lang="en-AU" sz="1000" dirty="0"/>
              <a:t> Arduino ball tracking’, this project in basic terms has a phone that rotates to the position of the ball relative to the camera. It also tracks specific characteristics of these objects, namely the colour and shape.</a:t>
            </a:r>
          </a:p>
        </p:txBody>
      </p:sp>
      <p:pic>
        <p:nvPicPr>
          <p:cNvPr id="3076" name="Picture 4" descr="Image result for tennis on the 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414" y="197056"/>
            <a:ext cx="2804460" cy="157810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55" name="TextBox 54"/>
          <p:cNvSpPr txBox="1"/>
          <p:nvPr/>
        </p:nvSpPr>
        <p:spPr>
          <a:xfrm>
            <a:off x="174269" y="1859319"/>
            <a:ext cx="2804460" cy="1015663"/>
          </a:xfrm>
          <a:prstGeom prst="rect">
            <a:avLst/>
          </a:prstGeom>
          <a:noFill/>
          <a:ln>
            <a:solidFill>
              <a:srgbClr val="00B050"/>
            </a:solidFill>
          </a:ln>
        </p:spPr>
        <p:txBody>
          <a:bodyPr wrap="square" rtlCol="0">
            <a:spAutoFit/>
          </a:bodyPr>
          <a:lstStyle/>
          <a:p>
            <a:r>
              <a:rPr lang="en-AU" sz="1000" dirty="0"/>
              <a:t>These algorithms application to real life can be used in sports such as tennis, where a high speed camera may follow a ball to track its movement in cases where it is needed, such as the image to the left which is an example where camera analysis is needed to determine where the ball landed.</a:t>
            </a:r>
          </a:p>
        </p:txBody>
      </p:sp>
      <p:cxnSp>
        <p:nvCxnSpPr>
          <p:cNvPr id="56" name="Straight Arrow Connector 55"/>
          <p:cNvCxnSpPr>
            <a:cxnSpLocks/>
          </p:cNvCxnSpPr>
          <p:nvPr/>
        </p:nvCxnSpPr>
        <p:spPr>
          <a:xfrm flipH="1" flipV="1">
            <a:off x="1562644" y="1416624"/>
            <a:ext cx="27710" cy="44813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4" name="Group 3"/>
          <p:cNvGrpSpPr/>
          <p:nvPr/>
        </p:nvGrpSpPr>
        <p:grpSpPr>
          <a:xfrm>
            <a:off x="9142982" y="2161445"/>
            <a:ext cx="2722514" cy="1427073"/>
            <a:chOff x="9142982" y="2161445"/>
            <a:chExt cx="2722514" cy="1427073"/>
          </a:xfrm>
        </p:grpSpPr>
        <p:pic>
          <p:nvPicPr>
            <p:cNvPr id="3078" name="Picture 6" descr="https://hackster.imgix.net/uploads/attachments/266044/win_20170111_14_26_03_pro_zLYS6oljvu.jpeg?auto=compress%2Cformat&amp;w=680&amp;h=510&amp;fit=max"/>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4729" y="2161445"/>
              <a:ext cx="2670767" cy="1303963"/>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21" name="Rectangle 20"/>
            <p:cNvSpPr/>
            <p:nvPr/>
          </p:nvSpPr>
          <p:spPr>
            <a:xfrm>
              <a:off x="9142982" y="3342297"/>
              <a:ext cx="1911101" cy="246221"/>
            </a:xfrm>
            <a:prstGeom prst="rect">
              <a:avLst/>
            </a:prstGeom>
            <a:solidFill>
              <a:schemeClr val="bg1"/>
            </a:solidFill>
            <a:ln>
              <a:solidFill>
                <a:srgbClr val="00B050"/>
              </a:solidFill>
            </a:ln>
          </p:spPr>
          <p:txBody>
            <a:bodyPr wrap="none">
              <a:spAutoFit/>
            </a:bodyPr>
            <a:lstStyle/>
            <a:p>
              <a:r>
                <a:rPr lang="en-AU" sz="1000" dirty="0"/>
                <a:t>https://youtu.be/VB7H6rotAWM</a:t>
              </a:r>
            </a:p>
          </p:txBody>
        </p:sp>
      </p:grpSp>
      <p:pic>
        <p:nvPicPr>
          <p:cNvPr id="3080" name="Picture 8" descr="Image result for speed camera sprin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0736" y="2994727"/>
            <a:ext cx="2809299" cy="1474882"/>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p:cNvSpPr txBox="1"/>
          <p:nvPr/>
        </p:nvSpPr>
        <p:spPr>
          <a:xfrm>
            <a:off x="155575" y="4548790"/>
            <a:ext cx="2804460" cy="553998"/>
          </a:xfrm>
          <a:prstGeom prst="rect">
            <a:avLst/>
          </a:prstGeom>
          <a:noFill/>
          <a:ln>
            <a:solidFill>
              <a:srgbClr val="00B050"/>
            </a:solidFill>
          </a:ln>
        </p:spPr>
        <p:txBody>
          <a:bodyPr wrap="square" rtlCol="0">
            <a:spAutoFit/>
          </a:bodyPr>
          <a:lstStyle/>
          <a:p>
            <a:r>
              <a:rPr lang="en-AU" sz="1000" dirty="0"/>
              <a:t>Another example of a practical application is the speed cameras tracking the sprinters as they run their respective races. </a:t>
            </a:r>
          </a:p>
        </p:txBody>
      </p:sp>
      <p:cxnSp>
        <p:nvCxnSpPr>
          <p:cNvPr id="63" name="Straight Arrow Connector 62"/>
          <p:cNvCxnSpPr>
            <a:cxnSpLocks/>
          </p:cNvCxnSpPr>
          <p:nvPr/>
        </p:nvCxnSpPr>
        <p:spPr>
          <a:xfrm flipH="1" flipV="1">
            <a:off x="1382534" y="4100658"/>
            <a:ext cx="27710" cy="44813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58" name="Picture 57"/>
          <p:cNvPicPr>
            <a:picLocks noChangeAspect="1"/>
          </p:cNvPicPr>
          <p:nvPr/>
        </p:nvPicPr>
        <p:blipFill>
          <a:blip r:embed="rId5"/>
          <a:stretch>
            <a:fillRect/>
          </a:stretch>
        </p:blipFill>
        <p:spPr>
          <a:xfrm>
            <a:off x="160414" y="5292016"/>
            <a:ext cx="1505784" cy="1339561"/>
          </a:xfrm>
          <a:prstGeom prst="rect">
            <a:avLst/>
          </a:prstGeom>
          <a:ln>
            <a:solidFill>
              <a:srgbClr val="00B050"/>
            </a:solidFill>
          </a:ln>
        </p:spPr>
      </p:pic>
      <p:sp>
        <p:nvSpPr>
          <p:cNvPr id="68" name="TextBox 67"/>
          <p:cNvSpPr txBox="1"/>
          <p:nvPr/>
        </p:nvSpPr>
        <p:spPr>
          <a:xfrm>
            <a:off x="1744488" y="5146189"/>
            <a:ext cx="1234241" cy="1631216"/>
          </a:xfrm>
          <a:prstGeom prst="rect">
            <a:avLst/>
          </a:prstGeom>
          <a:noFill/>
          <a:ln>
            <a:solidFill>
              <a:srgbClr val="00B050"/>
            </a:solidFill>
          </a:ln>
        </p:spPr>
        <p:txBody>
          <a:bodyPr wrap="square" rtlCol="0">
            <a:spAutoFit/>
          </a:bodyPr>
          <a:lstStyle/>
          <a:p>
            <a:r>
              <a:rPr lang="en-AU" sz="1000" dirty="0"/>
              <a:t>This final project example has a rotating solar panel based on the intensity of the sun on each panel. This would save much power and thus make solar panels much more efficient</a:t>
            </a:r>
          </a:p>
        </p:txBody>
      </p:sp>
      <p:cxnSp>
        <p:nvCxnSpPr>
          <p:cNvPr id="69" name="Straight Arrow Connector 68"/>
          <p:cNvCxnSpPr>
            <a:cxnSpLocks/>
            <a:stCxn id="68" idx="1"/>
          </p:cNvCxnSpPr>
          <p:nvPr/>
        </p:nvCxnSpPr>
        <p:spPr>
          <a:xfrm flipH="1" flipV="1">
            <a:off x="1246909" y="5961796"/>
            <a:ext cx="497579" cy="1"/>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6" name="TextBox 15"/>
          <p:cNvSpPr txBox="1"/>
          <p:nvPr/>
        </p:nvSpPr>
        <p:spPr>
          <a:xfrm>
            <a:off x="8862220" y="3696463"/>
            <a:ext cx="3003276" cy="707886"/>
          </a:xfrm>
          <a:prstGeom prst="rect">
            <a:avLst/>
          </a:prstGeom>
          <a:noFill/>
          <a:ln>
            <a:solidFill>
              <a:srgbClr val="00B050"/>
            </a:solidFill>
          </a:ln>
        </p:spPr>
        <p:txBody>
          <a:bodyPr wrap="square" rtlCol="0">
            <a:spAutoFit/>
          </a:bodyPr>
          <a:lstStyle/>
          <a:p>
            <a:r>
              <a:rPr lang="en-AU" sz="1000" dirty="0"/>
              <a:t>The above image demonstrates the finished digital solution, with the phone rotating to the position of the spherical object (the yellow cylinder held by the hand appears as a circle/ sphere in the 2D camera.</a:t>
            </a:r>
          </a:p>
        </p:txBody>
      </p:sp>
      <p:cxnSp>
        <p:nvCxnSpPr>
          <p:cNvPr id="17" name="Straight Arrow Connector 16"/>
          <p:cNvCxnSpPr>
            <a:cxnSpLocks/>
          </p:cNvCxnSpPr>
          <p:nvPr/>
        </p:nvCxnSpPr>
        <p:spPr>
          <a:xfrm flipH="1" flipV="1">
            <a:off x="11105830" y="3124084"/>
            <a:ext cx="43942" cy="59982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29" name="Group 28"/>
          <p:cNvGrpSpPr/>
          <p:nvPr/>
        </p:nvGrpSpPr>
        <p:grpSpPr>
          <a:xfrm>
            <a:off x="3172137" y="1017473"/>
            <a:ext cx="1788380" cy="3033765"/>
            <a:chOff x="1532965" y="658905"/>
            <a:chExt cx="3254188" cy="5334002"/>
          </a:xfrm>
        </p:grpSpPr>
        <p:sp>
          <p:nvSpPr>
            <p:cNvPr id="30" name="Rounded Rectangle 29"/>
            <p:cNvSpPr/>
            <p:nvPr/>
          </p:nvSpPr>
          <p:spPr>
            <a:xfrm>
              <a:off x="1532965" y="658905"/>
              <a:ext cx="3254188" cy="1586754"/>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p:cNvSpPr txBox="1"/>
            <p:nvPr/>
          </p:nvSpPr>
          <p:spPr>
            <a:xfrm>
              <a:off x="1707777" y="713618"/>
              <a:ext cx="3079376" cy="507831"/>
            </a:xfrm>
            <a:prstGeom prst="rect">
              <a:avLst/>
            </a:prstGeom>
            <a:noFill/>
          </p:spPr>
          <p:txBody>
            <a:bodyPr wrap="square" rtlCol="0">
              <a:spAutoFit/>
            </a:bodyPr>
            <a:lstStyle/>
            <a:p>
              <a:r>
                <a:rPr lang="en-AU" sz="900" dirty="0"/>
                <a:t>Run the application and select Wi-Fi in menu for registration of target host and port where information will be sent to Arduino</a:t>
              </a:r>
            </a:p>
          </p:txBody>
        </p:sp>
        <p:sp>
          <p:nvSpPr>
            <p:cNvPr id="32" name="Rounded Rectangle 31"/>
            <p:cNvSpPr/>
            <p:nvPr/>
          </p:nvSpPr>
          <p:spPr>
            <a:xfrm>
              <a:off x="1532965" y="2532529"/>
              <a:ext cx="3254188" cy="1586754"/>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TextBox 32"/>
            <p:cNvSpPr txBox="1"/>
            <p:nvPr/>
          </p:nvSpPr>
          <p:spPr>
            <a:xfrm>
              <a:off x="1532965" y="2587242"/>
              <a:ext cx="3254188" cy="1379898"/>
            </a:xfrm>
            <a:prstGeom prst="rect">
              <a:avLst/>
            </a:prstGeom>
            <a:noFill/>
          </p:spPr>
          <p:txBody>
            <a:bodyPr wrap="square" rtlCol="0">
              <a:spAutoFit/>
            </a:bodyPr>
            <a:lstStyle/>
            <a:p>
              <a:r>
                <a:rPr lang="en-AU" sz="900" dirty="0"/>
                <a:t>Select which colour the technology is to track. When this colour is detected, information will be outputted with position, colour and shape</a:t>
              </a:r>
            </a:p>
          </p:txBody>
        </p:sp>
        <p:sp>
          <p:nvSpPr>
            <p:cNvPr id="34" name="Rounded Rectangle 33"/>
            <p:cNvSpPr/>
            <p:nvPr/>
          </p:nvSpPr>
          <p:spPr>
            <a:xfrm>
              <a:off x="1532965" y="4406153"/>
              <a:ext cx="3254188" cy="1586754"/>
            </a:xfrm>
            <a:prstGeom prst="roundRect">
              <a:avLst/>
            </a:prstGeom>
            <a:noFill/>
            <a:ln w="57150">
              <a:solidFill>
                <a:srgbClr val="27E1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TextBox 34"/>
            <p:cNvSpPr txBox="1"/>
            <p:nvPr/>
          </p:nvSpPr>
          <p:spPr>
            <a:xfrm>
              <a:off x="1707777" y="4460866"/>
              <a:ext cx="3079376" cy="507831"/>
            </a:xfrm>
            <a:prstGeom prst="rect">
              <a:avLst/>
            </a:prstGeom>
            <a:noFill/>
          </p:spPr>
          <p:txBody>
            <a:bodyPr wrap="square" rtlCol="0">
              <a:spAutoFit/>
            </a:bodyPr>
            <a:lstStyle/>
            <a:p>
              <a:r>
                <a:rPr lang="en-AU" sz="900" dirty="0"/>
                <a:t>Through the Wi-Fi module, the Arduino receives information through the UDP sockets client server from the Android application</a:t>
              </a:r>
            </a:p>
          </p:txBody>
        </p:sp>
        <p:sp>
          <p:nvSpPr>
            <p:cNvPr id="36" name="Down Arrow 35"/>
            <p:cNvSpPr/>
            <p:nvPr/>
          </p:nvSpPr>
          <p:spPr>
            <a:xfrm>
              <a:off x="3092824" y="2245659"/>
              <a:ext cx="309282" cy="28687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Down Arrow 36"/>
            <p:cNvSpPr/>
            <p:nvPr/>
          </p:nvSpPr>
          <p:spPr>
            <a:xfrm>
              <a:off x="3092824" y="4097796"/>
              <a:ext cx="309282" cy="28687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8" name="TextBox 37"/>
          <p:cNvSpPr txBox="1"/>
          <p:nvPr/>
        </p:nvSpPr>
        <p:spPr>
          <a:xfrm>
            <a:off x="5440847" y="1061664"/>
            <a:ext cx="3003276" cy="553998"/>
          </a:xfrm>
          <a:prstGeom prst="rect">
            <a:avLst/>
          </a:prstGeom>
          <a:noFill/>
          <a:ln>
            <a:solidFill>
              <a:srgbClr val="00B050"/>
            </a:solidFill>
          </a:ln>
        </p:spPr>
        <p:txBody>
          <a:bodyPr wrap="square" rtlCol="0">
            <a:spAutoFit/>
          </a:bodyPr>
          <a:lstStyle/>
          <a:p>
            <a:r>
              <a:rPr lang="en-AU" sz="1000" dirty="0"/>
              <a:t>This flow chart shows the client instructions/ step for the solution. The result of following these steps will be the Arduino solution.</a:t>
            </a:r>
          </a:p>
        </p:txBody>
      </p:sp>
      <p:cxnSp>
        <p:nvCxnSpPr>
          <p:cNvPr id="39" name="Straight Arrow Connector 38"/>
          <p:cNvCxnSpPr>
            <a:cxnSpLocks/>
          </p:cNvCxnSpPr>
          <p:nvPr/>
        </p:nvCxnSpPr>
        <p:spPr>
          <a:xfrm flipH="1">
            <a:off x="4958811" y="1334760"/>
            <a:ext cx="483743" cy="5209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0" name="TextBox 39"/>
          <p:cNvSpPr txBox="1"/>
          <p:nvPr/>
        </p:nvSpPr>
        <p:spPr>
          <a:xfrm>
            <a:off x="5472002" y="1773046"/>
            <a:ext cx="2940965" cy="2400657"/>
          </a:xfrm>
          <a:prstGeom prst="rect">
            <a:avLst/>
          </a:prstGeom>
          <a:noFill/>
          <a:ln>
            <a:solidFill>
              <a:srgbClr val="00B050"/>
            </a:solidFill>
          </a:ln>
        </p:spPr>
        <p:txBody>
          <a:bodyPr wrap="square" rtlCol="0">
            <a:spAutoFit/>
          </a:bodyPr>
          <a:lstStyle/>
          <a:p>
            <a:r>
              <a:rPr lang="en-AU" sz="1000" dirty="0"/>
              <a:t>As demonstrated by QCAA, the way to develop a digital solutions are outlined by the following steps;</a:t>
            </a:r>
          </a:p>
          <a:p>
            <a:endParaRPr lang="en-AU" sz="1000" dirty="0"/>
          </a:p>
          <a:p>
            <a:pPr marL="342900" indent="-342900">
              <a:buAutoNum type="arabicPeriod"/>
            </a:pPr>
            <a:r>
              <a:rPr lang="en-AU" sz="1000" dirty="0"/>
              <a:t>Understand the constituents of a digital problem by restating and summarising.</a:t>
            </a:r>
          </a:p>
          <a:p>
            <a:pPr marL="342900" indent="-342900">
              <a:buAutoNum type="arabicPeriod"/>
            </a:pPr>
            <a:endParaRPr lang="en-AU" sz="1000" dirty="0"/>
          </a:p>
          <a:p>
            <a:pPr marL="342900" indent="-342900">
              <a:buAutoNum type="arabicPeriod"/>
            </a:pPr>
            <a:r>
              <a:rPr lang="en-AU" sz="1000" dirty="0"/>
              <a:t>Analyse the human need or want.</a:t>
            </a:r>
          </a:p>
          <a:p>
            <a:pPr marL="342900" indent="-342900">
              <a:buAutoNum type="arabicPeriod"/>
            </a:pPr>
            <a:endParaRPr lang="en-AU" sz="1000" dirty="0"/>
          </a:p>
          <a:p>
            <a:pPr marL="342900" indent="-342900">
              <a:buAutoNum type="arabicPeriod"/>
            </a:pPr>
            <a:r>
              <a:rPr lang="en-AU" sz="1000" dirty="0"/>
              <a:t>Decompose the problem by breaking the problem down into parts.</a:t>
            </a:r>
          </a:p>
          <a:p>
            <a:pPr marL="342900" indent="-342900">
              <a:buAutoNum type="arabicPeriod"/>
            </a:pPr>
            <a:endParaRPr lang="en-AU" sz="1000" dirty="0"/>
          </a:p>
          <a:p>
            <a:pPr marL="342900" indent="-342900">
              <a:buAutoNum type="arabicPeriod"/>
            </a:pPr>
            <a:r>
              <a:rPr lang="en-AU" sz="1000" dirty="0"/>
              <a:t>Identify essential elements.</a:t>
            </a:r>
          </a:p>
          <a:p>
            <a:pPr marL="342900" indent="-342900">
              <a:buAutoNum type="arabicPeriod"/>
            </a:pPr>
            <a:endParaRPr lang="en-AU" sz="1000" dirty="0"/>
          </a:p>
          <a:p>
            <a:pPr marL="342900" indent="-342900">
              <a:buAutoNum type="arabicPeriod"/>
            </a:pPr>
            <a:r>
              <a:rPr lang="en-AU" sz="1000" dirty="0"/>
              <a:t>Recognise constraints.</a:t>
            </a:r>
          </a:p>
          <a:p>
            <a:endParaRPr lang="en-AU" sz="1000" dirty="0"/>
          </a:p>
        </p:txBody>
      </p:sp>
      <p:sp>
        <p:nvSpPr>
          <p:cNvPr id="43" name="Title 9"/>
          <p:cNvSpPr txBox="1">
            <a:spLocks/>
          </p:cNvSpPr>
          <p:nvPr/>
        </p:nvSpPr>
        <p:spPr>
          <a:xfrm>
            <a:off x="3155167" y="380143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400" b="1" dirty="0"/>
              <a:t>Steps to approach a digital problem</a:t>
            </a:r>
            <a:endParaRPr lang="en-AU" sz="2400" dirty="0"/>
          </a:p>
        </p:txBody>
      </p:sp>
      <p:sp>
        <p:nvSpPr>
          <p:cNvPr id="44" name="TextBox 43"/>
          <p:cNvSpPr txBox="1"/>
          <p:nvPr/>
        </p:nvSpPr>
        <p:spPr>
          <a:xfrm>
            <a:off x="3268207" y="4817423"/>
            <a:ext cx="2412157" cy="1631216"/>
          </a:xfrm>
          <a:prstGeom prst="rect">
            <a:avLst/>
          </a:prstGeom>
          <a:noFill/>
          <a:ln>
            <a:solidFill>
              <a:srgbClr val="00B050"/>
            </a:solidFill>
          </a:ln>
        </p:spPr>
        <p:txBody>
          <a:bodyPr wrap="square" rtlCol="0">
            <a:spAutoFit/>
          </a:bodyPr>
          <a:lstStyle/>
          <a:p>
            <a:r>
              <a:rPr lang="en-AU" sz="1000" dirty="0"/>
              <a:t>In the steps to approach a digital problem, the QCAA  textbook demonstrates the EDGE method being; Explore, Develop, Generate and Evaluate. </a:t>
            </a:r>
          </a:p>
          <a:p>
            <a:endParaRPr lang="en-AU" sz="1000" dirty="0"/>
          </a:p>
          <a:p>
            <a:r>
              <a:rPr lang="en-AU" sz="1000" dirty="0"/>
              <a:t>Although in being an investigation case study task, the explore stage will be the only necessary stage. The explore stage is decomposed of separate steps as follows in the box to the right.</a:t>
            </a:r>
          </a:p>
        </p:txBody>
      </p:sp>
      <p:sp>
        <p:nvSpPr>
          <p:cNvPr id="45" name="TextBox 44"/>
          <p:cNvSpPr txBox="1"/>
          <p:nvPr/>
        </p:nvSpPr>
        <p:spPr>
          <a:xfrm>
            <a:off x="5793404" y="4825789"/>
            <a:ext cx="2412157" cy="1785104"/>
          </a:xfrm>
          <a:prstGeom prst="rect">
            <a:avLst/>
          </a:prstGeom>
          <a:noFill/>
          <a:ln>
            <a:solidFill>
              <a:srgbClr val="00B050"/>
            </a:solidFill>
          </a:ln>
        </p:spPr>
        <p:txBody>
          <a:bodyPr wrap="square" rtlCol="0">
            <a:spAutoFit/>
          </a:bodyPr>
          <a:lstStyle/>
          <a:p>
            <a:pPr marL="171450" indent="-171450">
              <a:buFontTx/>
              <a:buChar char="-"/>
            </a:pPr>
            <a:r>
              <a:rPr lang="en-AU" sz="1000" dirty="0"/>
              <a:t>Restate the problem; concise bullet points</a:t>
            </a:r>
          </a:p>
          <a:p>
            <a:pPr marL="171450" indent="-171450">
              <a:buFontTx/>
              <a:buChar char="-"/>
            </a:pPr>
            <a:r>
              <a:rPr lang="en-AU" sz="1000" dirty="0"/>
              <a:t>Explore a human need or want; understanding the want of a human by researching solutions and establishing target audiences.</a:t>
            </a:r>
          </a:p>
          <a:p>
            <a:pPr marL="171450" indent="-171450">
              <a:buFontTx/>
              <a:buChar char="-"/>
            </a:pPr>
            <a:r>
              <a:rPr lang="en-AU" sz="1000" dirty="0"/>
              <a:t>Decompose (break down); decomposition of digital problem into solvable and smaller problems</a:t>
            </a:r>
          </a:p>
          <a:p>
            <a:pPr marL="171450" indent="-171450">
              <a:buFontTx/>
              <a:buChar char="-"/>
            </a:pPr>
            <a:r>
              <a:rPr lang="en-AU" sz="1000" dirty="0"/>
              <a:t>Identify requirements</a:t>
            </a:r>
          </a:p>
          <a:p>
            <a:pPr marL="171450" indent="-171450">
              <a:buFontTx/>
              <a:buChar char="-"/>
            </a:pPr>
            <a:r>
              <a:rPr lang="en-AU" sz="1000" dirty="0"/>
              <a:t>Recognise restraints</a:t>
            </a:r>
          </a:p>
        </p:txBody>
      </p:sp>
      <p:cxnSp>
        <p:nvCxnSpPr>
          <p:cNvPr id="46" name="Straight Arrow Connector 45"/>
          <p:cNvCxnSpPr>
            <a:cxnSpLocks/>
          </p:cNvCxnSpPr>
          <p:nvPr/>
        </p:nvCxnSpPr>
        <p:spPr>
          <a:xfrm>
            <a:off x="5661400" y="5644894"/>
            <a:ext cx="308442" cy="7344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10" name="Group 9"/>
          <p:cNvGrpSpPr/>
          <p:nvPr/>
        </p:nvGrpSpPr>
        <p:grpSpPr>
          <a:xfrm>
            <a:off x="8636631" y="4719471"/>
            <a:ext cx="1268312" cy="627413"/>
            <a:chOff x="8636631" y="4719471"/>
            <a:chExt cx="1268312" cy="627413"/>
          </a:xfrm>
        </p:grpSpPr>
        <p:sp>
          <p:nvSpPr>
            <p:cNvPr id="7" name="Rounded Rectangle 6"/>
            <p:cNvSpPr/>
            <p:nvPr/>
          </p:nvSpPr>
          <p:spPr>
            <a:xfrm>
              <a:off x="8636631" y="4719471"/>
              <a:ext cx="1205345" cy="627413"/>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p:cNvSpPr txBox="1"/>
            <p:nvPr/>
          </p:nvSpPr>
          <p:spPr>
            <a:xfrm>
              <a:off x="8699598" y="4776495"/>
              <a:ext cx="1205345" cy="523220"/>
            </a:xfrm>
            <a:prstGeom prst="rect">
              <a:avLst/>
            </a:prstGeom>
            <a:noFill/>
          </p:spPr>
          <p:txBody>
            <a:bodyPr wrap="square" rtlCol="0">
              <a:spAutoFit/>
            </a:bodyPr>
            <a:lstStyle/>
            <a:p>
              <a:r>
                <a:rPr lang="en-AU" sz="1400" b="1" dirty="0">
                  <a:solidFill>
                    <a:schemeClr val="bg1"/>
                  </a:solidFill>
                </a:rPr>
                <a:t>Restate the problem</a:t>
              </a:r>
            </a:p>
          </p:txBody>
        </p:sp>
      </p:grpSp>
      <p:grpSp>
        <p:nvGrpSpPr>
          <p:cNvPr id="13" name="Group 12"/>
          <p:cNvGrpSpPr/>
          <p:nvPr/>
        </p:nvGrpSpPr>
        <p:grpSpPr>
          <a:xfrm>
            <a:off x="8636630" y="5429467"/>
            <a:ext cx="1268313" cy="658980"/>
            <a:chOff x="8636630" y="5429467"/>
            <a:chExt cx="1268313" cy="658980"/>
          </a:xfrm>
        </p:grpSpPr>
        <p:sp>
          <p:nvSpPr>
            <p:cNvPr id="49" name="Rounded Rectangle 48"/>
            <p:cNvSpPr/>
            <p:nvPr/>
          </p:nvSpPr>
          <p:spPr>
            <a:xfrm>
              <a:off x="8636630" y="5429467"/>
              <a:ext cx="1205345" cy="627413"/>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TextBox 58"/>
            <p:cNvSpPr txBox="1"/>
            <p:nvPr/>
          </p:nvSpPr>
          <p:spPr>
            <a:xfrm>
              <a:off x="8699598" y="5442116"/>
              <a:ext cx="1205345" cy="646331"/>
            </a:xfrm>
            <a:prstGeom prst="rect">
              <a:avLst/>
            </a:prstGeom>
            <a:noFill/>
          </p:spPr>
          <p:txBody>
            <a:bodyPr wrap="square" rtlCol="0">
              <a:spAutoFit/>
            </a:bodyPr>
            <a:lstStyle/>
            <a:p>
              <a:r>
                <a:rPr lang="en-AU" sz="1200" b="1" dirty="0">
                  <a:solidFill>
                    <a:schemeClr val="bg1"/>
                  </a:solidFill>
                </a:rPr>
                <a:t>Explore a human need or want</a:t>
              </a:r>
            </a:p>
          </p:txBody>
        </p:sp>
      </p:grpSp>
      <p:grpSp>
        <p:nvGrpSpPr>
          <p:cNvPr id="14" name="Group 13"/>
          <p:cNvGrpSpPr/>
          <p:nvPr/>
        </p:nvGrpSpPr>
        <p:grpSpPr>
          <a:xfrm>
            <a:off x="9495859" y="6129609"/>
            <a:ext cx="1266258" cy="627413"/>
            <a:chOff x="9495859" y="6129609"/>
            <a:chExt cx="1266258" cy="627413"/>
          </a:xfrm>
        </p:grpSpPr>
        <p:sp>
          <p:nvSpPr>
            <p:cNvPr id="51" name="Rounded Rectangle 50"/>
            <p:cNvSpPr/>
            <p:nvPr/>
          </p:nvSpPr>
          <p:spPr>
            <a:xfrm>
              <a:off x="9495859" y="6129609"/>
              <a:ext cx="1205345" cy="627413"/>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TextBox 59"/>
            <p:cNvSpPr txBox="1"/>
            <p:nvPr/>
          </p:nvSpPr>
          <p:spPr>
            <a:xfrm>
              <a:off x="9556772" y="6171124"/>
              <a:ext cx="1205345" cy="523220"/>
            </a:xfrm>
            <a:prstGeom prst="rect">
              <a:avLst/>
            </a:prstGeom>
            <a:noFill/>
          </p:spPr>
          <p:txBody>
            <a:bodyPr wrap="square" rtlCol="0">
              <a:spAutoFit/>
            </a:bodyPr>
            <a:lstStyle/>
            <a:p>
              <a:r>
                <a:rPr lang="en-AU" sz="1400" b="1" dirty="0">
                  <a:solidFill>
                    <a:schemeClr val="bg1"/>
                  </a:solidFill>
                </a:rPr>
                <a:t>Decompose (break down)</a:t>
              </a:r>
            </a:p>
          </p:txBody>
        </p:sp>
      </p:grpSp>
      <p:grpSp>
        <p:nvGrpSpPr>
          <p:cNvPr id="11" name="Group 10"/>
          <p:cNvGrpSpPr/>
          <p:nvPr/>
        </p:nvGrpSpPr>
        <p:grpSpPr>
          <a:xfrm>
            <a:off x="10238509" y="4719471"/>
            <a:ext cx="1224693" cy="627413"/>
            <a:chOff x="10238509" y="4719471"/>
            <a:chExt cx="1224693" cy="627413"/>
          </a:xfrm>
        </p:grpSpPr>
        <p:sp>
          <p:nvSpPr>
            <p:cNvPr id="50" name="Rounded Rectangle 49"/>
            <p:cNvSpPr/>
            <p:nvPr/>
          </p:nvSpPr>
          <p:spPr>
            <a:xfrm>
              <a:off x="10238509" y="4719471"/>
              <a:ext cx="1205345" cy="627413"/>
            </a:xfrm>
            <a:prstGeom prst="roundRect">
              <a:avLst/>
            </a:prstGeom>
            <a:solidFill>
              <a:srgbClr val="27E13D"/>
            </a:solidFill>
            <a:ln>
              <a:solidFill>
                <a:srgbClr val="27E1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TextBox 60"/>
            <p:cNvSpPr txBox="1"/>
            <p:nvPr/>
          </p:nvSpPr>
          <p:spPr>
            <a:xfrm>
              <a:off x="10257857" y="4771567"/>
              <a:ext cx="1205345" cy="523220"/>
            </a:xfrm>
            <a:prstGeom prst="rect">
              <a:avLst/>
            </a:prstGeom>
            <a:noFill/>
          </p:spPr>
          <p:txBody>
            <a:bodyPr wrap="square" rtlCol="0">
              <a:spAutoFit/>
            </a:bodyPr>
            <a:lstStyle/>
            <a:p>
              <a:r>
                <a:rPr lang="en-AU" sz="1400" b="1" dirty="0">
                  <a:solidFill>
                    <a:schemeClr val="bg1"/>
                  </a:solidFill>
                </a:rPr>
                <a:t>Identify requirements</a:t>
              </a:r>
            </a:p>
          </p:txBody>
        </p:sp>
      </p:grpSp>
      <p:grpSp>
        <p:nvGrpSpPr>
          <p:cNvPr id="12" name="Group 11"/>
          <p:cNvGrpSpPr/>
          <p:nvPr/>
        </p:nvGrpSpPr>
        <p:grpSpPr>
          <a:xfrm>
            <a:off x="10238508" y="5429466"/>
            <a:ext cx="1268313" cy="627413"/>
            <a:chOff x="10238508" y="5429466"/>
            <a:chExt cx="1268313" cy="627413"/>
          </a:xfrm>
        </p:grpSpPr>
        <p:sp>
          <p:nvSpPr>
            <p:cNvPr id="52" name="Rounded Rectangle 51"/>
            <p:cNvSpPr/>
            <p:nvPr/>
          </p:nvSpPr>
          <p:spPr>
            <a:xfrm>
              <a:off x="10238508" y="5429466"/>
              <a:ext cx="1205345" cy="627413"/>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TextBox 64"/>
            <p:cNvSpPr txBox="1"/>
            <p:nvPr/>
          </p:nvSpPr>
          <p:spPr>
            <a:xfrm>
              <a:off x="10301476" y="5461188"/>
              <a:ext cx="1205345" cy="523220"/>
            </a:xfrm>
            <a:prstGeom prst="rect">
              <a:avLst/>
            </a:prstGeom>
            <a:noFill/>
          </p:spPr>
          <p:txBody>
            <a:bodyPr wrap="square" rtlCol="0">
              <a:spAutoFit/>
            </a:bodyPr>
            <a:lstStyle/>
            <a:p>
              <a:r>
                <a:rPr lang="en-AU" sz="1400" b="1" dirty="0">
                  <a:solidFill>
                    <a:schemeClr val="bg1"/>
                  </a:solidFill>
                </a:rPr>
                <a:t>Recognise restraints</a:t>
              </a:r>
            </a:p>
          </p:txBody>
        </p:sp>
      </p:grpSp>
      <p:cxnSp>
        <p:nvCxnSpPr>
          <p:cNvPr id="66" name="Straight Arrow Connector 65"/>
          <p:cNvCxnSpPr>
            <a:cxnSpLocks/>
          </p:cNvCxnSpPr>
          <p:nvPr/>
        </p:nvCxnSpPr>
        <p:spPr>
          <a:xfrm flipV="1">
            <a:off x="8129922" y="5644894"/>
            <a:ext cx="365117" cy="83663"/>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06132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9"/>
          <p:cNvSpPr>
            <a:spLocks noGrp="1"/>
          </p:cNvSpPr>
          <p:nvPr>
            <p:ph type="title"/>
          </p:nvPr>
        </p:nvSpPr>
        <p:spPr>
          <a:xfrm>
            <a:off x="3378831" y="-136207"/>
            <a:ext cx="10515600" cy="1325563"/>
          </a:xfrm>
        </p:spPr>
        <p:txBody>
          <a:bodyPr>
            <a:normAutofit/>
          </a:bodyPr>
          <a:lstStyle/>
          <a:p>
            <a:r>
              <a:rPr lang="en-AU" sz="5400" b="1" dirty="0"/>
              <a:t>Case Study- Intelligent Systems</a:t>
            </a:r>
            <a:endParaRPr lang="en-AU" sz="5400" dirty="0"/>
          </a:p>
        </p:txBody>
      </p:sp>
      <p:sp>
        <p:nvSpPr>
          <p:cNvPr id="27" name="TextBox 26"/>
          <p:cNvSpPr txBox="1"/>
          <p:nvPr/>
        </p:nvSpPr>
        <p:spPr>
          <a:xfrm>
            <a:off x="159228" y="435650"/>
            <a:ext cx="3003276" cy="707886"/>
          </a:xfrm>
          <a:prstGeom prst="rect">
            <a:avLst/>
          </a:prstGeom>
          <a:noFill/>
          <a:ln>
            <a:solidFill>
              <a:srgbClr val="00B050"/>
            </a:solidFill>
          </a:ln>
        </p:spPr>
        <p:txBody>
          <a:bodyPr wrap="square" rtlCol="0">
            <a:spAutoFit/>
          </a:bodyPr>
          <a:lstStyle/>
          <a:p>
            <a:r>
              <a:rPr lang="en-AU" sz="1000" dirty="0"/>
              <a:t>The first step of the problem solving process is restating the problem. The problem solving process will be outlaid on the following A3 slides from left to right columns,</a:t>
            </a:r>
          </a:p>
        </p:txBody>
      </p:sp>
      <p:grpSp>
        <p:nvGrpSpPr>
          <p:cNvPr id="30" name="Group 29"/>
          <p:cNvGrpSpPr/>
          <p:nvPr/>
        </p:nvGrpSpPr>
        <p:grpSpPr>
          <a:xfrm>
            <a:off x="190383" y="1341622"/>
            <a:ext cx="2940965" cy="2217182"/>
            <a:chOff x="190384" y="1577284"/>
            <a:chExt cx="2940965" cy="2217182"/>
          </a:xfrm>
        </p:grpSpPr>
        <p:grpSp>
          <p:nvGrpSpPr>
            <p:cNvPr id="23" name="Group 22"/>
            <p:cNvGrpSpPr/>
            <p:nvPr/>
          </p:nvGrpSpPr>
          <p:grpSpPr>
            <a:xfrm>
              <a:off x="1026710" y="1577284"/>
              <a:ext cx="1268312" cy="627413"/>
              <a:chOff x="8636631" y="4719471"/>
              <a:chExt cx="1268312" cy="627413"/>
            </a:xfrm>
          </p:grpSpPr>
          <p:sp>
            <p:nvSpPr>
              <p:cNvPr id="24" name="Rounded Rectangle 23"/>
              <p:cNvSpPr/>
              <p:nvPr/>
            </p:nvSpPr>
            <p:spPr>
              <a:xfrm>
                <a:off x="8636631" y="4719471"/>
                <a:ext cx="1205345" cy="627413"/>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p:cNvSpPr txBox="1"/>
              <p:nvPr/>
            </p:nvSpPr>
            <p:spPr>
              <a:xfrm>
                <a:off x="8699598" y="4776495"/>
                <a:ext cx="1205345" cy="523220"/>
              </a:xfrm>
              <a:prstGeom prst="rect">
                <a:avLst/>
              </a:prstGeom>
              <a:noFill/>
            </p:spPr>
            <p:txBody>
              <a:bodyPr wrap="square" rtlCol="0">
                <a:spAutoFit/>
              </a:bodyPr>
              <a:lstStyle/>
              <a:p>
                <a:r>
                  <a:rPr lang="en-AU" sz="1400" b="1" dirty="0">
                    <a:solidFill>
                      <a:schemeClr val="bg1"/>
                    </a:solidFill>
                  </a:rPr>
                  <a:t>Restate the problem</a:t>
                </a:r>
              </a:p>
            </p:txBody>
          </p:sp>
        </p:grpSp>
        <p:sp>
          <p:nvSpPr>
            <p:cNvPr id="26" name="TextBox 25"/>
            <p:cNvSpPr txBox="1"/>
            <p:nvPr/>
          </p:nvSpPr>
          <p:spPr>
            <a:xfrm>
              <a:off x="190384" y="2317138"/>
              <a:ext cx="2940965" cy="1477328"/>
            </a:xfrm>
            <a:prstGeom prst="rect">
              <a:avLst/>
            </a:prstGeom>
            <a:noFill/>
            <a:ln>
              <a:solidFill>
                <a:srgbClr val="00B050"/>
              </a:solidFill>
            </a:ln>
          </p:spPr>
          <p:txBody>
            <a:bodyPr wrap="square" rtlCol="0">
              <a:spAutoFit/>
            </a:bodyPr>
            <a:lstStyle/>
            <a:p>
              <a:pPr marL="171450" indent="-171450">
                <a:buFontTx/>
                <a:buChar char="-"/>
              </a:pPr>
              <a:r>
                <a:rPr lang="en-AU" sz="1000" dirty="0"/>
                <a:t>Create an app that can identify coloured shapes</a:t>
              </a:r>
            </a:p>
            <a:p>
              <a:pPr marL="171450" indent="-171450">
                <a:buFontTx/>
                <a:buChar char="-"/>
              </a:pPr>
              <a:r>
                <a:rPr lang="en-AU" sz="1000" dirty="0"/>
                <a:t>Use the Arduino and it’s computation and connect it to an app</a:t>
              </a:r>
            </a:p>
            <a:p>
              <a:pPr marL="171450" indent="-171450">
                <a:buFontTx/>
                <a:buChar char="-"/>
              </a:pPr>
              <a:r>
                <a:rPr lang="en-AU" sz="1000" dirty="0"/>
                <a:t>Simple and easy-to-use UI for app</a:t>
              </a:r>
            </a:p>
            <a:p>
              <a:pPr marL="171450" indent="-171450">
                <a:buFontTx/>
                <a:buChar char="-"/>
              </a:pPr>
              <a:r>
                <a:rPr lang="en-AU" sz="1000" dirty="0"/>
                <a:t>Have a code that does not waste memory (is as efficient as possible)</a:t>
              </a:r>
            </a:p>
            <a:p>
              <a:pPr marL="171450" indent="-171450">
                <a:buFontTx/>
                <a:buChar char="-"/>
              </a:pPr>
              <a:r>
                <a:rPr lang="en-AU" sz="1000" dirty="0"/>
                <a:t>Solution that is easy to setup for other hobbyists and developers alike</a:t>
              </a:r>
            </a:p>
            <a:p>
              <a:endParaRPr lang="en-AU" sz="1000" dirty="0"/>
            </a:p>
          </p:txBody>
        </p:sp>
        <p:cxnSp>
          <p:nvCxnSpPr>
            <p:cNvPr id="28" name="Straight Arrow Connector 27"/>
            <p:cNvCxnSpPr>
              <a:cxnSpLocks/>
            </p:cNvCxnSpPr>
            <p:nvPr/>
          </p:nvCxnSpPr>
          <p:spPr>
            <a:xfrm flipH="1">
              <a:off x="1440873" y="2204126"/>
              <a:ext cx="60083" cy="30364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35" name="Group 34"/>
          <p:cNvGrpSpPr/>
          <p:nvPr/>
        </p:nvGrpSpPr>
        <p:grpSpPr>
          <a:xfrm>
            <a:off x="995224" y="3909760"/>
            <a:ext cx="1268313" cy="658980"/>
            <a:chOff x="8636630" y="5429467"/>
            <a:chExt cx="1268313" cy="658980"/>
          </a:xfrm>
        </p:grpSpPr>
        <p:sp>
          <p:nvSpPr>
            <p:cNvPr id="36" name="Rounded Rectangle 35"/>
            <p:cNvSpPr/>
            <p:nvPr/>
          </p:nvSpPr>
          <p:spPr>
            <a:xfrm>
              <a:off x="8636630" y="5429467"/>
              <a:ext cx="1205345" cy="627413"/>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p:cNvSpPr txBox="1"/>
            <p:nvPr/>
          </p:nvSpPr>
          <p:spPr>
            <a:xfrm>
              <a:off x="8699598" y="5442116"/>
              <a:ext cx="1205345" cy="646331"/>
            </a:xfrm>
            <a:prstGeom prst="rect">
              <a:avLst/>
            </a:prstGeom>
            <a:noFill/>
          </p:spPr>
          <p:txBody>
            <a:bodyPr wrap="square" rtlCol="0">
              <a:spAutoFit/>
            </a:bodyPr>
            <a:lstStyle/>
            <a:p>
              <a:r>
                <a:rPr lang="en-AU" sz="1200" b="1" dirty="0">
                  <a:solidFill>
                    <a:schemeClr val="bg1"/>
                  </a:solidFill>
                </a:rPr>
                <a:t>Explore a human need or want</a:t>
              </a:r>
            </a:p>
          </p:txBody>
        </p:sp>
      </p:grpSp>
      <p:sp>
        <p:nvSpPr>
          <p:cNvPr id="38" name="TextBox 37"/>
          <p:cNvSpPr txBox="1"/>
          <p:nvPr/>
        </p:nvSpPr>
        <p:spPr>
          <a:xfrm>
            <a:off x="159228" y="4919697"/>
            <a:ext cx="3003276" cy="1477328"/>
          </a:xfrm>
          <a:prstGeom prst="rect">
            <a:avLst/>
          </a:prstGeom>
          <a:noFill/>
          <a:ln>
            <a:solidFill>
              <a:srgbClr val="00B050"/>
            </a:solidFill>
          </a:ln>
        </p:spPr>
        <p:txBody>
          <a:bodyPr wrap="square" rtlCol="0">
            <a:spAutoFit/>
          </a:bodyPr>
          <a:lstStyle/>
          <a:p>
            <a:r>
              <a:rPr lang="en-AU" sz="1000" dirty="0"/>
              <a:t>The human needs or wants are more limited in the case of the Arduino solution, as there is less user accessibility and control as opposed to a digital solution such as a web app or game, however the main human need or want that can be elaborated in this case is;</a:t>
            </a:r>
          </a:p>
          <a:p>
            <a:r>
              <a:rPr lang="en-AU" sz="1000" dirty="0"/>
              <a:t>- To satisfy the requirements of the solution; perform the tasks as described in the first aspect of solving a digital problem; ‘restating the problem’</a:t>
            </a:r>
          </a:p>
        </p:txBody>
      </p:sp>
      <p:cxnSp>
        <p:nvCxnSpPr>
          <p:cNvPr id="39" name="Straight Arrow Connector 38"/>
          <p:cNvCxnSpPr>
            <a:cxnSpLocks/>
          </p:cNvCxnSpPr>
          <p:nvPr/>
        </p:nvCxnSpPr>
        <p:spPr>
          <a:xfrm>
            <a:off x="1561039" y="4510565"/>
            <a:ext cx="36857" cy="53224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41" name="Group 40"/>
          <p:cNvGrpSpPr/>
          <p:nvPr/>
        </p:nvGrpSpPr>
        <p:grpSpPr>
          <a:xfrm>
            <a:off x="3793890" y="997527"/>
            <a:ext cx="1268313" cy="658980"/>
            <a:chOff x="8636630" y="5429467"/>
            <a:chExt cx="1268313" cy="658980"/>
          </a:xfrm>
        </p:grpSpPr>
        <p:sp>
          <p:nvSpPr>
            <p:cNvPr id="42" name="Rounded Rectangle 41"/>
            <p:cNvSpPr/>
            <p:nvPr/>
          </p:nvSpPr>
          <p:spPr>
            <a:xfrm>
              <a:off x="8636630" y="5429467"/>
              <a:ext cx="1205345" cy="627413"/>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TextBox 42"/>
            <p:cNvSpPr txBox="1"/>
            <p:nvPr/>
          </p:nvSpPr>
          <p:spPr>
            <a:xfrm>
              <a:off x="8699598" y="5442116"/>
              <a:ext cx="1205345" cy="646331"/>
            </a:xfrm>
            <a:prstGeom prst="rect">
              <a:avLst/>
            </a:prstGeom>
            <a:noFill/>
          </p:spPr>
          <p:txBody>
            <a:bodyPr wrap="square" rtlCol="0">
              <a:spAutoFit/>
            </a:bodyPr>
            <a:lstStyle/>
            <a:p>
              <a:r>
                <a:rPr lang="en-AU" sz="1200" b="1" dirty="0">
                  <a:solidFill>
                    <a:schemeClr val="bg1"/>
                  </a:solidFill>
                </a:rPr>
                <a:t>Explore a human need or want</a:t>
              </a:r>
            </a:p>
          </p:txBody>
        </p:sp>
      </p:grpSp>
      <p:pic>
        <p:nvPicPr>
          <p:cNvPr id="1026" name="Picture 2" descr="https://coggle-downloads-production.s3.eu-west-1.amazonaws.com/409643efede19b9396f1b318346042ae8708c8170341fc3339417929264f1c42/IoT_Arduino_ball_tracking.png?AWSAccessKeyId=ASIA4YTCGXFHKA7HZLKH&amp;Expires=1554400104&amp;Signature=3y1iF%2FcJGmTcTVIfDHl%2FHNYNWXA%3D&amp;x-amz-security-token=FQoGZXIvYXdzECwaDOYUVcemIKxkqPVLVyLwAezu%2BdHvHIFZfeS7RWlACQRZ5Q5WkKPpqBPS9AZ%2FFxMkzcbFj8kJT6%2B1acES%2Fk8ltFeftRkCKGEL25iuwY3Ms2CY6vt74Q9uAG6v%2Bc5zzPOnFVKvH%2FI6vqhG6CU%2Bjdu5HxwBzcWiLxUVcviyLWSHwgni1pfMY48njlakYZST6yLNtRf2n%2BIGVxkh5qNwtWF2nntgGHWHoKbmPmwXqF8gwa37jN8Z6BtZoLeW4KdqXzF7eWydBJXwxhGZBtpdHZfCS0HjvwpziSbeXndHQgobAbQ0VofolrJ%2FLo8RaoU5eUFIwrTmIGjLjZmTihqx304DAyius5flBQ%3D%3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30145" y="1825261"/>
            <a:ext cx="7623713" cy="4734361"/>
          </a:xfrm>
          <a:prstGeom prst="rect">
            <a:avLst/>
          </a:prstGeom>
          <a:noFill/>
          <a:ln>
            <a:solidFill>
              <a:srgbClr val="10A829"/>
            </a:solidFill>
          </a:ln>
          <a:extLst>
            <a:ext uri="{909E8E84-426E-40DD-AFC4-6F175D3DCCD1}">
              <a14:hiddenFill xmlns:a14="http://schemas.microsoft.com/office/drawing/2010/main">
                <a:solidFill>
                  <a:srgbClr val="FFFFFF"/>
                </a:solidFill>
              </a14:hiddenFill>
            </a:ext>
          </a:extLst>
        </p:spPr>
      </p:pic>
      <p:sp>
        <p:nvSpPr>
          <p:cNvPr id="45" name="TextBox 44"/>
          <p:cNvSpPr txBox="1"/>
          <p:nvPr/>
        </p:nvSpPr>
        <p:spPr>
          <a:xfrm>
            <a:off x="5188849" y="1003567"/>
            <a:ext cx="6265009" cy="707886"/>
          </a:xfrm>
          <a:prstGeom prst="rect">
            <a:avLst/>
          </a:prstGeom>
          <a:noFill/>
          <a:ln>
            <a:solidFill>
              <a:srgbClr val="00B050"/>
            </a:solidFill>
          </a:ln>
        </p:spPr>
        <p:txBody>
          <a:bodyPr wrap="square" rtlCol="0">
            <a:spAutoFit/>
          </a:bodyPr>
          <a:lstStyle/>
          <a:p>
            <a:r>
              <a:rPr lang="en-AU" sz="1000" dirty="0"/>
              <a:t>To explore the human needs and wants, a mind map was used to map aspects of the solution. This mind map conveys such considerations to the task as the user control and interface, to the data stored to the functionalities of the solution. Much of the ‘Data’ and ‘Wi-Fi connection’ sections were used from the code which is referenced in the A4 Annotated codes sheets and the source Arduino page. This section is continued in the following A3 slide</a:t>
            </a:r>
          </a:p>
        </p:txBody>
      </p:sp>
      <p:cxnSp>
        <p:nvCxnSpPr>
          <p:cNvPr id="46" name="Straight Arrow Connector 45"/>
          <p:cNvCxnSpPr>
            <a:cxnSpLocks/>
          </p:cNvCxnSpPr>
          <p:nvPr/>
        </p:nvCxnSpPr>
        <p:spPr>
          <a:xfrm>
            <a:off x="4994253" y="1290293"/>
            <a:ext cx="370495" cy="8431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p:cNvCxnSpPr>
            <a:cxnSpLocks/>
          </p:cNvCxnSpPr>
          <p:nvPr/>
        </p:nvCxnSpPr>
        <p:spPr>
          <a:xfrm>
            <a:off x="4396562" y="1619164"/>
            <a:ext cx="240402" cy="34930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0" name="Straight Connector 49"/>
          <p:cNvCxnSpPr/>
          <p:nvPr/>
        </p:nvCxnSpPr>
        <p:spPr>
          <a:xfrm flipH="1">
            <a:off x="3445756" y="1010176"/>
            <a:ext cx="2914" cy="5500206"/>
          </a:xfrm>
          <a:prstGeom prst="line">
            <a:avLst/>
          </a:prstGeom>
          <a:ln>
            <a:solidFill>
              <a:srgbClr val="10A82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999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9191354" y="4517561"/>
            <a:ext cx="2534481" cy="2092881"/>
          </a:xfrm>
          <a:prstGeom prst="rect">
            <a:avLst/>
          </a:prstGeom>
          <a:noFill/>
          <a:ln>
            <a:solidFill>
              <a:srgbClr val="00B050"/>
            </a:solidFill>
          </a:ln>
        </p:spPr>
        <p:txBody>
          <a:bodyPr wrap="square" rtlCol="0">
            <a:spAutoFit/>
          </a:bodyPr>
          <a:lstStyle/>
          <a:p>
            <a:pPr marL="171450" indent="-171450">
              <a:buFontTx/>
              <a:buChar char="-"/>
            </a:pPr>
            <a:r>
              <a:rPr lang="en-AU" sz="1000" dirty="0"/>
              <a:t>Servo mobility; the servo can only rotate horizontally, if the object which the Arduino is tracking is taken out of the vertical view, the solution cannot track that object.</a:t>
            </a:r>
          </a:p>
          <a:p>
            <a:pPr marL="171450" indent="-171450">
              <a:buFontTx/>
              <a:buChar char="-"/>
            </a:pPr>
            <a:r>
              <a:rPr lang="en-AU" sz="1000" dirty="0"/>
              <a:t>Wi-Fi dependence; without Wi-Fi connection the solution cannot work</a:t>
            </a:r>
          </a:p>
          <a:p>
            <a:pPr marL="171450" indent="-171450">
              <a:buFontTx/>
              <a:buChar char="-"/>
            </a:pPr>
            <a:r>
              <a:rPr lang="en-AU" sz="1000" dirty="0"/>
              <a:t>Hardware components; the range of hardware components may be inaccessible at certain times during school or outside school (given the equipment is in school)and thus eliminates testing and development time</a:t>
            </a:r>
          </a:p>
        </p:txBody>
      </p:sp>
      <p:sp>
        <p:nvSpPr>
          <p:cNvPr id="7" name="Title 9"/>
          <p:cNvSpPr txBox="1">
            <a:spLocks/>
          </p:cNvSpPr>
          <p:nvPr/>
        </p:nvSpPr>
        <p:spPr>
          <a:xfrm>
            <a:off x="3378831" y="-13620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5400" b="1"/>
              <a:t>Case Study- Intelligent Systems</a:t>
            </a:r>
            <a:endParaRPr lang="en-AU" sz="5400" dirty="0"/>
          </a:p>
        </p:txBody>
      </p:sp>
      <p:grpSp>
        <p:nvGrpSpPr>
          <p:cNvPr id="8" name="Group 7"/>
          <p:cNvGrpSpPr/>
          <p:nvPr/>
        </p:nvGrpSpPr>
        <p:grpSpPr>
          <a:xfrm>
            <a:off x="699389" y="246306"/>
            <a:ext cx="1268313" cy="658980"/>
            <a:chOff x="8636630" y="5429467"/>
            <a:chExt cx="1268313" cy="658980"/>
          </a:xfrm>
        </p:grpSpPr>
        <p:sp>
          <p:nvSpPr>
            <p:cNvPr id="9" name="Rounded Rectangle 8"/>
            <p:cNvSpPr/>
            <p:nvPr/>
          </p:nvSpPr>
          <p:spPr>
            <a:xfrm>
              <a:off x="8636630" y="5429467"/>
              <a:ext cx="1205345" cy="627413"/>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p:cNvSpPr txBox="1"/>
            <p:nvPr/>
          </p:nvSpPr>
          <p:spPr>
            <a:xfrm>
              <a:off x="8699598" y="5442116"/>
              <a:ext cx="1205345" cy="646331"/>
            </a:xfrm>
            <a:prstGeom prst="rect">
              <a:avLst/>
            </a:prstGeom>
            <a:noFill/>
          </p:spPr>
          <p:txBody>
            <a:bodyPr wrap="square" rtlCol="0">
              <a:spAutoFit/>
            </a:bodyPr>
            <a:lstStyle/>
            <a:p>
              <a:r>
                <a:rPr lang="en-AU" sz="1200" b="1" dirty="0">
                  <a:solidFill>
                    <a:schemeClr val="bg1"/>
                  </a:solidFill>
                </a:rPr>
                <a:t>Explore a human need or want</a:t>
              </a:r>
            </a:p>
          </p:txBody>
        </p:sp>
      </p:grpSp>
      <p:graphicFrame>
        <p:nvGraphicFramePr>
          <p:cNvPr id="11" name="Table 10"/>
          <p:cNvGraphicFramePr>
            <a:graphicFrameLocks noGrp="1"/>
          </p:cNvGraphicFramePr>
          <p:nvPr>
            <p:extLst>
              <p:ext uri="{D42A27DB-BD31-4B8C-83A1-F6EECF244321}">
                <p14:modId xmlns:p14="http://schemas.microsoft.com/office/powerpoint/2010/main" val="1094669544"/>
              </p:ext>
            </p:extLst>
          </p:nvPr>
        </p:nvGraphicFramePr>
        <p:xfrm>
          <a:off x="147845" y="1136122"/>
          <a:ext cx="3538932" cy="2805897"/>
        </p:xfrm>
        <a:graphic>
          <a:graphicData uri="http://schemas.openxmlformats.org/drawingml/2006/table">
            <a:tbl>
              <a:tblPr firstRow="1" bandRow="1">
                <a:tableStyleId>{5C22544A-7EE6-4342-B048-85BDC9FD1C3A}</a:tableStyleId>
              </a:tblPr>
              <a:tblGrid>
                <a:gridCol w="1179644">
                  <a:extLst>
                    <a:ext uri="{9D8B030D-6E8A-4147-A177-3AD203B41FA5}">
                      <a16:colId xmlns:a16="http://schemas.microsoft.com/office/drawing/2014/main" val="1352576077"/>
                    </a:ext>
                  </a:extLst>
                </a:gridCol>
                <a:gridCol w="1179644">
                  <a:extLst>
                    <a:ext uri="{9D8B030D-6E8A-4147-A177-3AD203B41FA5}">
                      <a16:colId xmlns:a16="http://schemas.microsoft.com/office/drawing/2014/main" val="2602672916"/>
                    </a:ext>
                  </a:extLst>
                </a:gridCol>
                <a:gridCol w="1179644">
                  <a:extLst>
                    <a:ext uri="{9D8B030D-6E8A-4147-A177-3AD203B41FA5}">
                      <a16:colId xmlns:a16="http://schemas.microsoft.com/office/drawing/2014/main" val="1651600257"/>
                    </a:ext>
                  </a:extLst>
                </a:gridCol>
              </a:tblGrid>
              <a:tr h="535137">
                <a:tc>
                  <a:txBody>
                    <a:bodyPr/>
                    <a:lstStyle/>
                    <a:p>
                      <a:r>
                        <a:rPr lang="en-AU" sz="1100" dirty="0"/>
                        <a:t>Input</a:t>
                      </a:r>
                      <a:r>
                        <a:rPr lang="en-AU" sz="1100" baseline="0" dirty="0"/>
                        <a:t> (Data)</a:t>
                      </a:r>
                      <a:endParaRPr lang="en-AU" sz="1100" dirty="0"/>
                    </a:p>
                  </a:txBody>
                  <a:tcPr/>
                </a:tc>
                <a:tc>
                  <a:txBody>
                    <a:bodyPr/>
                    <a:lstStyle/>
                    <a:p>
                      <a:r>
                        <a:rPr lang="en-AU" sz="1100" dirty="0"/>
                        <a:t>Process (Hardware)</a:t>
                      </a:r>
                    </a:p>
                  </a:txBody>
                  <a:tcPr/>
                </a:tc>
                <a:tc>
                  <a:txBody>
                    <a:bodyPr/>
                    <a:lstStyle/>
                    <a:p>
                      <a:r>
                        <a:rPr lang="en-AU" sz="1100" dirty="0"/>
                        <a:t>Output (Action)</a:t>
                      </a:r>
                      <a:r>
                        <a:rPr lang="en-AU" sz="1100" baseline="0" dirty="0"/>
                        <a:t> </a:t>
                      </a:r>
                      <a:endParaRPr lang="en-AU" sz="1100" dirty="0"/>
                    </a:p>
                  </a:txBody>
                  <a:tcPr/>
                </a:tc>
                <a:extLst>
                  <a:ext uri="{0D108BD9-81ED-4DB2-BD59-A6C34878D82A}">
                    <a16:rowId xmlns:a16="http://schemas.microsoft.com/office/drawing/2014/main" val="3510339507"/>
                  </a:ext>
                </a:extLst>
              </a:tr>
              <a:tr h="535137">
                <a:tc>
                  <a:txBody>
                    <a:bodyPr/>
                    <a:lstStyle/>
                    <a:p>
                      <a:r>
                        <a:rPr lang="en-AU" sz="1100" dirty="0"/>
                        <a:t>A user selects</a:t>
                      </a:r>
                      <a:r>
                        <a:rPr lang="en-AU" sz="1100" baseline="0" dirty="0"/>
                        <a:t> a colour for the shape that is wanted to be tracked.</a:t>
                      </a:r>
                      <a:endParaRPr lang="en-AU" sz="1100" dirty="0"/>
                    </a:p>
                  </a:txBody>
                  <a:tcPr/>
                </a:tc>
                <a:tc>
                  <a:txBody>
                    <a:bodyPr/>
                    <a:lstStyle/>
                    <a:p>
                      <a:r>
                        <a:rPr lang="en-AU" sz="1100" dirty="0"/>
                        <a:t>This data is stored in the app and</a:t>
                      </a:r>
                      <a:r>
                        <a:rPr lang="en-AU" sz="1100" baseline="0" dirty="0"/>
                        <a:t> transported using the UDP sockets client server. Using various Wi-Fi functions and blocks of code, the Arduino can automate the Servo to respond to the data given.</a:t>
                      </a:r>
                      <a:endParaRPr lang="en-AU" sz="1100" dirty="0"/>
                    </a:p>
                  </a:txBody>
                  <a:tcPr/>
                </a:tc>
                <a:tc>
                  <a:txBody>
                    <a:bodyPr/>
                    <a:lstStyle/>
                    <a:p>
                      <a:r>
                        <a:rPr lang="en-AU" sz="1100" dirty="0"/>
                        <a:t>The phone moves</a:t>
                      </a:r>
                      <a:r>
                        <a:rPr lang="en-AU" sz="1100" baseline="0" dirty="0"/>
                        <a:t> horizontally in order to centre the object described in the input</a:t>
                      </a:r>
                      <a:endParaRPr lang="en-AU" sz="1100" dirty="0"/>
                    </a:p>
                  </a:txBody>
                  <a:tcPr/>
                </a:tc>
                <a:extLst>
                  <a:ext uri="{0D108BD9-81ED-4DB2-BD59-A6C34878D82A}">
                    <a16:rowId xmlns:a16="http://schemas.microsoft.com/office/drawing/2014/main" val="1245623240"/>
                  </a:ext>
                </a:extLst>
              </a:tr>
            </a:tbl>
          </a:graphicData>
        </a:graphic>
      </p:graphicFrame>
      <p:cxnSp>
        <p:nvCxnSpPr>
          <p:cNvPr id="12" name="Straight Arrow Connector 11"/>
          <p:cNvCxnSpPr>
            <a:cxnSpLocks/>
          </p:cNvCxnSpPr>
          <p:nvPr/>
        </p:nvCxnSpPr>
        <p:spPr>
          <a:xfrm>
            <a:off x="1365029" y="734924"/>
            <a:ext cx="36857" cy="532242"/>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14" name="Group 13"/>
          <p:cNvGrpSpPr/>
          <p:nvPr/>
        </p:nvGrpSpPr>
        <p:grpSpPr>
          <a:xfrm>
            <a:off x="1263293" y="4203165"/>
            <a:ext cx="1266258" cy="627413"/>
            <a:chOff x="9495859" y="6129609"/>
            <a:chExt cx="1266258" cy="627413"/>
          </a:xfrm>
        </p:grpSpPr>
        <p:sp>
          <p:nvSpPr>
            <p:cNvPr id="15" name="Rounded Rectangle 14"/>
            <p:cNvSpPr/>
            <p:nvPr/>
          </p:nvSpPr>
          <p:spPr>
            <a:xfrm>
              <a:off x="9495859" y="6129609"/>
              <a:ext cx="1205345" cy="627413"/>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9556772" y="6171124"/>
              <a:ext cx="1205345" cy="523220"/>
            </a:xfrm>
            <a:prstGeom prst="rect">
              <a:avLst/>
            </a:prstGeom>
            <a:noFill/>
          </p:spPr>
          <p:txBody>
            <a:bodyPr wrap="square" rtlCol="0">
              <a:spAutoFit/>
            </a:bodyPr>
            <a:lstStyle/>
            <a:p>
              <a:r>
                <a:rPr lang="en-AU" sz="1400" b="1" dirty="0">
                  <a:solidFill>
                    <a:schemeClr val="bg1"/>
                  </a:solidFill>
                </a:rPr>
                <a:t>Decompose (break down)</a:t>
              </a:r>
            </a:p>
          </p:txBody>
        </p:sp>
      </p:grpSp>
      <p:sp>
        <p:nvSpPr>
          <p:cNvPr id="18" name="TextBox 17"/>
          <p:cNvSpPr txBox="1"/>
          <p:nvPr/>
        </p:nvSpPr>
        <p:spPr>
          <a:xfrm>
            <a:off x="729111" y="4979226"/>
            <a:ext cx="2412157" cy="1477328"/>
          </a:xfrm>
          <a:prstGeom prst="rect">
            <a:avLst/>
          </a:prstGeom>
          <a:noFill/>
          <a:ln>
            <a:solidFill>
              <a:srgbClr val="00B050"/>
            </a:solidFill>
          </a:ln>
        </p:spPr>
        <p:txBody>
          <a:bodyPr wrap="square" rtlCol="0">
            <a:spAutoFit/>
          </a:bodyPr>
          <a:lstStyle/>
          <a:p>
            <a:r>
              <a:rPr lang="en-AU" sz="1000" dirty="0"/>
              <a:t>Decomposing of the problem helps make the problem-solving must easier to handle given a smaller workload. It also gives clarity and simplicity to the digital problem as a whole. The aspects of this digital problem can be evaluated from the previous step’s mind map also, which helps identify and highlight the features and key aspects of the solution.</a:t>
            </a:r>
          </a:p>
        </p:txBody>
      </p:sp>
      <p:cxnSp>
        <p:nvCxnSpPr>
          <p:cNvPr id="19" name="Straight Arrow Connector 18"/>
          <p:cNvCxnSpPr>
            <a:cxnSpLocks/>
          </p:cNvCxnSpPr>
          <p:nvPr/>
        </p:nvCxnSpPr>
        <p:spPr>
          <a:xfrm flipH="1">
            <a:off x="1884394" y="4830578"/>
            <a:ext cx="24056" cy="37123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TextBox 20"/>
          <p:cNvSpPr txBox="1"/>
          <p:nvPr/>
        </p:nvSpPr>
        <p:spPr>
          <a:xfrm>
            <a:off x="4296210" y="1934429"/>
            <a:ext cx="2412157" cy="2400657"/>
          </a:xfrm>
          <a:prstGeom prst="rect">
            <a:avLst/>
          </a:prstGeom>
          <a:noFill/>
          <a:ln>
            <a:solidFill>
              <a:srgbClr val="00B050"/>
            </a:solidFill>
          </a:ln>
        </p:spPr>
        <p:txBody>
          <a:bodyPr wrap="square" rtlCol="0">
            <a:spAutoFit/>
          </a:bodyPr>
          <a:lstStyle/>
          <a:p>
            <a:r>
              <a:rPr lang="en-AU" sz="1000" dirty="0"/>
              <a:t>Through decomposition of the solution, the solution can be expressed as;</a:t>
            </a:r>
          </a:p>
          <a:p>
            <a:pPr marL="171450" indent="-171450">
              <a:buFontTx/>
              <a:buChar char="-"/>
            </a:pPr>
            <a:r>
              <a:rPr lang="en-AU" sz="1000" dirty="0"/>
              <a:t>Wireless connection; importing the specific libraries needed and using the hardware needed</a:t>
            </a:r>
          </a:p>
          <a:p>
            <a:pPr marL="171450" indent="-171450">
              <a:buFontTx/>
              <a:buChar char="-"/>
            </a:pPr>
            <a:r>
              <a:rPr lang="en-AU" sz="1000" dirty="0"/>
              <a:t>Functionality; Analysing and generating the correct inputs and outputs for the user</a:t>
            </a:r>
          </a:p>
          <a:p>
            <a:pPr marL="171450" indent="-171450">
              <a:buFontTx/>
              <a:buChar char="-"/>
            </a:pPr>
            <a:r>
              <a:rPr lang="en-AU" sz="1000" dirty="0"/>
              <a:t>User interface and control; deciding what the user can do with the app and how it is functions with the user at control</a:t>
            </a:r>
          </a:p>
          <a:p>
            <a:pPr marL="171450" indent="-171450">
              <a:buFontTx/>
              <a:buChar char="-"/>
            </a:pPr>
            <a:r>
              <a:rPr lang="en-AU" sz="1000" dirty="0"/>
              <a:t>Data; What data variables need to be considered and how they will be stored.</a:t>
            </a:r>
          </a:p>
        </p:txBody>
      </p:sp>
      <p:grpSp>
        <p:nvGrpSpPr>
          <p:cNvPr id="22" name="Group 21"/>
          <p:cNvGrpSpPr/>
          <p:nvPr/>
        </p:nvGrpSpPr>
        <p:grpSpPr>
          <a:xfrm>
            <a:off x="4599806" y="1001045"/>
            <a:ext cx="1266258" cy="627413"/>
            <a:chOff x="9495859" y="6129609"/>
            <a:chExt cx="1266258" cy="627413"/>
          </a:xfrm>
        </p:grpSpPr>
        <p:sp>
          <p:nvSpPr>
            <p:cNvPr id="23" name="Rounded Rectangle 22"/>
            <p:cNvSpPr/>
            <p:nvPr/>
          </p:nvSpPr>
          <p:spPr>
            <a:xfrm>
              <a:off x="9495859" y="6129609"/>
              <a:ext cx="1205345" cy="627413"/>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extBox 23"/>
            <p:cNvSpPr txBox="1"/>
            <p:nvPr/>
          </p:nvSpPr>
          <p:spPr>
            <a:xfrm>
              <a:off x="9556772" y="6171124"/>
              <a:ext cx="1205345" cy="523220"/>
            </a:xfrm>
            <a:prstGeom prst="rect">
              <a:avLst/>
            </a:prstGeom>
            <a:noFill/>
          </p:spPr>
          <p:txBody>
            <a:bodyPr wrap="square" rtlCol="0">
              <a:spAutoFit/>
            </a:bodyPr>
            <a:lstStyle/>
            <a:p>
              <a:r>
                <a:rPr lang="en-AU" sz="1400" b="1" dirty="0">
                  <a:solidFill>
                    <a:schemeClr val="bg1"/>
                  </a:solidFill>
                </a:rPr>
                <a:t>Decompose (break down)</a:t>
              </a:r>
            </a:p>
          </p:txBody>
        </p:sp>
      </p:grpSp>
      <p:cxnSp>
        <p:nvCxnSpPr>
          <p:cNvPr id="25" name="Straight Arrow Connector 24"/>
          <p:cNvCxnSpPr>
            <a:cxnSpLocks/>
          </p:cNvCxnSpPr>
          <p:nvPr/>
        </p:nvCxnSpPr>
        <p:spPr>
          <a:xfrm flipH="1">
            <a:off x="5190450" y="1607295"/>
            <a:ext cx="24056" cy="37123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grpSp>
        <p:nvGrpSpPr>
          <p:cNvPr id="26" name="Group 25"/>
          <p:cNvGrpSpPr/>
          <p:nvPr/>
        </p:nvGrpSpPr>
        <p:grpSpPr>
          <a:xfrm>
            <a:off x="4667353" y="4544679"/>
            <a:ext cx="1224693" cy="627413"/>
            <a:chOff x="10238509" y="4719471"/>
            <a:chExt cx="1224693" cy="627413"/>
          </a:xfrm>
        </p:grpSpPr>
        <p:sp>
          <p:nvSpPr>
            <p:cNvPr id="27" name="Rounded Rectangle 26"/>
            <p:cNvSpPr/>
            <p:nvPr/>
          </p:nvSpPr>
          <p:spPr>
            <a:xfrm>
              <a:off x="10238509" y="4719471"/>
              <a:ext cx="1205345" cy="627413"/>
            </a:xfrm>
            <a:prstGeom prst="roundRect">
              <a:avLst/>
            </a:prstGeom>
            <a:solidFill>
              <a:srgbClr val="27E13D"/>
            </a:solidFill>
            <a:ln>
              <a:solidFill>
                <a:srgbClr val="27E1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Box 27"/>
            <p:cNvSpPr txBox="1"/>
            <p:nvPr/>
          </p:nvSpPr>
          <p:spPr>
            <a:xfrm>
              <a:off x="10257857" y="4771567"/>
              <a:ext cx="1205345" cy="523220"/>
            </a:xfrm>
            <a:prstGeom prst="rect">
              <a:avLst/>
            </a:prstGeom>
            <a:noFill/>
          </p:spPr>
          <p:txBody>
            <a:bodyPr wrap="square" rtlCol="0">
              <a:spAutoFit/>
            </a:bodyPr>
            <a:lstStyle/>
            <a:p>
              <a:r>
                <a:rPr lang="en-AU" sz="1400" b="1" dirty="0">
                  <a:solidFill>
                    <a:schemeClr val="bg1"/>
                  </a:solidFill>
                </a:rPr>
                <a:t>Identify requirements</a:t>
              </a:r>
            </a:p>
          </p:txBody>
        </p:sp>
      </p:grpSp>
      <p:sp>
        <p:nvSpPr>
          <p:cNvPr id="29" name="TextBox 28"/>
          <p:cNvSpPr txBox="1"/>
          <p:nvPr/>
        </p:nvSpPr>
        <p:spPr>
          <a:xfrm>
            <a:off x="4296209" y="5433781"/>
            <a:ext cx="2412157" cy="861774"/>
          </a:xfrm>
          <a:prstGeom prst="rect">
            <a:avLst/>
          </a:prstGeom>
          <a:noFill/>
          <a:ln>
            <a:solidFill>
              <a:srgbClr val="00B050"/>
            </a:solidFill>
          </a:ln>
        </p:spPr>
        <p:txBody>
          <a:bodyPr wrap="square" rtlCol="0">
            <a:spAutoFit/>
          </a:bodyPr>
          <a:lstStyle/>
          <a:p>
            <a:r>
              <a:rPr lang="en-AU" sz="1000" dirty="0"/>
              <a:t>Identifying the requirements of the solution involves outlining the content of the previous steps and giving statements on how these goals and problems will be achieved.</a:t>
            </a:r>
          </a:p>
        </p:txBody>
      </p:sp>
      <p:cxnSp>
        <p:nvCxnSpPr>
          <p:cNvPr id="30" name="Straight Arrow Connector 29"/>
          <p:cNvCxnSpPr>
            <a:cxnSpLocks/>
          </p:cNvCxnSpPr>
          <p:nvPr/>
        </p:nvCxnSpPr>
        <p:spPr>
          <a:xfrm flipH="1">
            <a:off x="5277345" y="5163264"/>
            <a:ext cx="24056" cy="371237"/>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31" name="Straight Connector 30"/>
          <p:cNvCxnSpPr/>
          <p:nvPr/>
        </p:nvCxnSpPr>
        <p:spPr>
          <a:xfrm flipH="1">
            <a:off x="6975422" y="1001045"/>
            <a:ext cx="2914" cy="5500206"/>
          </a:xfrm>
          <a:prstGeom prst="line">
            <a:avLst/>
          </a:prstGeom>
          <a:ln>
            <a:solidFill>
              <a:srgbClr val="10A82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3957393" y="1001045"/>
            <a:ext cx="2914" cy="5500206"/>
          </a:xfrm>
          <a:prstGeom prst="line">
            <a:avLst/>
          </a:prstGeom>
          <a:ln>
            <a:solidFill>
              <a:srgbClr val="10A829"/>
            </a:solidFill>
          </a:ln>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a:xfrm>
            <a:off x="7257338" y="1018946"/>
            <a:ext cx="1224693" cy="627413"/>
            <a:chOff x="10238509" y="4719471"/>
            <a:chExt cx="1224693" cy="627413"/>
          </a:xfrm>
        </p:grpSpPr>
        <p:sp>
          <p:nvSpPr>
            <p:cNvPr id="35" name="Rounded Rectangle 34"/>
            <p:cNvSpPr/>
            <p:nvPr/>
          </p:nvSpPr>
          <p:spPr>
            <a:xfrm>
              <a:off x="10238509" y="4719471"/>
              <a:ext cx="1205345" cy="627413"/>
            </a:xfrm>
            <a:prstGeom prst="roundRect">
              <a:avLst/>
            </a:prstGeom>
            <a:solidFill>
              <a:srgbClr val="27E13D"/>
            </a:solidFill>
            <a:ln>
              <a:solidFill>
                <a:srgbClr val="27E1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Box 35"/>
            <p:cNvSpPr txBox="1"/>
            <p:nvPr/>
          </p:nvSpPr>
          <p:spPr>
            <a:xfrm>
              <a:off x="10257857" y="4771567"/>
              <a:ext cx="1205345" cy="523220"/>
            </a:xfrm>
            <a:prstGeom prst="rect">
              <a:avLst/>
            </a:prstGeom>
            <a:noFill/>
          </p:spPr>
          <p:txBody>
            <a:bodyPr wrap="square" rtlCol="0">
              <a:spAutoFit/>
            </a:bodyPr>
            <a:lstStyle/>
            <a:p>
              <a:r>
                <a:rPr lang="en-AU" sz="1400" b="1" dirty="0">
                  <a:solidFill>
                    <a:schemeClr val="bg1"/>
                  </a:solidFill>
                </a:rPr>
                <a:t>Identify requirements</a:t>
              </a:r>
            </a:p>
          </p:txBody>
        </p:sp>
      </p:grpSp>
      <p:sp>
        <p:nvSpPr>
          <p:cNvPr id="37" name="TextBox 36"/>
          <p:cNvSpPr txBox="1"/>
          <p:nvPr/>
        </p:nvSpPr>
        <p:spPr>
          <a:xfrm>
            <a:off x="7243027" y="1827049"/>
            <a:ext cx="4166761" cy="1785104"/>
          </a:xfrm>
          <a:prstGeom prst="rect">
            <a:avLst/>
          </a:prstGeom>
          <a:noFill/>
          <a:ln>
            <a:solidFill>
              <a:srgbClr val="00B050"/>
            </a:solidFill>
          </a:ln>
        </p:spPr>
        <p:txBody>
          <a:bodyPr wrap="square" rtlCol="0">
            <a:spAutoFit/>
          </a:bodyPr>
          <a:lstStyle/>
          <a:p>
            <a:pPr marL="171450" indent="-171450">
              <a:buFontTx/>
              <a:buChar char="-"/>
            </a:pPr>
            <a:r>
              <a:rPr lang="en-AU" sz="1000" dirty="0"/>
              <a:t>Hardware components and configuration to be able to effectively turn with the servo </a:t>
            </a:r>
          </a:p>
          <a:p>
            <a:pPr marL="171450" indent="-171450">
              <a:buFontTx/>
              <a:buChar char="-"/>
            </a:pPr>
            <a:endParaRPr lang="en-AU" sz="1000" dirty="0"/>
          </a:p>
          <a:p>
            <a:pPr marL="171450" indent="-171450">
              <a:buFontTx/>
              <a:buChar char="-"/>
            </a:pPr>
            <a:r>
              <a:rPr lang="en-AU" sz="1000" dirty="0"/>
              <a:t>Arduino code effectively used to configure servo as required</a:t>
            </a:r>
          </a:p>
          <a:p>
            <a:pPr marL="171450" indent="-171450">
              <a:buFontTx/>
              <a:buChar char="-"/>
            </a:pPr>
            <a:endParaRPr lang="en-AU" sz="1000" dirty="0"/>
          </a:p>
          <a:p>
            <a:pPr marL="171450" indent="-171450">
              <a:buFontTx/>
              <a:buChar char="-"/>
            </a:pPr>
            <a:r>
              <a:rPr lang="en-AU" sz="1000" dirty="0"/>
              <a:t>Arduino code imported relevant Wi-Fi configurations in order to link to app</a:t>
            </a:r>
          </a:p>
          <a:p>
            <a:pPr marL="171450" indent="-171450">
              <a:buFontTx/>
              <a:buChar char="-"/>
            </a:pPr>
            <a:endParaRPr lang="en-AU" sz="1000" dirty="0"/>
          </a:p>
          <a:p>
            <a:pPr marL="171450" indent="-171450">
              <a:buFontTx/>
              <a:buChar char="-"/>
            </a:pPr>
            <a:r>
              <a:rPr lang="en-AU" sz="1000" dirty="0"/>
              <a:t>App has effective UI design and connects with Arduino</a:t>
            </a:r>
          </a:p>
          <a:p>
            <a:pPr marL="171450" indent="-171450">
              <a:buFontTx/>
              <a:buChar char="-"/>
            </a:pPr>
            <a:endParaRPr lang="en-AU" sz="1000" dirty="0"/>
          </a:p>
          <a:p>
            <a:pPr marL="171450" indent="-171450">
              <a:buFontTx/>
              <a:buChar char="-"/>
            </a:pPr>
            <a:r>
              <a:rPr lang="en-AU" sz="1000" dirty="0"/>
              <a:t>Response to user input and efficient use of storing the user input (data)</a:t>
            </a:r>
          </a:p>
        </p:txBody>
      </p:sp>
      <p:sp>
        <p:nvSpPr>
          <p:cNvPr id="38" name="TextBox 37"/>
          <p:cNvSpPr txBox="1"/>
          <p:nvPr/>
        </p:nvSpPr>
        <p:spPr>
          <a:xfrm>
            <a:off x="8955281" y="1097155"/>
            <a:ext cx="2562268" cy="400110"/>
          </a:xfrm>
          <a:prstGeom prst="rect">
            <a:avLst/>
          </a:prstGeom>
          <a:noFill/>
          <a:ln>
            <a:solidFill>
              <a:srgbClr val="00B050"/>
            </a:solidFill>
          </a:ln>
        </p:spPr>
        <p:txBody>
          <a:bodyPr wrap="square" rtlCol="0">
            <a:spAutoFit/>
          </a:bodyPr>
          <a:lstStyle/>
          <a:p>
            <a:r>
              <a:rPr lang="en-AU" sz="1000" dirty="0"/>
              <a:t>The requirements of the digital solution are listed in the box below.</a:t>
            </a:r>
          </a:p>
        </p:txBody>
      </p:sp>
      <p:cxnSp>
        <p:nvCxnSpPr>
          <p:cNvPr id="39" name="Straight Arrow Connector 38"/>
          <p:cNvCxnSpPr>
            <a:cxnSpLocks/>
          </p:cNvCxnSpPr>
          <p:nvPr/>
        </p:nvCxnSpPr>
        <p:spPr>
          <a:xfrm flipH="1">
            <a:off x="7860010" y="1632389"/>
            <a:ext cx="12028" cy="30204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41" name="Straight Arrow Connector 40"/>
          <p:cNvCxnSpPr>
            <a:cxnSpLocks/>
            <a:endCxn id="38" idx="1"/>
          </p:cNvCxnSpPr>
          <p:nvPr/>
        </p:nvCxnSpPr>
        <p:spPr>
          <a:xfrm>
            <a:off x="8462683" y="1259852"/>
            <a:ext cx="492598" cy="37358"/>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8" name="TextBox 47"/>
          <p:cNvSpPr txBox="1"/>
          <p:nvPr/>
        </p:nvSpPr>
        <p:spPr>
          <a:xfrm>
            <a:off x="7108210" y="4914558"/>
            <a:ext cx="1958968" cy="1631216"/>
          </a:xfrm>
          <a:prstGeom prst="rect">
            <a:avLst/>
          </a:prstGeom>
          <a:noFill/>
          <a:ln>
            <a:solidFill>
              <a:srgbClr val="00B050"/>
            </a:solidFill>
          </a:ln>
        </p:spPr>
        <p:txBody>
          <a:bodyPr wrap="square" rtlCol="0">
            <a:spAutoFit/>
          </a:bodyPr>
          <a:lstStyle/>
          <a:p>
            <a:r>
              <a:rPr lang="en-AU" sz="1000" dirty="0"/>
              <a:t>In this digital solution there are restraints which limit the potential to which the solution can function. In particular given that the intelligent systems in based around hardware, there are hardware components which cannot function to the full extent human needs or wants may specify. </a:t>
            </a:r>
          </a:p>
        </p:txBody>
      </p:sp>
      <p:grpSp>
        <p:nvGrpSpPr>
          <p:cNvPr id="43" name="Group 42"/>
          <p:cNvGrpSpPr/>
          <p:nvPr/>
        </p:nvGrpSpPr>
        <p:grpSpPr>
          <a:xfrm>
            <a:off x="7260957" y="3869833"/>
            <a:ext cx="1268313" cy="627413"/>
            <a:chOff x="10238508" y="5429466"/>
            <a:chExt cx="1268313" cy="627413"/>
          </a:xfrm>
        </p:grpSpPr>
        <p:sp>
          <p:nvSpPr>
            <p:cNvPr id="44" name="Rounded Rectangle 43"/>
            <p:cNvSpPr/>
            <p:nvPr/>
          </p:nvSpPr>
          <p:spPr>
            <a:xfrm>
              <a:off x="10238508" y="5429466"/>
              <a:ext cx="1205345" cy="627413"/>
            </a:xfrm>
            <a:prstGeom prst="round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p:cNvSpPr txBox="1"/>
            <p:nvPr/>
          </p:nvSpPr>
          <p:spPr>
            <a:xfrm>
              <a:off x="10301476" y="5461188"/>
              <a:ext cx="1205345" cy="523220"/>
            </a:xfrm>
            <a:prstGeom prst="rect">
              <a:avLst/>
            </a:prstGeom>
            <a:noFill/>
          </p:spPr>
          <p:txBody>
            <a:bodyPr wrap="square" rtlCol="0">
              <a:spAutoFit/>
            </a:bodyPr>
            <a:lstStyle/>
            <a:p>
              <a:r>
                <a:rPr lang="en-AU" sz="1400" b="1" dirty="0">
                  <a:solidFill>
                    <a:schemeClr val="bg1"/>
                  </a:solidFill>
                </a:rPr>
                <a:t>Recognise restraints</a:t>
              </a:r>
            </a:p>
          </p:txBody>
        </p:sp>
      </p:grpSp>
      <p:cxnSp>
        <p:nvCxnSpPr>
          <p:cNvPr id="49" name="Straight Arrow Connector 48"/>
          <p:cNvCxnSpPr>
            <a:cxnSpLocks/>
          </p:cNvCxnSpPr>
          <p:nvPr/>
        </p:nvCxnSpPr>
        <p:spPr>
          <a:xfrm flipH="1">
            <a:off x="7808924" y="4486589"/>
            <a:ext cx="6014" cy="427969"/>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2" name="Straight Connector 51"/>
          <p:cNvCxnSpPr/>
          <p:nvPr/>
        </p:nvCxnSpPr>
        <p:spPr>
          <a:xfrm flipV="1">
            <a:off x="8466302" y="4180429"/>
            <a:ext cx="2396640" cy="2032"/>
          </a:xfrm>
          <a:prstGeom prst="line">
            <a:avLst/>
          </a:prstGeom>
          <a:ln w="793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cxnSpLocks/>
          </p:cNvCxnSpPr>
          <p:nvPr/>
        </p:nvCxnSpPr>
        <p:spPr>
          <a:xfrm flipH="1">
            <a:off x="10851776" y="4163165"/>
            <a:ext cx="11166" cy="433610"/>
          </a:xfrm>
          <a:prstGeom prst="straightConnector1">
            <a:avLst/>
          </a:prstGeom>
          <a:ln w="635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05823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15685</TotalTime>
  <Words>2909</Words>
  <Application>Microsoft Office PowerPoint</Application>
  <PresentationFormat>Widescreen</PresentationFormat>
  <Paragraphs>138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Unicode MS</vt:lpstr>
      <vt:lpstr>Calibri</vt:lpstr>
      <vt:lpstr>Calibri Light</vt:lpstr>
      <vt:lpstr>Office Theme</vt:lpstr>
      <vt:lpstr>Arduino- Board and Hardware</vt:lpstr>
      <vt:lpstr>Arduino IDE and Software</vt:lpstr>
      <vt:lpstr>Arduino Intelligent Systems</vt:lpstr>
      <vt:lpstr>Case Study- Intelligent Systems</vt:lpstr>
      <vt:lpstr>Case Study- Intelligent Systems</vt:lpstr>
      <vt:lpstr>PowerPoint Presentation</vt:lpstr>
    </vt:vector>
  </TitlesOfParts>
  <Company>Shalom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Systems - Arduino</dc:title>
  <dc:creator>Paddy Maher</dc:creator>
  <cp:lastModifiedBy>Paddy Maher</cp:lastModifiedBy>
  <cp:revision>84</cp:revision>
  <dcterms:created xsi:type="dcterms:W3CDTF">2019-03-18T23:18:41Z</dcterms:created>
  <dcterms:modified xsi:type="dcterms:W3CDTF">2021-08-18T10:27:00Z</dcterms:modified>
</cp:coreProperties>
</file>