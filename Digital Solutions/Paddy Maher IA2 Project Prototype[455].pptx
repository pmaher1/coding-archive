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9" r:id="rId2"/>
    <p:sldId id="268" r:id="rId3"/>
    <p:sldId id="270" r:id="rId4"/>
    <p:sldId id="271" r:id="rId5"/>
    <p:sldId id="290" r:id="rId6"/>
    <p:sldId id="273" r:id="rId7"/>
    <p:sldId id="279" r:id="rId8"/>
    <p:sldId id="275" r:id="rId9"/>
    <p:sldId id="278" r:id="rId10"/>
    <p:sldId id="284" r:id="rId11"/>
    <p:sldId id="285" r:id="rId12"/>
    <p:sldId id="286" r:id="rId13"/>
    <p:sldId id="277" r:id="rId14"/>
    <p:sldId id="276" r:id="rId15"/>
  </p:sldIdLst>
  <p:sldSz cx="12192000" cy="6858000"/>
  <p:notesSz cx="6858000" cy="9144000"/>
  <p:defaultTextStyle>
    <a:defPPr>
      <a:defRPr lang="en-US"/>
    </a:defPPr>
    <a:lvl1pPr marL="0" algn="l" defTabSz="914314" rtl="0" eaLnBrk="1" latinLnBrk="0" hangingPunct="1">
      <a:defRPr sz="1800" kern="1200">
        <a:solidFill>
          <a:schemeClr val="tx1"/>
        </a:solidFill>
        <a:latin typeface="+mn-lt"/>
        <a:ea typeface="+mn-ea"/>
        <a:cs typeface="+mn-cs"/>
      </a:defRPr>
    </a:lvl1pPr>
    <a:lvl2pPr marL="457156" algn="l" defTabSz="914314" rtl="0" eaLnBrk="1" latinLnBrk="0" hangingPunct="1">
      <a:defRPr sz="1800" kern="1200">
        <a:solidFill>
          <a:schemeClr val="tx1"/>
        </a:solidFill>
        <a:latin typeface="+mn-lt"/>
        <a:ea typeface="+mn-ea"/>
        <a:cs typeface="+mn-cs"/>
      </a:defRPr>
    </a:lvl2pPr>
    <a:lvl3pPr marL="914314" algn="l" defTabSz="914314" rtl="0" eaLnBrk="1" latinLnBrk="0" hangingPunct="1">
      <a:defRPr sz="1800" kern="1200">
        <a:solidFill>
          <a:schemeClr val="tx1"/>
        </a:solidFill>
        <a:latin typeface="+mn-lt"/>
        <a:ea typeface="+mn-ea"/>
        <a:cs typeface="+mn-cs"/>
      </a:defRPr>
    </a:lvl3pPr>
    <a:lvl4pPr marL="1371471" algn="l" defTabSz="914314" rtl="0" eaLnBrk="1" latinLnBrk="0" hangingPunct="1">
      <a:defRPr sz="1800" kern="1200">
        <a:solidFill>
          <a:schemeClr val="tx1"/>
        </a:solidFill>
        <a:latin typeface="+mn-lt"/>
        <a:ea typeface="+mn-ea"/>
        <a:cs typeface="+mn-cs"/>
      </a:defRPr>
    </a:lvl4pPr>
    <a:lvl5pPr marL="1828628" algn="l" defTabSz="914314" rtl="0" eaLnBrk="1" latinLnBrk="0" hangingPunct="1">
      <a:defRPr sz="1800" kern="1200">
        <a:solidFill>
          <a:schemeClr val="tx1"/>
        </a:solidFill>
        <a:latin typeface="+mn-lt"/>
        <a:ea typeface="+mn-ea"/>
        <a:cs typeface="+mn-cs"/>
      </a:defRPr>
    </a:lvl5pPr>
    <a:lvl6pPr marL="2285784" algn="l" defTabSz="914314" rtl="0" eaLnBrk="1" latinLnBrk="0" hangingPunct="1">
      <a:defRPr sz="1800" kern="1200">
        <a:solidFill>
          <a:schemeClr val="tx1"/>
        </a:solidFill>
        <a:latin typeface="+mn-lt"/>
        <a:ea typeface="+mn-ea"/>
        <a:cs typeface="+mn-cs"/>
      </a:defRPr>
    </a:lvl6pPr>
    <a:lvl7pPr marL="2742940" algn="l" defTabSz="914314" rtl="0" eaLnBrk="1" latinLnBrk="0" hangingPunct="1">
      <a:defRPr sz="1800" kern="1200">
        <a:solidFill>
          <a:schemeClr val="tx1"/>
        </a:solidFill>
        <a:latin typeface="+mn-lt"/>
        <a:ea typeface="+mn-ea"/>
        <a:cs typeface="+mn-cs"/>
      </a:defRPr>
    </a:lvl7pPr>
    <a:lvl8pPr marL="3200098" algn="l" defTabSz="914314" rtl="0" eaLnBrk="1" latinLnBrk="0" hangingPunct="1">
      <a:defRPr sz="1800" kern="1200">
        <a:solidFill>
          <a:schemeClr val="tx1"/>
        </a:solidFill>
        <a:latin typeface="+mn-lt"/>
        <a:ea typeface="+mn-ea"/>
        <a:cs typeface="+mn-cs"/>
      </a:defRPr>
    </a:lvl8pPr>
    <a:lvl9pPr marL="3657255" algn="l" defTabSz="914314"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48" autoAdjust="0"/>
    <p:restoredTop sz="94161" autoAdjust="0"/>
  </p:normalViewPr>
  <p:slideViewPr>
    <p:cSldViewPr snapToGrid="0">
      <p:cViewPr varScale="1">
        <p:scale>
          <a:sx n="68" d="100"/>
          <a:sy n="68" d="100"/>
        </p:scale>
        <p:origin x="59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213FD1-C703-4316-B113-CEB2EEF26276}" type="datetimeFigureOut">
              <a:rPr lang="en-AU" smtClean="0"/>
              <a:t>17/08/2021</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068EC8-BFBE-47EC-A460-A915EFAE56EC}" type="slidenum">
              <a:rPr lang="en-AU" smtClean="0"/>
              <a:t>‹#›</a:t>
            </a:fld>
            <a:endParaRPr lang="en-AU"/>
          </a:p>
        </p:txBody>
      </p:sp>
    </p:spTree>
    <p:extLst>
      <p:ext uri="{BB962C8B-B14F-4D97-AF65-F5344CB8AC3E}">
        <p14:creationId xmlns:p14="http://schemas.microsoft.com/office/powerpoint/2010/main" val="1540981396"/>
      </p:ext>
    </p:extLst>
  </p:cSld>
  <p:clrMap bg1="lt1" tx1="dk1" bg2="lt2" tx2="dk2" accent1="accent1" accent2="accent2" accent3="accent3" accent4="accent4" accent5="accent5" accent6="accent6" hlink="hlink" folHlink="folHlink"/>
  <p:notesStyle>
    <a:lvl1pPr marL="0" algn="l" defTabSz="914314" rtl="0" eaLnBrk="1" latinLnBrk="0" hangingPunct="1">
      <a:defRPr sz="1200" kern="1200">
        <a:solidFill>
          <a:schemeClr val="tx1"/>
        </a:solidFill>
        <a:latin typeface="+mn-lt"/>
        <a:ea typeface="+mn-ea"/>
        <a:cs typeface="+mn-cs"/>
      </a:defRPr>
    </a:lvl1pPr>
    <a:lvl2pPr marL="457156" algn="l" defTabSz="914314" rtl="0" eaLnBrk="1" latinLnBrk="0" hangingPunct="1">
      <a:defRPr sz="1200" kern="1200">
        <a:solidFill>
          <a:schemeClr val="tx1"/>
        </a:solidFill>
        <a:latin typeface="+mn-lt"/>
        <a:ea typeface="+mn-ea"/>
        <a:cs typeface="+mn-cs"/>
      </a:defRPr>
    </a:lvl2pPr>
    <a:lvl3pPr marL="914314" algn="l" defTabSz="914314" rtl="0" eaLnBrk="1" latinLnBrk="0" hangingPunct="1">
      <a:defRPr sz="1200" kern="1200">
        <a:solidFill>
          <a:schemeClr val="tx1"/>
        </a:solidFill>
        <a:latin typeface="+mn-lt"/>
        <a:ea typeface="+mn-ea"/>
        <a:cs typeface="+mn-cs"/>
      </a:defRPr>
    </a:lvl3pPr>
    <a:lvl4pPr marL="1371471" algn="l" defTabSz="914314" rtl="0" eaLnBrk="1" latinLnBrk="0" hangingPunct="1">
      <a:defRPr sz="1200" kern="1200">
        <a:solidFill>
          <a:schemeClr val="tx1"/>
        </a:solidFill>
        <a:latin typeface="+mn-lt"/>
        <a:ea typeface="+mn-ea"/>
        <a:cs typeface="+mn-cs"/>
      </a:defRPr>
    </a:lvl4pPr>
    <a:lvl5pPr marL="1828628" algn="l" defTabSz="914314" rtl="0" eaLnBrk="1" latinLnBrk="0" hangingPunct="1">
      <a:defRPr sz="1200" kern="1200">
        <a:solidFill>
          <a:schemeClr val="tx1"/>
        </a:solidFill>
        <a:latin typeface="+mn-lt"/>
        <a:ea typeface="+mn-ea"/>
        <a:cs typeface="+mn-cs"/>
      </a:defRPr>
    </a:lvl5pPr>
    <a:lvl6pPr marL="2285784" algn="l" defTabSz="914314" rtl="0" eaLnBrk="1" latinLnBrk="0" hangingPunct="1">
      <a:defRPr sz="1200" kern="1200">
        <a:solidFill>
          <a:schemeClr val="tx1"/>
        </a:solidFill>
        <a:latin typeface="+mn-lt"/>
        <a:ea typeface="+mn-ea"/>
        <a:cs typeface="+mn-cs"/>
      </a:defRPr>
    </a:lvl6pPr>
    <a:lvl7pPr marL="2742940" algn="l" defTabSz="914314" rtl="0" eaLnBrk="1" latinLnBrk="0" hangingPunct="1">
      <a:defRPr sz="1200" kern="1200">
        <a:solidFill>
          <a:schemeClr val="tx1"/>
        </a:solidFill>
        <a:latin typeface="+mn-lt"/>
        <a:ea typeface="+mn-ea"/>
        <a:cs typeface="+mn-cs"/>
      </a:defRPr>
    </a:lvl7pPr>
    <a:lvl8pPr marL="3200098" algn="l" defTabSz="914314" rtl="0" eaLnBrk="1" latinLnBrk="0" hangingPunct="1">
      <a:defRPr sz="1200" kern="1200">
        <a:solidFill>
          <a:schemeClr val="tx1"/>
        </a:solidFill>
        <a:latin typeface="+mn-lt"/>
        <a:ea typeface="+mn-ea"/>
        <a:cs typeface="+mn-cs"/>
      </a:defRPr>
    </a:lvl8pPr>
    <a:lvl9pPr marL="3657255" algn="l" defTabSz="914314"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3068EC8-BFBE-47EC-A460-A915EFAE56EC}" type="slidenum">
              <a:rPr lang="en-AU" smtClean="0"/>
              <a:t>3</a:t>
            </a:fld>
            <a:endParaRPr lang="en-AU"/>
          </a:p>
        </p:txBody>
      </p:sp>
    </p:spTree>
    <p:extLst>
      <p:ext uri="{BB962C8B-B14F-4D97-AF65-F5344CB8AC3E}">
        <p14:creationId xmlns:p14="http://schemas.microsoft.com/office/powerpoint/2010/main" val="1989251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3068EC8-BFBE-47EC-A460-A915EFAE56EC}" type="slidenum">
              <a:rPr lang="en-AU" smtClean="0"/>
              <a:t>14</a:t>
            </a:fld>
            <a:endParaRPr lang="en-AU"/>
          </a:p>
        </p:txBody>
      </p:sp>
    </p:spTree>
    <p:extLst>
      <p:ext uri="{BB962C8B-B14F-4D97-AF65-F5344CB8AC3E}">
        <p14:creationId xmlns:p14="http://schemas.microsoft.com/office/powerpoint/2010/main" val="26234271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11" indent="0" algn="ctr">
              <a:buNone/>
              <a:defRPr sz="2000"/>
            </a:lvl2pPr>
            <a:lvl3pPr marL="914423" indent="0" algn="ctr">
              <a:buNone/>
              <a:defRPr sz="1801"/>
            </a:lvl3pPr>
            <a:lvl4pPr marL="1371634" indent="0" algn="ctr">
              <a:buNone/>
              <a:defRPr sz="1600"/>
            </a:lvl4pPr>
            <a:lvl5pPr marL="1828846" indent="0" algn="ctr">
              <a:buNone/>
              <a:defRPr sz="1600"/>
            </a:lvl5pPr>
            <a:lvl6pPr marL="2286057" indent="0" algn="ctr">
              <a:buNone/>
              <a:defRPr sz="1600"/>
            </a:lvl6pPr>
            <a:lvl7pPr marL="2743269" indent="0" algn="ctr">
              <a:buNone/>
              <a:defRPr sz="1600"/>
            </a:lvl7pPr>
            <a:lvl8pPr marL="3200480" indent="0" algn="ctr">
              <a:buNone/>
              <a:defRPr sz="1600"/>
            </a:lvl8pPr>
            <a:lvl9pPr marL="3657691" indent="0" algn="ctr">
              <a:buNone/>
              <a:defRPr sz="1600"/>
            </a:lvl9pPr>
          </a:lstStyle>
          <a:p>
            <a:r>
              <a:rPr lang="en-US"/>
              <a:t>Click to edit Master subtitle style</a:t>
            </a:r>
            <a:endParaRPr lang="en-AU"/>
          </a:p>
        </p:txBody>
      </p:sp>
      <p:sp>
        <p:nvSpPr>
          <p:cNvPr id="4" name="Date Placeholder 3"/>
          <p:cNvSpPr>
            <a:spLocks noGrp="1"/>
          </p:cNvSpPr>
          <p:nvPr>
            <p:ph type="dt" sz="half" idx="10"/>
          </p:nvPr>
        </p:nvSpPr>
        <p:spPr/>
        <p:txBody>
          <a:bodyPr/>
          <a:lstStyle/>
          <a:p>
            <a:fld id="{2EB97D93-AAD9-4F34-9DDE-9F9BC4EDA235}" type="datetimeFigureOut">
              <a:rPr lang="en-AU" smtClean="0"/>
              <a:t>17/08/2021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5EBD371-36BD-44C1-9324-DA1D929982E2}" type="slidenum">
              <a:rPr lang="en-AU" smtClean="0"/>
              <a:t>‹#›</a:t>
            </a:fld>
            <a:endParaRPr lang="en-AU"/>
          </a:p>
        </p:txBody>
      </p:sp>
    </p:spTree>
    <p:extLst>
      <p:ext uri="{BB962C8B-B14F-4D97-AF65-F5344CB8AC3E}">
        <p14:creationId xmlns:p14="http://schemas.microsoft.com/office/powerpoint/2010/main" val="818607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2EB97D93-AAD9-4F34-9DDE-9F9BC4EDA235}" type="datetimeFigureOut">
              <a:rPr lang="en-AU" smtClean="0"/>
              <a:t>17/08/2021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5EBD371-36BD-44C1-9324-DA1D929982E2}" type="slidenum">
              <a:rPr lang="en-AU" smtClean="0"/>
              <a:t>‹#›</a:t>
            </a:fld>
            <a:endParaRPr lang="en-AU"/>
          </a:p>
        </p:txBody>
      </p:sp>
    </p:spTree>
    <p:extLst>
      <p:ext uri="{BB962C8B-B14F-4D97-AF65-F5344CB8AC3E}">
        <p14:creationId xmlns:p14="http://schemas.microsoft.com/office/powerpoint/2010/main" val="9750784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42"/>
            <a:ext cx="10515600" cy="2852737"/>
          </a:xfrm>
        </p:spPr>
        <p:txBody>
          <a:bodyPr anchor="b"/>
          <a:lstStyle>
            <a:lvl1pPr>
              <a:defRPr sz="6000"/>
            </a:lvl1pPr>
          </a:lstStyle>
          <a:p>
            <a:r>
              <a:rPr lang="en-US"/>
              <a:t>Click to edit Master title style</a:t>
            </a:r>
            <a:endParaRPr lang="en-AU"/>
          </a:p>
        </p:txBody>
      </p:sp>
      <p:sp>
        <p:nvSpPr>
          <p:cNvPr id="3" name="Text Placeholder 2"/>
          <p:cNvSpPr>
            <a:spLocks noGrp="1"/>
          </p:cNvSpPr>
          <p:nvPr>
            <p:ph type="body" idx="1"/>
          </p:nvPr>
        </p:nvSpPr>
        <p:spPr>
          <a:xfrm>
            <a:off x="831850" y="4589467"/>
            <a:ext cx="10515600" cy="1500187"/>
          </a:xfrm>
        </p:spPr>
        <p:txBody>
          <a:bodyPr/>
          <a:lstStyle>
            <a:lvl1pPr marL="0" indent="0">
              <a:buNone/>
              <a:defRPr sz="2400">
                <a:solidFill>
                  <a:schemeClr val="tx1">
                    <a:tint val="75000"/>
                  </a:schemeClr>
                </a:solidFill>
              </a:defRPr>
            </a:lvl1pPr>
            <a:lvl2pPr marL="457211" indent="0">
              <a:buNone/>
              <a:defRPr sz="2000">
                <a:solidFill>
                  <a:schemeClr val="tx1">
                    <a:tint val="75000"/>
                  </a:schemeClr>
                </a:solidFill>
              </a:defRPr>
            </a:lvl2pPr>
            <a:lvl3pPr marL="914423" indent="0">
              <a:buNone/>
              <a:defRPr sz="1801">
                <a:solidFill>
                  <a:schemeClr val="tx1">
                    <a:tint val="75000"/>
                  </a:schemeClr>
                </a:solidFill>
              </a:defRPr>
            </a:lvl3pPr>
            <a:lvl4pPr marL="1371634" indent="0">
              <a:buNone/>
              <a:defRPr sz="1600">
                <a:solidFill>
                  <a:schemeClr val="tx1">
                    <a:tint val="75000"/>
                  </a:schemeClr>
                </a:solidFill>
              </a:defRPr>
            </a:lvl4pPr>
            <a:lvl5pPr marL="1828846" indent="0">
              <a:buNone/>
              <a:defRPr sz="1600">
                <a:solidFill>
                  <a:schemeClr val="tx1">
                    <a:tint val="75000"/>
                  </a:schemeClr>
                </a:solidFill>
              </a:defRPr>
            </a:lvl5pPr>
            <a:lvl6pPr marL="2286057" indent="0">
              <a:buNone/>
              <a:defRPr sz="1600">
                <a:solidFill>
                  <a:schemeClr val="tx1">
                    <a:tint val="75000"/>
                  </a:schemeClr>
                </a:solidFill>
              </a:defRPr>
            </a:lvl6pPr>
            <a:lvl7pPr marL="2743269" indent="0">
              <a:buNone/>
              <a:defRPr sz="1600">
                <a:solidFill>
                  <a:schemeClr val="tx1">
                    <a:tint val="75000"/>
                  </a:schemeClr>
                </a:solidFill>
              </a:defRPr>
            </a:lvl7pPr>
            <a:lvl8pPr marL="3200480" indent="0">
              <a:buNone/>
              <a:defRPr sz="1600">
                <a:solidFill>
                  <a:schemeClr val="tx1">
                    <a:tint val="75000"/>
                  </a:schemeClr>
                </a:solidFill>
              </a:defRPr>
            </a:lvl8pPr>
            <a:lvl9pPr marL="3657691"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EB97D93-AAD9-4F34-9DDE-9F9BC4EDA235}" type="datetimeFigureOut">
              <a:rPr lang="en-AU" smtClean="0"/>
              <a:t>17/08/2021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5EBD371-36BD-44C1-9324-DA1D929982E2}" type="slidenum">
              <a:rPr lang="en-AU" smtClean="0"/>
              <a:t>‹#›</a:t>
            </a:fld>
            <a:endParaRPr lang="en-AU"/>
          </a:p>
        </p:txBody>
      </p:sp>
    </p:spTree>
    <p:extLst>
      <p:ext uri="{BB962C8B-B14F-4D97-AF65-F5344CB8AC3E}">
        <p14:creationId xmlns:p14="http://schemas.microsoft.com/office/powerpoint/2010/main" val="2551254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fld id="{2EB97D93-AAD9-4F34-9DDE-9F9BC4EDA235}" type="datetimeFigureOut">
              <a:rPr lang="en-AU" smtClean="0"/>
              <a:t>17/08/2021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5EBD371-36BD-44C1-9324-DA1D929982E2}" type="slidenum">
              <a:rPr lang="en-AU" smtClean="0"/>
              <a:t>‹#›</a:t>
            </a:fld>
            <a:endParaRPr lang="en-AU"/>
          </a:p>
        </p:txBody>
      </p:sp>
    </p:spTree>
    <p:extLst>
      <p:ext uri="{BB962C8B-B14F-4D97-AF65-F5344CB8AC3E}">
        <p14:creationId xmlns:p14="http://schemas.microsoft.com/office/powerpoint/2010/main" val="1615434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9"/>
            <a:ext cx="10515600" cy="1325563"/>
          </a:xfrm>
        </p:spPr>
        <p:txBody>
          <a:bodyPr/>
          <a:lstStyle/>
          <a:p>
            <a:r>
              <a:rPr lang="en-US"/>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11" indent="0">
              <a:buNone/>
              <a:defRPr sz="2000" b="1"/>
            </a:lvl2pPr>
            <a:lvl3pPr marL="914423" indent="0">
              <a:buNone/>
              <a:defRPr sz="1801" b="1"/>
            </a:lvl3pPr>
            <a:lvl4pPr marL="1371634" indent="0">
              <a:buNone/>
              <a:defRPr sz="1600" b="1"/>
            </a:lvl4pPr>
            <a:lvl5pPr marL="1828846" indent="0">
              <a:buNone/>
              <a:defRPr sz="1600" b="1"/>
            </a:lvl5pPr>
            <a:lvl6pPr marL="2286057" indent="0">
              <a:buNone/>
              <a:defRPr sz="1600" b="1"/>
            </a:lvl6pPr>
            <a:lvl7pPr marL="2743269" indent="0">
              <a:buNone/>
              <a:defRPr sz="1600" b="1"/>
            </a:lvl7pPr>
            <a:lvl8pPr marL="3200480" indent="0">
              <a:buNone/>
              <a:defRPr sz="1600" b="1"/>
            </a:lvl8pPr>
            <a:lvl9pPr marL="3657691"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11" indent="0">
              <a:buNone/>
              <a:defRPr sz="2000" b="1"/>
            </a:lvl2pPr>
            <a:lvl3pPr marL="914423" indent="0">
              <a:buNone/>
              <a:defRPr sz="1801" b="1"/>
            </a:lvl3pPr>
            <a:lvl4pPr marL="1371634" indent="0">
              <a:buNone/>
              <a:defRPr sz="1600" b="1"/>
            </a:lvl4pPr>
            <a:lvl5pPr marL="1828846" indent="0">
              <a:buNone/>
              <a:defRPr sz="1600" b="1"/>
            </a:lvl5pPr>
            <a:lvl6pPr marL="2286057" indent="0">
              <a:buNone/>
              <a:defRPr sz="1600" b="1"/>
            </a:lvl6pPr>
            <a:lvl7pPr marL="2743269" indent="0">
              <a:buNone/>
              <a:defRPr sz="1600" b="1"/>
            </a:lvl7pPr>
            <a:lvl8pPr marL="3200480" indent="0">
              <a:buNone/>
              <a:defRPr sz="1600" b="1"/>
            </a:lvl8pPr>
            <a:lvl9pPr marL="3657691"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fld id="{2EB97D93-AAD9-4F34-9DDE-9F9BC4EDA235}" type="datetimeFigureOut">
              <a:rPr lang="en-AU" smtClean="0"/>
              <a:t>17/08/2021</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85EBD371-36BD-44C1-9324-DA1D929982E2}" type="slidenum">
              <a:rPr lang="en-AU" smtClean="0"/>
              <a:t>‹#›</a:t>
            </a:fld>
            <a:endParaRPr lang="en-AU"/>
          </a:p>
        </p:txBody>
      </p:sp>
    </p:spTree>
    <p:extLst>
      <p:ext uri="{BB962C8B-B14F-4D97-AF65-F5344CB8AC3E}">
        <p14:creationId xmlns:p14="http://schemas.microsoft.com/office/powerpoint/2010/main" val="5889783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p:txBody>
          <a:bodyPr/>
          <a:lstStyle/>
          <a:p>
            <a:fld id="{2EB97D93-AAD9-4F34-9DDE-9F9BC4EDA235}" type="datetimeFigureOut">
              <a:rPr lang="en-AU" smtClean="0"/>
              <a:t>17/08/2021</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85EBD371-36BD-44C1-9324-DA1D929982E2}" type="slidenum">
              <a:rPr lang="en-AU" smtClean="0"/>
              <a:t>‹#›</a:t>
            </a:fld>
            <a:endParaRPr lang="en-AU"/>
          </a:p>
        </p:txBody>
      </p:sp>
    </p:spTree>
    <p:extLst>
      <p:ext uri="{BB962C8B-B14F-4D97-AF65-F5344CB8AC3E}">
        <p14:creationId xmlns:p14="http://schemas.microsoft.com/office/powerpoint/2010/main" val="31988397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EB97D93-AAD9-4F34-9DDE-9F9BC4EDA235}" type="datetimeFigureOut">
              <a:rPr lang="en-AU" smtClean="0"/>
              <a:t>17/08/2021</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85EBD371-36BD-44C1-9324-DA1D929982E2}" type="slidenum">
              <a:rPr lang="en-AU" smtClean="0"/>
              <a:t>‹#›</a:t>
            </a:fld>
            <a:endParaRPr lang="en-AU"/>
          </a:p>
        </p:txBody>
      </p:sp>
    </p:spTree>
    <p:extLst>
      <p:ext uri="{BB962C8B-B14F-4D97-AF65-F5344CB8AC3E}">
        <p14:creationId xmlns:p14="http://schemas.microsoft.com/office/powerpoint/2010/main" val="17262698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8" cy="1600200"/>
          </a:xfrm>
        </p:spPr>
        <p:txBody>
          <a:bodyPr anchor="b"/>
          <a:lstStyle>
            <a:lvl1pPr>
              <a:defRPr sz="3200"/>
            </a:lvl1pPr>
          </a:lstStyle>
          <a:p>
            <a:r>
              <a:rPr lang="en-US"/>
              <a:t>Click to edit Master title style</a:t>
            </a:r>
            <a:endParaRPr lang="en-AU"/>
          </a:p>
        </p:txBody>
      </p:sp>
      <p:sp>
        <p:nvSpPr>
          <p:cNvPr id="3" name="Content Placeholder 2"/>
          <p:cNvSpPr>
            <a:spLocks noGrp="1"/>
          </p:cNvSpPr>
          <p:nvPr>
            <p:ph idx="1"/>
          </p:nvPr>
        </p:nvSpPr>
        <p:spPr>
          <a:xfrm>
            <a:off x="5183189" y="987429"/>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839790" y="2057400"/>
            <a:ext cx="3932238" cy="3811588"/>
          </a:xfrm>
        </p:spPr>
        <p:txBody>
          <a:bodyPr/>
          <a:lstStyle>
            <a:lvl1pPr marL="0" indent="0">
              <a:buNone/>
              <a:defRPr sz="1600"/>
            </a:lvl1pPr>
            <a:lvl2pPr marL="457211" indent="0">
              <a:buNone/>
              <a:defRPr sz="1401"/>
            </a:lvl2pPr>
            <a:lvl3pPr marL="914423" indent="0">
              <a:buNone/>
              <a:defRPr sz="1200"/>
            </a:lvl3pPr>
            <a:lvl4pPr marL="1371634" indent="0">
              <a:buNone/>
              <a:defRPr sz="1001"/>
            </a:lvl4pPr>
            <a:lvl5pPr marL="1828846" indent="0">
              <a:buNone/>
              <a:defRPr sz="1001"/>
            </a:lvl5pPr>
            <a:lvl6pPr marL="2286057" indent="0">
              <a:buNone/>
              <a:defRPr sz="1001"/>
            </a:lvl6pPr>
            <a:lvl7pPr marL="2743269" indent="0">
              <a:buNone/>
              <a:defRPr sz="1001"/>
            </a:lvl7pPr>
            <a:lvl8pPr marL="3200480" indent="0">
              <a:buNone/>
              <a:defRPr sz="1001"/>
            </a:lvl8pPr>
            <a:lvl9pPr marL="3657691" indent="0">
              <a:buNone/>
              <a:defRPr sz="1001"/>
            </a:lvl9pPr>
          </a:lstStyle>
          <a:p>
            <a:pPr lvl="0"/>
            <a:r>
              <a:rPr lang="en-US"/>
              <a:t>Edit Master text styles</a:t>
            </a:r>
          </a:p>
        </p:txBody>
      </p:sp>
      <p:sp>
        <p:nvSpPr>
          <p:cNvPr id="5" name="Date Placeholder 4"/>
          <p:cNvSpPr>
            <a:spLocks noGrp="1"/>
          </p:cNvSpPr>
          <p:nvPr>
            <p:ph type="dt" sz="half" idx="10"/>
          </p:nvPr>
        </p:nvSpPr>
        <p:spPr/>
        <p:txBody>
          <a:bodyPr/>
          <a:lstStyle/>
          <a:p>
            <a:fld id="{2EB97D93-AAD9-4F34-9DDE-9F9BC4EDA235}" type="datetimeFigureOut">
              <a:rPr lang="en-AU" smtClean="0"/>
              <a:t>17/08/2021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5EBD371-36BD-44C1-9324-DA1D929982E2}" type="slidenum">
              <a:rPr lang="en-AU" smtClean="0"/>
              <a:t>‹#›</a:t>
            </a:fld>
            <a:endParaRPr lang="en-AU"/>
          </a:p>
        </p:txBody>
      </p:sp>
    </p:spTree>
    <p:extLst>
      <p:ext uri="{BB962C8B-B14F-4D97-AF65-F5344CB8AC3E}">
        <p14:creationId xmlns:p14="http://schemas.microsoft.com/office/powerpoint/2010/main" val="35409428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8" cy="1600200"/>
          </a:xfrm>
        </p:spPr>
        <p:txBody>
          <a:bodyPr anchor="b"/>
          <a:lstStyle>
            <a:lvl1pPr>
              <a:defRPr sz="3200"/>
            </a:lvl1pPr>
          </a:lstStyle>
          <a:p>
            <a:r>
              <a:rPr lang="en-US"/>
              <a:t>Click to edit Master title style</a:t>
            </a:r>
            <a:endParaRPr lang="en-AU"/>
          </a:p>
        </p:txBody>
      </p:sp>
      <p:sp>
        <p:nvSpPr>
          <p:cNvPr id="3" name="Picture Placeholder 2"/>
          <p:cNvSpPr>
            <a:spLocks noGrp="1"/>
          </p:cNvSpPr>
          <p:nvPr>
            <p:ph type="pic" idx="1"/>
          </p:nvPr>
        </p:nvSpPr>
        <p:spPr>
          <a:xfrm>
            <a:off x="5183189" y="987429"/>
            <a:ext cx="6172201" cy="4873625"/>
          </a:xfrm>
        </p:spPr>
        <p:txBody>
          <a:bodyPr/>
          <a:lstStyle>
            <a:lvl1pPr marL="0" indent="0">
              <a:buNone/>
              <a:defRPr sz="3200"/>
            </a:lvl1pPr>
            <a:lvl2pPr marL="457211" indent="0">
              <a:buNone/>
              <a:defRPr sz="2800"/>
            </a:lvl2pPr>
            <a:lvl3pPr marL="914423" indent="0">
              <a:buNone/>
              <a:defRPr sz="2400"/>
            </a:lvl3pPr>
            <a:lvl4pPr marL="1371634" indent="0">
              <a:buNone/>
              <a:defRPr sz="2000"/>
            </a:lvl4pPr>
            <a:lvl5pPr marL="1828846" indent="0">
              <a:buNone/>
              <a:defRPr sz="2000"/>
            </a:lvl5pPr>
            <a:lvl6pPr marL="2286057" indent="0">
              <a:buNone/>
              <a:defRPr sz="2000"/>
            </a:lvl6pPr>
            <a:lvl7pPr marL="2743269" indent="0">
              <a:buNone/>
              <a:defRPr sz="2000"/>
            </a:lvl7pPr>
            <a:lvl8pPr marL="3200480" indent="0">
              <a:buNone/>
              <a:defRPr sz="2000"/>
            </a:lvl8pPr>
            <a:lvl9pPr marL="3657691" indent="0">
              <a:buNone/>
              <a:defRPr sz="2000"/>
            </a:lvl9pPr>
          </a:lstStyle>
          <a:p>
            <a:endParaRPr lang="en-AU"/>
          </a:p>
        </p:txBody>
      </p:sp>
      <p:sp>
        <p:nvSpPr>
          <p:cNvPr id="4" name="Text Placeholder 3"/>
          <p:cNvSpPr>
            <a:spLocks noGrp="1"/>
          </p:cNvSpPr>
          <p:nvPr>
            <p:ph type="body" sz="half" idx="2"/>
          </p:nvPr>
        </p:nvSpPr>
        <p:spPr>
          <a:xfrm>
            <a:off x="839790" y="2057400"/>
            <a:ext cx="3932238" cy="3811588"/>
          </a:xfrm>
        </p:spPr>
        <p:txBody>
          <a:bodyPr/>
          <a:lstStyle>
            <a:lvl1pPr marL="0" indent="0">
              <a:buNone/>
              <a:defRPr sz="1600"/>
            </a:lvl1pPr>
            <a:lvl2pPr marL="457211" indent="0">
              <a:buNone/>
              <a:defRPr sz="1401"/>
            </a:lvl2pPr>
            <a:lvl3pPr marL="914423" indent="0">
              <a:buNone/>
              <a:defRPr sz="1200"/>
            </a:lvl3pPr>
            <a:lvl4pPr marL="1371634" indent="0">
              <a:buNone/>
              <a:defRPr sz="1001"/>
            </a:lvl4pPr>
            <a:lvl5pPr marL="1828846" indent="0">
              <a:buNone/>
              <a:defRPr sz="1001"/>
            </a:lvl5pPr>
            <a:lvl6pPr marL="2286057" indent="0">
              <a:buNone/>
              <a:defRPr sz="1001"/>
            </a:lvl6pPr>
            <a:lvl7pPr marL="2743269" indent="0">
              <a:buNone/>
              <a:defRPr sz="1001"/>
            </a:lvl7pPr>
            <a:lvl8pPr marL="3200480" indent="0">
              <a:buNone/>
              <a:defRPr sz="1001"/>
            </a:lvl8pPr>
            <a:lvl9pPr marL="3657691" indent="0">
              <a:buNone/>
              <a:defRPr sz="1001"/>
            </a:lvl9pPr>
          </a:lstStyle>
          <a:p>
            <a:pPr lvl="0"/>
            <a:r>
              <a:rPr lang="en-US"/>
              <a:t>Edit Master text styles</a:t>
            </a:r>
          </a:p>
        </p:txBody>
      </p:sp>
      <p:sp>
        <p:nvSpPr>
          <p:cNvPr id="5" name="Date Placeholder 4"/>
          <p:cNvSpPr>
            <a:spLocks noGrp="1"/>
          </p:cNvSpPr>
          <p:nvPr>
            <p:ph type="dt" sz="half" idx="10"/>
          </p:nvPr>
        </p:nvSpPr>
        <p:spPr/>
        <p:txBody>
          <a:bodyPr/>
          <a:lstStyle/>
          <a:p>
            <a:fld id="{2EB97D93-AAD9-4F34-9DDE-9F9BC4EDA235}" type="datetimeFigureOut">
              <a:rPr lang="en-AU" smtClean="0"/>
              <a:t>17/08/2021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5EBD371-36BD-44C1-9324-DA1D929982E2}" type="slidenum">
              <a:rPr lang="en-AU" smtClean="0"/>
              <a:t>‹#›</a:t>
            </a:fld>
            <a:endParaRPr lang="en-AU"/>
          </a:p>
        </p:txBody>
      </p:sp>
    </p:spTree>
    <p:extLst>
      <p:ext uri="{BB962C8B-B14F-4D97-AF65-F5344CB8AC3E}">
        <p14:creationId xmlns:p14="http://schemas.microsoft.com/office/powerpoint/2010/main" val="9148047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2EB97D93-AAD9-4F34-9DDE-9F9BC4EDA235}" type="datetimeFigureOut">
              <a:rPr lang="en-AU" smtClean="0"/>
              <a:t>17/08/2021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5EBD371-36BD-44C1-9324-DA1D929982E2}" type="slidenum">
              <a:rPr lang="en-AU" smtClean="0"/>
              <a:t>‹#›</a:t>
            </a:fld>
            <a:endParaRPr lang="en-AU"/>
          </a:p>
        </p:txBody>
      </p:sp>
    </p:spTree>
    <p:extLst>
      <p:ext uri="{BB962C8B-B14F-4D97-AF65-F5344CB8AC3E}">
        <p14:creationId xmlns:p14="http://schemas.microsoft.com/office/powerpoint/2010/main" val="24182747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2EB97D93-AAD9-4F34-9DDE-9F9BC4EDA235}" type="datetimeFigureOut">
              <a:rPr lang="en-AU" smtClean="0"/>
              <a:t>17/08/2021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5EBD371-36BD-44C1-9324-DA1D929982E2}" type="slidenum">
              <a:rPr lang="en-AU" smtClean="0"/>
              <a:t>‹#›</a:t>
            </a:fld>
            <a:endParaRPr lang="en-AU"/>
          </a:p>
        </p:txBody>
      </p:sp>
    </p:spTree>
    <p:extLst>
      <p:ext uri="{BB962C8B-B14F-4D97-AF65-F5344CB8AC3E}">
        <p14:creationId xmlns:p14="http://schemas.microsoft.com/office/powerpoint/2010/main" val="439833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1" y="365129"/>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p:cNvSpPr>
            <a:spLocks noGrp="1"/>
          </p:cNvSpPr>
          <p:nvPr>
            <p:ph type="body" idx="1"/>
          </p:nvPr>
        </p:nvSpPr>
        <p:spPr>
          <a:xfrm>
            <a:off x="838201"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838201" y="6356354"/>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B97D93-AAD9-4F34-9DDE-9F9BC4EDA235}" type="datetimeFigureOut">
              <a:rPr lang="en-AU" smtClean="0"/>
              <a:t>17/08/2021</a:t>
            </a:fld>
            <a:endParaRPr lang="en-AU"/>
          </a:p>
        </p:txBody>
      </p:sp>
      <p:sp>
        <p:nvSpPr>
          <p:cNvPr id="5" name="Footer Placeholder 4"/>
          <p:cNvSpPr>
            <a:spLocks noGrp="1"/>
          </p:cNvSpPr>
          <p:nvPr>
            <p:ph type="ftr" sz="quarter" idx="3"/>
          </p:nvPr>
        </p:nvSpPr>
        <p:spPr>
          <a:xfrm>
            <a:off x="4038601" y="6356354"/>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1" y="6356354"/>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EBD371-36BD-44C1-9324-DA1D929982E2}" type="slidenum">
              <a:rPr lang="en-AU" smtClean="0"/>
              <a:t>‹#›</a:t>
            </a:fld>
            <a:endParaRPr lang="en-AU"/>
          </a:p>
        </p:txBody>
      </p:sp>
    </p:spTree>
    <p:extLst>
      <p:ext uri="{BB962C8B-B14F-4D97-AF65-F5344CB8AC3E}">
        <p14:creationId xmlns:p14="http://schemas.microsoft.com/office/powerpoint/2010/main" val="8761409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23"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6" indent="-228606" algn="l" defTabSz="914423" rtl="0" eaLnBrk="1" latinLnBrk="0" hangingPunct="1">
        <a:lnSpc>
          <a:spcPct val="90000"/>
        </a:lnSpc>
        <a:spcBef>
          <a:spcPts val="1001"/>
        </a:spcBef>
        <a:buFont typeface="Arial" panose="020B0604020202020204" pitchFamily="34" charset="0"/>
        <a:buChar char="•"/>
        <a:defRPr sz="2800" kern="1200">
          <a:solidFill>
            <a:schemeClr val="tx1"/>
          </a:solidFill>
          <a:latin typeface="+mn-lt"/>
          <a:ea typeface="+mn-ea"/>
          <a:cs typeface="+mn-cs"/>
        </a:defRPr>
      </a:lvl1pPr>
      <a:lvl2pPr marL="685818" indent="-228606" algn="l" defTabSz="91442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9" indent="-228606" algn="l" defTabSz="91442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41" indent="-228606"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4pPr>
      <a:lvl5pPr marL="2057452" indent="-228606"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5pPr>
      <a:lvl6pPr marL="2514663" indent="-228606"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6"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6" indent="-228606"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8" indent="-228606"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p:bodyStyle>
    <p:otherStyle>
      <a:defPPr>
        <a:defRPr lang="en-US"/>
      </a:defPPr>
      <a:lvl1pPr marL="0" algn="l" defTabSz="914423" rtl="0" eaLnBrk="1" latinLnBrk="0" hangingPunct="1">
        <a:defRPr sz="1801" kern="1200">
          <a:solidFill>
            <a:schemeClr val="tx1"/>
          </a:solidFill>
          <a:latin typeface="+mn-lt"/>
          <a:ea typeface="+mn-ea"/>
          <a:cs typeface="+mn-cs"/>
        </a:defRPr>
      </a:lvl1pPr>
      <a:lvl2pPr marL="457211" algn="l" defTabSz="914423" rtl="0" eaLnBrk="1" latinLnBrk="0" hangingPunct="1">
        <a:defRPr sz="1801" kern="1200">
          <a:solidFill>
            <a:schemeClr val="tx1"/>
          </a:solidFill>
          <a:latin typeface="+mn-lt"/>
          <a:ea typeface="+mn-ea"/>
          <a:cs typeface="+mn-cs"/>
        </a:defRPr>
      </a:lvl2pPr>
      <a:lvl3pPr marL="914423" algn="l" defTabSz="914423" rtl="0" eaLnBrk="1" latinLnBrk="0" hangingPunct="1">
        <a:defRPr sz="1801" kern="1200">
          <a:solidFill>
            <a:schemeClr val="tx1"/>
          </a:solidFill>
          <a:latin typeface="+mn-lt"/>
          <a:ea typeface="+mn-ea"/>
          <a:cs typeface="+mn-cs"/>
        </a:defRPr>
      </a:lvl3pPr>
      <a:lvl4pPr marL="1371634" algn="l" defTabSz="914423" rtl="0" eaLnBrk="1" latinLnBrk="0" hangingPunct="1">
        <a:defRPr sz="1801" kern="1200">
          <a:solidFill>
            <a:schemeClr val="tx1"/>
          </a:solidFill>
          <a:latin typeface="+mn-lt"/>
          <a:ea typeface="+mn-ea"/>
          <a:cs typeface="+mn-cs"/>
        </a:defRPr>
      </a:lvl4pPr>
      <a:lvl5pPr marL="1828846" algn="l" defTabSz="914423" rtl="0" eaLnBrk="1" latinLnBrk="0" hangingPunct="1">
        <a:defRPr sz="1801" kern="1200">
          <a:solidFill>
            <a:schemeClr val="tx1"/>
          </a:solidFill>
          <a:latin typeface="+mn-lt"/>
          <a:ea typeface="+mn-ea"/>
          <a:cs typeface="+mn-cs"/>
        </a:defRPr>
      </a:lvl5pPr>
      <a:lvl6pPr marL="2286057" algn="l" defTabSz="914423" rtl="0" eaLnBrk="1" latinLnBrk="0" hangingPunct="1">
        <a:defRPr sz="1801" kern="1200">
          <a:solidFill>
            <a:schemeClr val="tx1"/>
          </a:solidFill>
          <a:latin typeface="+mn-lt"/>
          <a:ea typeface="+mn-ea"/>
          <a:cs typeface="+mn-cs"/>
        </a:defRPr>
      </a:lvl6pPr>
      <a:lvl7pPr marL="2743269" algn="l" defTabSz="914423" rtl="0" eaLnBrk="1" latinLnBrk="0" hangingPunct="1">
        <a:defRPr sz="1801" kern="1200">
          <a:solidFill>
            <a:schemeClr val="tx1"/>
          </a:solidFill>
          <a:latin typeface="+mn-lt"/>
          <a:ea typeface="+mn-ea"/>
          <a:cs typeface="+mn-cs"/>
        </a:defRPr>
      </a:lvl7pPr>
      <a:lvl8pPr marL="3200480" algn="l" defTabSz="914423" rtl="0" eaLnBrk="1" latinLnBrk="0" hangingPunct="1">
        <a:defRPr sz="1801" kern="1200">
          <a:solidFill>
            <a:schemeClr val="tx1"/>
          </a:solidFill>
          <a:latin typeface="+mn-lt"/>
          <a:ea typeface="+mn-ea"/>
          <a:cs typeface="+mn-cs"/>
        </a:defRPr>
      </a:lvl8pPr>
      <a:lvl9pPr marL="3657691" algn="l" defTabSz="914423" rtl="0" eaLnBrk="1" latinLnBrk="0" hangingPunct="1">
        <a:defRPr sz="18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hyperlink" Target="https://www.wufoo.com/" TargetMode="Externa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hyperlink" Target="https://www.w3schools.com/sql/sql_delete.asp" TargetMode="External"/><Relationship Id="rId7" Type="http://schemas.openxmlformats.org/officeDocument/2006/relationships/image" Target="../media/image14.png"/><Relationship Id="rId2" Type="http://schemas.openxmlformats.org/officeDocument/2006/relationships/hyperlink" Target="https://www.w3schools.com/sql/sql_create_table.asp" TargetMode="Externa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hyperlink" Target="https://sqlitebrowser.org/" TargetMode="External"/><Relationship Id="rId4" Type="http://schemas.openxmlformats.org/officeDocument/2006/relationships/image" Target="../media/image12.png"/><Relationship Id="rId9" Type="http://schemas.openxmlformats.org/officeDocument/2006/relationships/hyperlink" Target="https://www.w3schools.com/sql/sql_autoincrement.asp" TargetMode="External"/></Relationships>
</file>

<file path=ppt/slides/_rels/slide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7.png"/><Relationship Id="rId7" Type="http://schemas.openxmlformats.org/officeDocument/2006/relationships/image" Target="../media/image19.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hyperlink" Target="http://w3schools.com/sql/sql_alter.asp" TargetMode="External"/><Relationship Id="rId5" Type="http://schemas.openxmlformats.org/officeDocument/2006/relationships/hyperlink" Target="https://www.w3schools.com/sql/sql_insert.asp#:~:text=INSERT%20INTO%20Syntax,%2C%20column3%2C%20...)" TargetMode="External"/><Relationship Id="rId10" Type="http://schemas.openxmlformats.org/officeDocument/2006/relationships/hyperlink" Target="https://www.w3schools.com/sql/sql_delete.asp" TargetMode="External"/><Relationship Id="rId4" Type="http://schemas.openxmlformats.org/officeDocument/2006/relationships/image" Target="../media/image18.png"/><Relationship Id="rId9" Type="http://schemas.openxmlformats.org/officeDocument/2006/relationships/hyperlink" Target="https://www.sqlshack.com/importing-and-working-with-csv-files-in-sql-server/"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5741" y="1485211"/>
            <a:ext cx="2446020" cy="2821963"/>
          </a:xfrm>
          <a:prstGeom prst="rect">
            <a:avLst/>
          </a:prstGeom>
        </p:spPr>
      </p:pic>
      <p:sp>
        <p:nvSpPr>
          <p:cNvPr id="2" name="Title 1"/>
          <p:cNvSpPr>
            <a:spLocks noGrp="1"/>
          </p:cNvSpPr>
          <p:nvPr>
            <p:ph type="ctrTitle"/>
          </p:nvPr>
        </p:nvSpPr>
        <p:spPr>
          <a:xfrm>
            <a:off x="2278380" y="1702392"/>
            <a:ext cx="9144000" cy="2387600"/>
          </a:xfrm>
        </p:spPr>
        <p:txBody>
          <a:bodyPr>
            <a:normAutofit fontScale="90000"/>
          </a:bodyPr>
          <a:lstStyle/>
          <a:p>
            <a:br>
              <a:rPr lang="en-AU" sz="5401" dirty="0"/>
            </a:br>
            <a:br>
              <a:rPr lang="en-AU" sz="5401" dirty="0"/>
            </a:br>
            <a:r>
              <a:rPr lang="en-AU" sz="5401" dirty="0"/>
              <a:t>Bundaberg eSports FIFA Web App</a:t>
            </a:r>
            <a:br>
              <a:rPr lang="en-AU" sz="5401" dirty="0"/>
            </a:br>
            <a:r>
              <a:rPr lang="en-AU" sz="5401" dirty="0"/>
              <a:t>IA2 Project; Prototype</a:t>
            </a:r>
          </a:p>
        </p:txBody>
      </p:sp>
      <p:sp>
        <p:nvSpPr>
          <p:cNvPr id="3" name="Subtitle 2"/>
          <p:cNvSpPr>
            <a:spLocks noGrp="1"/>
          </p:cNvSpPr>
          <p:nvPr>
            <p:ph type="subTitle" idx="1"/>
          </p:nvPr>
        </p:nvSpPr>
        <p:spPr>
          <a:xfrm>
            <a:off x="2278380" y="4640681"/>
            <a:ext cx="9144000" cy="1655762"/>
          </a:xfrm>
        </p:spPr>
        <p:txBody>
          <a:bodyPr/>
          <a:lstStyle/>
          <a:p>
            <a:r>
              <a:rPr lang="en-AU" dirty="0"/>
              <a:t>Paddy Maher</a:t>
            </a:r>
          </a:p>
        </p:txBody>
      </p:sp>
      <p:sp>
        <p:nvSpPr>
          <p:cNvPr id="5" name="Title 1"/>
          <p:cNvSpPr txBox="1">
            <a:spLocks/>
          </p:cNvSpPr>
          <p:nvPr/>
        </p:nvSpPr>
        <p:spPr>
          <a:xfrm>
            <a:off x="2278380" y="1"/>
            <a:ext cx="9144000" cy="2387600"/>
          </a:xfrm>
          <a:prstGeom prst="rect">
            <a:avLst/>
          </a:prstGeom>
        </p:spPr>
        <p:txBody>
          <a:bodyPr vert="horz" lIns="91440" tIns="45721" rIns="91440" bIns="45721"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AU" sz="8000" b="1" dirty="0"/>
              <a:t>Digital Solutions</a:t>
            </a:r>
          </a:p>
        </p:txBody>
      </p:sp>
    </p:spTree>
    <p:extLst>
      <p:ext uri="{BB962C8B-B14F-4D97-AF65-F5344CB8AC3E}">
        <p14:creationId xmlns:p14="http://schemas.microsoft.com/office/powerpoint/2010/main" val="24594651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rotWithShape="1">
          <a:blip r:embed="rId2">
            <a:extLst>
              <a:ext uri="{28A0092B-C50C-407E-A947-70E740481C1C}">
                <a14:useLocalDpi xmlns:a14="http://schemas.microsoft.com/office/drawing/2010/main" val="0"/>
              </a:ext>
            </a:extLst>
          </a:blip>
          <a:srcRect l="57417" t="55085" r="8622"/>
          <a:stretch/>
        </p:blipFill>
        <p:spPr>
          <a:xfrm>
            <a:off x="8151228" y="4519749"/>
            <a:ext cx="3122023" cy="1867476"/>
          </a:xfrm>
        </p:spPr>
      </p:pic>
      <p:pic>
        <p:nvPicPr>
          <p:cNvPr id="4" name="Picture 3"/>
          <p:cNvPicPr>
            <a:picLocks noChangeAspect="1"/>
          </p:cNvPicPr>
          <p:nvPr/>
        </p:nvPicPr>
        <p:blipFill rotWithShape="1">
          <a:blip r:embed="rId3"/>
          <a:srcRect t="51943"/>
          <a:stretch/>
        </p:blipFill>
        <p:spPr>
          <a:xfrm>
            <a:off x="274325" y="4519748"/>
            <a:ext cx="7876903" cy="2080364"/>
          </a:xfrm>
          <a:prstGeom prst="rect">
            <a:avLst/>
          </a:prstGeom>
        </p:spPr>
      </p:pic>
      <p:pic>
        <p:nvPicPr>
          <p:cNvPr id="6" name="Picture 5"/>
          <p:cNvPicPr>
            <a:picLocks noChangeAspect="1"/>
          </p:cNvPicPr>
          <p:nvPr/>
        </p:nvPicPr>
        <p:blipFill rotWithShape="1">
          <a:blip r:embed="rId4">
            <a:extLst>
              <a:ext uri="{28A0092B-C50C-407E-A947-70E740481C1C}">
                <a14:useLocalDpi xmlns:a14="http://schemas.microsoft.com/office/drawing/2010/main" val="0"/>
              </a:ext>
            </a:extLst>
          </a:blip>
          <a:srcRect b="293"/>
          <a:stretch/>
        </p:blipFill>
        <p:spPr>
          <a:xfrm>
            <a:off x="485503" y="66544"/>
            <a:ext cx="9922598" cy="4453209"/>
          </a:xfrm>
          <a:prstGeom prst="rect">
            <a:avLst/>
          </a:prstGeom>
        </p:spPr>
      </p:pic>
      <p:sp>
        <p:nvSpPr>
          <p:cNvPr id="7" name="Title 1"/>
          <p:cNvSpPr txBox="1">
            <a:spLocks/>
          </p:cNvSpPr>
          <p:nvPr/>
        </p:nvSpPr>
        <p:spPr>
          <a:xfrm>
            <a:off x="-3174274" y="-839586"/>
            <a:ext cx="10515600" cy="1325563"/>
          </a:xfrm>
          <a:prstGeom prst="rect">
            <a:avLst/>
          </a:prstGeom>
        </p:spPr>
        <p:txBody>
          <a:bodyPr vert="horz" lIns="91440" tIns="45721" rIns="91440" bIns="45721"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AU" sz="2400" b="1"/>
              <a:t>Explore- Identification of criteria</a:t>
            </a:r>
            <a:endParaRPr lang="en-AU" sz="2400" b="1" dirty="0"/>
          </a:p>
        </p:txBody>
      </p:sp>
      <p:pic>
        <p:nvPicPr>
          <p:cNvPr id="9" name="Picture 8"/>
          <p:cNvPicPr>
            <a:picLocks noChangeAspect="1"/>
          </p:cNvPicPr>
          <p:nvPr/>
        </p:nvPicPr>
        <p:blipFill rotWithShape="1">
          <a:blip r:embed="rId5"/>
          <a:srcRect l="43451" r="1"/>
          <a:stretch/>
        </p:blipFill>
        <p:spPr>
          <a:xfrm>
            <a:off x="10408105" y="250152"/>
            <a:ext cx="2106757" cy="4085995"/>
          </a:xfrm>
          <a:prstGeom prst="rect">
            <a:avLst/>
          </a:prstGeom>
        </p:spPr>
      </p:pic>
    </p:spTree>
    <p:extLst>
      <p:ext uri="{BB962C8B-B14F-4D97-AF65-F5344CB8AC3E}">
        <p14:creationId xmlns:p14="http://schemas.microsoft.com/office/powerpoint/2010/main" val="42839400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2" y="1577206"/>
            <a:ext cx="8074638" cy="5066681"/>
          </a:xfrm>
          <a:prstGeom prst="rect">
            <a:avLst/>
          </a:prstGeom>
        </p:spPr>
      </p:pic>
      <p:sp>
        <p:nvSpPr>
          <p:cNvPr id="6" name="Title 1"/>
          <p:cNvSpPr>
            <a:spLocks noGrp="1"/>
          </p:cNvSpPr>
          <p:nvPr>
            <p:ph type="title"/>
          </p:nvPr>
        </p:nvSpPr>
        <p:spPr>
          <a:xfrm>
            <a:off x="1" y="-290944"/>
            <a:ext cx="10515600" cy="1325563"/>
          </a:xfrm>
        </p:spPr>
        <p:txBody>
          <a:bodyPr>
            <a:normAutofit/>
          </a:bodyPr>
          <a:lstStyle/>
          <a:p>
            <a:r>
              <a:rPr lang="en-AU" sz="2400" b="1" dirty="0"/>
              <a:t>Development- Solution overview and Criteria</a:t>
            </a:r>
          </a:p>
        </p:txBody>
      </p:sp>
      <p:sp>
        <p:nvSpPr>
          <p:cNvPr id="7" name="Title 1"/>
          <p:cNvSpPr txBox="1">
            <a:spLocks/>
          </p:cNvSpPr>
          <p:nvPr/>
        </p:nvSpPr>
        <p:spPr>
          <a:xfrm>
            <a:off x="1046958" y="145673"/>
            <a:ext cx="10515600" cy="1325563"/>
          </a:xfrm>
          <a:prstGeom prst="rect">
            <a:avLst/>
          </a:prstGeom>
        </p:spPr>
        <p:txBody>
          <a:bodyPr vert="horz" lIns="91440" tIns="45721" rIns="91440" bIns="45721"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AU" sz="2400" b="1" dirty="0"/>
          </a:p>
        </p:txBody>
      </p:sp>
      <p:sp>
        <p:nvSpPr>
          <p:cNvPr id="8" name="Title 1"/>
          <p:cNvSpPr txBox="1">
            <a:spLocks/>
          </p:cNvSpPr>
          <p:nvPr/>
        </p:nvSpPr>
        <p:spPr>
          <a:xfrm>
            <a:off x="255945" y="487098"/>
            <a:ext cx="1190489" cy="1325563"/>
          </a:xfrm>
          <a:prstGeom prst="rect">
            <a:avLst/>
          </a:prstGeom>
        </p:spPr>
        <p:txBody>
          <a:bodyPr vert="horz" lIns="91440" tIns="45721" rIns="91440" bIns="45721"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sz="2400" b="1" dirty="0">
                <a:solidFill>
                  <a:srgbClr val="FF0000"/>
                </a:solidFill>
              </a:rPr>
              <a:t>INPUT</a:t>
            </a:r>
          </a:p>
        </p:txBody>
      </p:sp>
      <p:sp>
        <p:nvSpPr>
          <p:cNvPr id="9" name="Title 1"/>
          <p:cNvSpPr txBox="1">
            <a:spLocks/>
          </p:cNvSpPr>
          <p:nvPr/>
        </p:nvSpPr>
        <p:spPr>
          <a:xfrm>
            <a:off x="3540344" y="420645"/>
            <a:ext cx="1428206" cy="1325563"/>
          </a:xfrm>
          <a:prstGeom prst="rect">
            <a:avLst/>
          </a:prstGeom>
        </p:spPr>
        <p:txBody>
          <a:bodyPr vert="horz" lIns="91440" tIns="45721" rIns="91440" bIns="45721"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sz="2400" b="1" dirty="0">
                <a:solidFill>
                  <a:srgbClr val="FF0000"/>
                </a:solidFill>
              </a:rPr>
              <a:t>PROCESS</a:t>
            </a:r>
          </a:p>
        </p:txBody>
      </p:sp>
      <p:sp>
        <p:nvSpPr>
          <p:cNvPr id="10" name="Title 1"/>
          <p:cNvSpPr txBox="1">
            <a:spLocks/>
          </p:cNvSpPr>
          <p:nvPr/>
        </p:nvSpPr>
        <p:spPr>
          <a:xfrm>
            <a:off x="6815950" y="393984"/>
            <a:ext cx="1428206" cy="1325563"/>
          </a:xfrm>
          <a:prstGeom prst="rect">
            <a:avLst/>
          </a:prstGeom>
        </p:spPr>
        <p:txBody>
          <a:bodyPr vert="horz" lIns="91440" tIns="45721" rIns="91440" bIns="45721"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sz="2400" b="1" dirty="0">
                <a:solidFill>
                  <a:srgbClr val="FF0000"/>
                </a:solidFill>
              </a:rPr>
              <a:t>OUTPUT</a:t>
            </a:r>
          </a:p>
        </p:txBody>
      </p:sp>
      <p:cxnSp>
        <p:nvCxnSpPr>
          <p:cNvPr id="11" name="Straight Connector 10"/>
          <p:cNvCxnSpPr/>
          <p:nvPr/>
        </p:nvCxnSpPr>
        <p:spPr>
          <a:xfrm>
            <a:off x="1859952" y="1434298"/>
            <a:ext cx="4587906" cy="0"/>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1859952" y="1434301"/>
            <a:ext cx="0" cy="272994"/>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V="1">
            <a:off x="6447858" y="1424336"/>
            <a:ext cx="0" cy="272994"/>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V="1">
            <a:off x="6918481" y="1398715"/>
            <a:ext cx="1156158" cy="8463"/>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V="1">
            <a:off x="8074636" y="1379966"/>
            <a:ext cx="0" cy="272994"/>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V="1">
            <a:off x="6927186" y="1411445"/>
            <a:ext cx="0" cy="272994"/>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V="1">
            <a:off x="7501723" y="1235778"/>
            <a:ext cx="1974" cy="171401"/>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V="1">
            <a:off x="4153489" y="1291209"/>
            <a:ext cx="421" cy="135541"/>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V="1">
            <a:off x="50684" y="1434299"/>
            <a:ext cx="1190489" cy="13388"/>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V="1">
            <a:off x="1231838" y="1440995"/>
            <a:ext cx="0" cy="272994"/>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V="1">
            <a:off x="82862" y="1455401"/>
            <a:ext cx="0" cy="272994"/>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H="1" flipV="1">
            <a:off x="674493" y="1328331"/>
            <a:ext cx="7554" cy="142393"/>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8128249" y="5"/>
            <a:ext cx="4032562" cy="6849311"/>
          </a:xfrm>
          <a:prstGeom prst="rect">
            <a:avLst/>
          </a:prstGeom>
          <a:noFill/>
          <a:ln>
            <a:solidFill>
              <a:srgbClr val="00B050"/>
            </a:solidFill>
          </a:ln>
        </p:spPr>
        <p:txBody>
          <a:bodyPr wrap="square" rtlCol="0">
            <a:spAutoFit/>
          </a:bodyPr>
          <a:lstStyle/>
          <a:p>
            <a:r>
              <a:rPr lang="en-AU" sz="998" dirty="0"/>
              <a:t>Prescribed Criteria;</a:t>
            </a:r>
          </a:p>
          <a:p>
            <a:pPr marL="228606" indent="-228606">
              <a:buAutoNum type="arabicPeriod"/>
            </a:pPr>
            <a:r>
              <a:rPr lang="en-AU" sz="998" dirty="0"/>
              <a:t>Recognise and describe programmed and UI components with accessibility, useability, effectiveness, safety, utility and learnability</a:t>
            </a:r>
          </a:p>
          <a:p>
            <a:pPr marL="228606" indent="-228606">
              <a:buAutoNum type="arabicPeriod"/>
            </a:pPr>
            <a:r>
              <a:rPr lang="en-AU" sz="998" dirty="0"/>
              <a:t>Symbolise developer problems using mind maps or ER diagrams, interrelationships between user experiences and data</a:t>
            </a:r>
          </a:p>
          <a:p>
            <a:pPr marL="228606" indent="-228606">
              <a:buAutoNum type="arabicPeriod"/>
            </a:pPr>
            <a:r>
              <a:rPr lang="en-AU" sz="998" dirty="0"/>
              <a:t>Explain internal and external data components using appropriate symbols, code and data samples. How elements in user-interface connect in annotated diagrams</a:t>
            </a:r>
          </a:p>
          <a:p>
            <a:pPr marL="228606" indent="-228606">
              <a:buAutoNum type="arabicPeriod"/>
            </a:pPr>
            <a:r>
              <a:rPr lang="en-AU" sz="998" dirty="0"/>
              <a:t>Analyse prototype web application and information to identify data inputs, data and programmed components and their relationships, prototype’s personal, social and economic impacts </a:t>
            </a:r>
          </a:p>
          <a:p>
            <a:pPr marL="228606" indent="-228606">
              <a:buAutoNum type="arabicPeriod"/>
            </a:pPr>
            <a:r>
              <a:rPr lang="en-AU" sz="998" dirty="0"/>
              <a:t>Determine solution requirements that include; essential elements on useability principles, data structures and linkage to interface and code</a:t>
            </a:r>
          </a:p>
          <a:p>
            <a:pPr marL="228606" indent="-228606">
              <a:buAutoNum type="arabicPeriod"/>
            </a:pPr>
            <a:r>
              <a:rPr lang="en-AU" sz="998" dirty="0"/>
              <a:t>Synthesise ideas and information about solutions for UI, data and programmed components of the prototype, data repositories and programming to generate a prototype web app</a:t>
            </a:r>
          </a:p>
          <a:p>
            <a:pPr marL="228606" indent="-228606">
              <a:buAutoNum type="arabicPeriod"/>
            </a:pPr>
            <a:r>
              <a:rPr lang="en-AU" sz="998" dirty="0"/>
              <a:t>Generate sample code for 4-6 A4 pages demonstrating selection, iteration, user input and data output- a prototype web application by combining the UI, data and coded components</a:t>
            </a:r>
          </a:p>
          <a:p>
            <a:pPr marL="228606" indent="-228606">
              <a:buAutoNum type="arabicPeriod"/>
            </a:pPr>
            <a:r>
              <a:rPr lang="en-AU" sz="998" dirty="0"/>
              <a:t>Evaluate against criteria personal, social and economic impacts supported by a collection of data samples or representations. Accuracy and efficiency of coded components in tables, diagrams and paragraphs</a:t>
            </a:r>
          </a:p>
          <a:p>
            <a:pPr marL="228606" indent="-228606">
              <a:buAutoNum type="arabicPeriod"/>
            </a:pPr>
            <a:r>
              <a:rPr lang="en-AU" sz="998" dirty="0"/>
              <a:t>Make refinements and recommendations for current and future improvements</a:t>
            </a:r>
          </a:p>
          <a:p>
            <a:endParaRPr lang="en-AU" sz="998" dirty="0"/>
          </a:p>
          <a:p>
            <a:r>
              <a:rPr lang="en-AU" sz="998" dirty="0"/>
              <a:t>Self-Prescribed Criteria;</a:t>
            </a:r>
          </a:p>
          <a:p>
            <a:pPr marL="228606" indent="-228606">
              <a:buAutoNum type="arabicPeriod"/>
            </a:pPr>
            <a:r>
              <a:rPr lang="en-AU" sz="998" dirty="0"/>
              <a:t>Compile relevant </a:t>
            </a:r>
            <a:r>
              <a:rPr lang="en-AU" sz="998" dirty="0" err="1"/>
              <a:t>eSport</a:t>
            </a:r>
            <a:r>
              <a:rPr lang="en-AU" sz="998" dirty="0"/>
              <a:t> into data repositories to be accessed through a prototype web application</a:t>
            </a:r>
          </a:p>
          <a:p>
            <a:pPr marL="228606" indent="-228606">
              <a:buAutoNum type="arabicPeriod"/>
            </a:pPr>
            <a:r>
              <a:rPr lang="en-AU" sz="998" dirty="0"/>
              <a:t>Gain insight on the audience within FIFA eSports and how visual communication elements can be manipulated to optimise traffic for a web app</a:t>
            </a:r>
          </a:p>
          <a:p>
            <a:pPr marL="228606" indent="-228606">
              <a:buAutoNum type="arabicPeriod"/>
            </a:pPr>
            <a:r>
              <a:rPr lang="en-AU" sz="998" dirty="0"/>
              <a:t>Understand how existing solutions have developed their web apps with relevant code and UI components</a:t>
            </a:r>
          </a:p>
          <a:p>
            <a:pPr marL="228606" indent="-228606">
              <a:buAutoNum type="arabicPeriod"/>
            </a:pPr>
            <a:r>
              <a:rPr lang="en-AU" sz="998" dirty="0"/>
              <a:t>Generate a web app using relevant front and back-end codes using web frameworks such as Django</a:t>
            </a:r>
          </a:p>
          <a:p>
            <a:pPr marL="228606" indent="-228606">
              <a:buAutoNum type="arabicPeriod"/>
            </a:pPr>
            <a:r>
              <a:rPr lang="en-AU" sz="998" dirty="0"/>
              <a:t>Adapted for the Bundaberg community</a:t>
            </a:r>
          </a:p>
          <a:p>
            <a:pPr marL="228606" indent="-228606">
              <a:buAutoNum type="arabicPeriod"/>
            </a:pPr>
            <a:r>
              <a:rPr lang="en-AU" sz="998" dirty="0"/>
              <a:t>Alert system including notifications and emails</a:t>
            </a:r>
          </a:p>
          <a:p>
            <a:endParaRPr lang="en-AU" sz="998" dirty="0"/>
          </a:p>
          <a:p>
            <a:r>
              <a:rPr lang="en-AU" sz="998" dirty="0"/>
              <a:t>Constraints</a:t>
            </a:r>
          </a:p>
          <a:p>
            <a:pPr marL="171454" indent="-171454">
              <a:buFontTx/>
              <a:buChar char="-"/>
            </a:pPr>
            <a:r>
              <a:rPr lang="en-AU" sz="998" dirty="0"/>
              <a:t>Time; 6-8 Weeks</a:t>
            </a:r>
          </a:p>
          <a:p>
            <a:pPr marL="171454" indent="-171454">
              <a:buFontTx/>
              <a:buChar char="-"/>
            </a:pPr>
            <a:r>
              <a:rPr lang="en-AU" sz="998" dirty="0"/>
              <a:t>Legal; components within data usage may have legality issues </a:t>
            </a:r>
          </a:p>
          <a:p>
            <a:pPr marL="171454" indent="-171454">
              <a:buFontTx/>
              <a:buChar char="-"/>
            </a:pPr>
            <a:r>
              <a:rPr lang="en-AU" sz="998" dirty="0"/>
              <a:t>Coronavirus; pandemic impacting productivity</a:t>
            </a:r>
          </a:p>
          <a:p>
            <a:pPr marL="171454" indent="-171454">
              <a:buFontTx/>
              <a:buChar char="-"/>
            </a:pPr>
            <a:r>
              <a:rPr lang="en-AU" sz="998" dirty="0"/>
              <a:t>Outside disruption; adverse impact on productivity </a:t>
            </a:r>
          </a:p>
        </p:txBody>
      </p:sp>
      <p:sp>
        <p:nvSpPr>
          <p:cNvPr id="21" name="TextBox 20"/>
          <p:cNvSpPr txBox="1"/>
          <p:nvPr/>
        </p:nvSpPr>
        <p:spPr>
          <a:xfrm>
            <a:off x="5702195" y="116984"/>
            <a:ext cx="2222468" cy="554383"/>
          </a:xfrm>
          <a:prstGeom prst="rect">
            <a:avLst/>
          </a:prstGeom>
          <a:solidFill>
            <a:schemeClr val="bg1"/>
          </a:solidFill>
          <a:ln>
            <a:solidFill>
              <a:srgbClr val="00B050"/>
            </a:solidFill>
          </a:ln>
        </p:spPr>
        <p:txBody>
          <a:bodyPr wrap="square" rtlCol="0">
            <a:spAutoFit/>
          </a:bodyPr>
          <a:lstStyle/>
          <a:p>
            <a:r>
              <a:rPr lang="en-AU" sz="1001" dirty="0"/>
              <a:t>PC(n) and SC(n) refer to the nth element of either the Prescribed Criteria or Self Prescribed Criteria</a:t>
            </a:r>
          </a:p>
        </p:txBody>
      </p:sp>
      <p:cxnSp>
        <p:nvCxnSpPr>
          <p:cNvPr id="27" name="Straight Arrow Connector 26"/>
          <p:cNvCxnSpPr/>
          <p:nvPr/>
        </p:nvCxnSpPr>
        <p:spPr>
          <a:xfrm flipH="1" flipV="1">
            <a:off x="7659332" y="420646"/>
            <a:ext cx="475584" cy="1"/>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8210783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Diamond 90"/>
          <p:cNvSpPr/>
          <p:nvPr/>
        </p:nvSpPr>
        <p:spPr>
          <a:xfrm>
            <a:off x="8143705" y="4908121"/>
            <a:ext cx="1217220" cy="892793"/>
          </a:xfrm>
          <a:prstGeom prst="diamond">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6" name="Title 1"/>
          <p:cNvSpPr>
            <a:spLocks noGrp="1"/>
          </p:cNvSpPr>
          <p:nvPr>
            <p:ph type="title"/>
          </p:nvPr>
        </p:nvSpPr>
        <p:spPr>
          <a:xfrm>
            <a:off x="1" y="-290944"/>
            <a:ext cx="10515600" cy="1325563"/>
          </a:xfrm>
        </p:spPr>
        <p:txBody>
          <a:bodyPr>
            <a:normAutofit/>
          </a:bodyPr>
          <a:lstStyle/>
          <a:p>
            <a:r>
              <a:rPr lang="en-AU" sz="2400" b="1" dirty="0"/>
              <a:t>Development- User Interface</a:t>
            </a:r>
          </a:p>
        </p:txBody>
      </p:sp>
      <p:sp>
        <p:nvSpPr>
          <p:cNvPr id="2" name="TextBox 1"/>
          <p:cNvSpPr txBox="1"/>
          <p:nvPr/>
        </p:nvSpPr>
        <p:spPr>
          <a:xfrm>
            <a:off x="9490061" y="5309885"/>
            <a:ext cx="1159577" cy="461665"/>
          </a:xfrm>
          <a:prstGeom prst="rect">
            <a:avLst/>
          </a:prstGeom>
          <a:solidFill>
            <a:schemeClr val="accent6">
              <a:lumMod val="40000"/>
              <a:lumOff val="60000"/>
            </a:schemeClr>
          </a:solidFill>
          <a:ln>
            <a:solidFill>
              <a:schemeClr val="tx1"/>
            </a:solidFill>
          </a:ln>
        </p:spPr>
        <p:txBody>
          <a:bodyPr wrap="square" rtlCol="0">
            <a:spAutoFit/>
          </a:bodyPr>
          <a:lstStyle/>
          <a:p>
            <a:r>
              <a:rPr lang="en-AU" sz="800" dirty="0"/>
              <a:t>eSports Forum</a:t>
            </a:r>
          </a:p>
          <a:p>
            <a:endParaRPr lang="en-AU" sz="800" dirty="0"/>
          </a:p>
          <a:p>
            <a:r>
              <a:rPr lang="en-AU" sz="800" dirty="0"/>
              <a:t>Thread site </a:t>
            </a:r>
          </a:p>
        </p:txBody>
      </p:sp>
      <p:sp>
        <p:nvSpPr>
          <p:cNvPr id="45" name="TextBox 44"/>
          <p:cNvSpPr txBox="1"/>
          <p:nvPr/>
        </p:nvSpPr>
        <p:spPr>
          <a:xfrm>
            <a:off x="11071428" y="4561778"/>
            <a:ext cx="884988" cy="461665"/>
          </a:xfrm>
          <a:prstGeom prst="rect">
            <a:avLst/>
          </a:prstGeom>
          <a:solidFill>
            <a:schemeClr val="accent2">
              <a:lumMod val="40000"/>
              <a:lumOff val="60000"/>
            </a:schemeClr>
          </a:solidFill>
          <a:ln>
            <a:solidFill>
              <a:schemeClr val="tx1"/>
            </a:solidFill>
          </a:ln>
        </p:spPr>
        <p:txBody>
          <a:bodyPr wrap="square" rtlCol="0">
            <a:spAutoFit/>
          </a:bodyPr>
          <a:lstStyle/>
          <a:p>
            <a:r>
              <a:rPr lang="en-AU" sz="800" dirty="0"/>
              <a:t>COMMENT CREATION FUNCTION</a:t>
            </a:r>
          </a:p>
        </p:txBody>
      </p:sp>
      <p:sp>
        <p:nvSpPr>
          <p:cNvPr id="46" name="TextBox 45"/>
          <p:cNvSpPr txBox="1"/>
          <p:nvPr/>
        </p:nvSpPr>
        <p:spPr>
          <a:xfrm>
            <a:off x="10934138" y="5156990"/>
            <a:ext cx="1159577" cy="584775"/>
          </a:xfrm>
          <a:prstGeom prst="rect">
            <a:avLst/>
          </a:prstGeom>
          <a:solidFill>
            <a:schemeClr val="accent6">
              <a:lumMod val="40000"/>
              <a:lumOff val="60000"/>
            </a:schemeClr>
          </a:solidFill>
          <a:ln>
            <a:solidFill>
              <a:schemeClr val="tx1"/>
            </a:solidFill>
          </a:ln>
        </p:spPr>
        <p:txBody>
          <a:bodyPr wrap="square" rtlCol="0">
            <a:spAutoFit/>
          </a:bodyPr>
          <a:lstStyle/>
          <a:p>
            <a:r>
              <a:rPr lang="en-AU" sz="800" dirty="0"/>
              <a:t>eSports Forum</a:t>
            </a:r>
          </a:p>
          <a:p>
            <a:endParaRPr lang="en-AU" sz="800" dirty="0"/>
          </a:p>
          <a:p>
            <a:r>
              <a:rPr lang="en-AU" sz="800" dirty="0"/>
              <a:t>Comment creation form, Data upload</a:t>
            </a:r>
          </a:p>
        </p:txBody>
      </p:sp>
      <p:sp>
        <p:nvSpPr>
          <p:cNvPr id="47" name="TextBox 46"/>
          <p:cNvSpPr txBox="1"/>
          <p:nvPr/>
        </p:nvSpPr>
        <p:spPr>
          <a:xfrm>
            <a:off x="9531636" y="5940926"/>
            <a:ext cx="1159577" cy="338554"/>
          </a:xfrm>
          <a:prstGeom prst="rect">
            <a:avLst/>
          </a:prstGeom>
          <a:solidFill>
            <a:schemeClr val="accent6">
              <a:lumMod val="40000"/>
              <a:lumOff val="60000"/>
            </a:schemeClr>
          </a:solidFill>
          <a:ln>
            <a:solidFill>
              <a:schemeClr val="tx1"/>
            </a:solidFill>
          </a:ln>
        </p:spPr>
        <p:txBody>
          <a:bodyPr wrap="square" rtlCol="0">
            <a:spAutoFit/>
          </a:bodyPr>
          <a:lstStyle/>
          <a:p>
            <a:r>
              <a:rPr lang="en-AU" sz="800" dirty="0"/>
              <a:t>eSports Team Page</a:t>
            </a:r>
          </a:p>
          <a:p>
            <a:endParaRPr lang="en-AU" sz="800" dirty="0"/>
          </a:p>
        </p:txBody>
      </p:sp>
      <p:sp>
        <p:nvSpPr>
          <p:cNvPr id="48" name="TextBox 47"/>
          <p:cNvSpPr txBox="1"/>
          <p:nvPr/>
        </p:nvSpPr>
        <p:spPr>
          <a:xfrm>
            <a:off x="8129134" y="5828008"/>
            <a:ext cx="1159577" cy="461665"/>
          </a:xfrm>
          <a:prstGeom prst="rect">
            <a:avLst/>
          </a:prstGeom>
          <a:solidFill>
            <a:schemeClr val="accent6">
              <a:lumMod val="40000"/>
              <a:lumOff val="60000"/>
            </a:schemeClr>
          </a:solidFill>
          <a:ln>
            <a:solidFill>
              <a:schemeClr val="tx1"/>
            </a:solidFill>
          </a:ln>
        </p:spPr>
        <p:txBody>
          <a:bodyPr wrap="square" rtlCol="0">
            <a:spAutoFit/>
          </a:bodyPr>
          <a:lstStyle/>
          <a:p>
            <a:r>
              <a:rPr lang="en-AU" sz="800" dirty="0"/>
              <a:t>Home page</a:t>
            </a:r>
          </a:p>
          <a:p>
            <a:endParaRPr lang="en-AU" sz="800" dirty="0"/>
          </a:p>
          <a:p>
            <a:r>
              <a:rPr lang="en-AU" sz="800" dirty="0"/>
              <a:t>Data presentation</a:t>
            </a:r>
          </a:p>
        </p:txBody>
      </p:sp>
      <p:sp>
        <p:nvSpPr>
          <p:cNvPr id="49" name="TextBox 48"/>
          <p:cNvSpPr txBox="1"/>
          <p:nvPr/>
        </p:nvSpPr>
        <p:spPr>
          <a:xfrm>
            <a:off x="9627351" y="4739827"/>
            <a:ext cx="884988" cy="461665"/>
          </a:xfrm>
          <a:prstGeom prst="rect">
            <a:avLst/>
          </a:prstGeom>
          <a:solidFill>
            <a:schemeClr val="accent2">
              <a:lumMod val="40000"/>
              <a:lumOff val="60000"/>
            </a:schemeClr>
          </a:solidFill>
          <a:ln>
            <a:solidFill>
              <a:schemeClr val="tx1"/>
            </a:solidFill>
          </a:ln>
        </p:spPr>
        <p:txBody>
          <a:bodyPr wrap="square" rtlCol="0">
            <a:spAutoFit/>
          </a:bodyPr>
          <a:lstStyle/>
          <a:p>
            <a:r>
              <a:rPr lang="en-AU" sz="800" dirty="0"/>
              <a:t>THREAD CREATION FUNCTION</a:t>
            </a:r>
          </a:p>
        </p:txBody>
      </p:sp>
      <p:sp>
        <p:nvSpPr>
          <p:cNvPr id="50" name="TextBox 49"/>
          <p:cNvSpPr txBox="1"/>
          <p:nvPr/>
        </p:nvSpPr>
        <p:spPr>
          <a:xfrm>
            <a:off x="10934140" y="5841094"/>
            <a:ext cx="1159577" cy="461665"/>
          </a:xfrm>
          <a:prstGeom prst="rect">
            <a:avLst/>
          </a:prstGeom>
          <a:solidFill>
            <a:schemeClr val="accent6">
              <a:lumMod val="40000"/>
              <a:lumOff val="60000"/>
            </a:schemeClr>
          </a:solidFill>
          <a:ln>
            <a:solidFill>
              <a:schemeClr val="tx1"/>
            </a:solidFill>
          </a:ln>
        </p:spPr>
        <p:txBody>
          <a:bodyPr wrap="square" rtlCol="0">
            <a:spAutoFit/>
          </a:bodyPr>
          <a:lstStyle/>
          <a:p>
            <a:r>
              <a:rPr lang="en-AU" sz="800" dirty="0"/>
              <a:t>eSports Team Schedule</a:t>
            </a:r>
          </a:p>
          <a:p>
            <a:endParaRPr lang="en-AU" sz="800" dirty="0"/>
          </a:p>
          <a:p>
            <a:r>
              <a:rPr lang="en-AU" sz="800" dirty="0"/>
              <a:t>Data repository </a:t>
            </a:r>
          </a:p>
        </p:txBody>
      </p:sp>
      <p:sp>
        <p:nvSpPr>
          <p:cNvPr id="12" name="Title 1"/>
          <p:cNvSpPr txBox="1">
            <a:spLocks/>
          </p:cNvSpPr>
          <p:nvPr/>
        </p:nvSpPr>
        <p:spPr>
          <a:xfrm>
            <a:off x="8257921" y="4747492"/>
            <a:ext cx="1158530" cy="1215857"/>
          </a:xfrm>
          <a:prstGeom prst="rect">
            <a:avLst/>
          </a:prstGeom>
        </p:spPr>
        <p:txBody>
          <a:bodyPr vert="horz" lIns="91440" tIns="45721" rIns="91440" bIns="45721"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sz="1801" b="1" dirty="0">
                <a:solidFill>
                  <a:srgbClr val="FF0000"/>
                </a:solidFill>
              </a:rPr>
              <a:t>SITE MAP</a:t>
            </a:r>
          </a:p>
        </p:txBody>
      </p:sp>
      <p:cxnSp>
        <p:nvCxnSpPr>
          <p:cNvPr id="13" name="Straight Arrow Connector 12"/>
          <p:cNvCxnSpPr>
            <a:endCxn id="47" idx="1"/>
          </p:cNvCxnSpPr>
          <p:nvPr/>
        </p:nvCxnSpPr>
        <p:spPr>
          <a:xfrm>
            <a:off x="9288709" y="6039736"/>
            <a:ext cx="242927" cy="7046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endCxn id="2" idx="1"/>
          </p:cNvCxnSpPr>
          <p:nvPr/>
        </p:nvCxnSpPr>
        <p:spPr>
          <a:xfrm flipV="1">
            <a:off x="9288705" y="5540718"/>
            <a:ext cx="201354" cy="34375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2" idx="0"/>
            <a:endCxn id="49" idx="2"/>
          </p:cNvCxnSpPr>
          <p:nvPr/>
        </p:nvCxnSpPr>
        <p:spPr>
          <a:xfrm flipH="1" flipV="1">
            <a:off x="10069847" y="5201492"/>
            <a:ext cx="3" cy="10839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endCxn id="46" idx="1"/>
          </p:cNvCxnSpPr>
          <p:nvPr/>
        </p:nvCxnSpPr>
        <p:spPr>
          <a:xfrm flipV="1">
            <a:off x="10649636" y="5449376"/>
            <a:ext cx="284500" cy="7676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endCxn id="50" idx="1"/>
          </p:cNvCxnSpPr>
          <p:nvPr/>
        </p:nvCxnSpPr>
        <p:spPr>
          <a:xfrm flipV="1">
            <a:off x="10670423" y="6071925"/>
            <a:ext cx="263717" cy="2427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46" idx="0"/>
            <a:endCxn id="45" idx="2"/>
          </p:cNvCxnSpPr>
          <p:nvPr/>
        </p:nvCxnSpPr>
        <p:spPr>
          <a:xfrm flipH="1" flipV="1">
            <a:off x="11513924" y="5023443"/>
            <a:ext cx="3" cy="13354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9416456" y="6402586"/>
            <a:ext cx="1159577" cy="338554"/>
          </a:xfrm>
          <a:prstGeom prst="rect">
            <a:avLst/>
          </a:prstGeom>
          <a:solidFill>
            <a:schemeClr val="accent6">
              <a:lumMod val="40000"/>
              <a:lumOff val="60000"/>
            </a:schemeClr>
          </a:solidFill>
          <a:ln>
            <a:solidFill>
              <a:schemeClr val="tx1"/>
            </a:solidFill>
          </a:ln>
        </p:spPr>
        <p:txBody>
          <a:bodyPr wrap="square" rtlCol="0">
            <a:spAutoFit/>
          </a:bodyPr>
          <a:lstStyle/>
          <a:p>
            <a:r>
              <a:rPr lang="en-AU" sz="800" dirty="0"/>
              <a:t>eSports Alert Registration</a:t>
            </a:r>
          </a:p>
        </p:txBody>
      </p:sp>
      <p:cxnSp>
        <p:nvCxnSpPr>
          <p:cNvPr id="19" name="Straight Arrow Connector 18"/>
          <p:cNvCxnSpPr>
            <a:endCxn id="17" idx="1"/>
          </p:cNvCxnSpPr>
          <p:nvPr/>
        </p:nvCxnSpPr>
        <p:spPr>
          <a:xfrm>
            <a:off x="8811259" y="6241175"/>
            <a:ext cx="605197" cy="33068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10934135" y="6399515"/>
            <a:ext cx="884988" cy="338554"/>
          </a:xfrm>
          <a:prstGeom prst="rect">
            <a:avLst/>
          </a:prstGeom>
          <a:solidFill>
            <a:schemeClr val="accent2">
              <a:lumMod val="40000"/>
              <a:lumOff val="60000"/>
            </a:schemeClr>
          </a:solidFill>
          <a:ln>
            <a:solidFill>
              <a:schemeClr val="tx1"/>
            </a:solidFill>
          </a:ln>
        </p:spPr>
        <p:txBody>
          <a:bodyPr wrap="square" rtlCol="0">
            <a:spAutoFit/>
          </a:bodyPr>
          <a:lstStyle/>
          <a:p>
            <a:r>
              <a:rPr lang="en-AU" sz="800" dirty="0"/>
              <a:t>CREATE ALERT FUNCTION</a:t>
            </a:r>
          </a:p>
        </p:txBody>
      </p:sp>
      <p:cxnSp>
        <p:nvCxnSpPr>
          <p:cNvPr id="21" name="Straight Arrow Connector 20"/>
          <p:cNvCxnSpPr>
            <a:endCxn id="20" idx="1"/>
          </p:cNvCxnSpPr>
          <p:nvPr/>
        </p:nvCxnSpPr>
        <p:spPr>
          <a:xfrm>
            <a:off x="10576029" y="6554782"/>
            <a:ext cx="358106" cy="1401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p:nvPicPr>
        <p:blipFill>
          <a:blip r:embed="rId2"/>
          <a:stretch>
            <a:fillRect/>
          </a:stretch>
        </p:blipFill>
        <p:spPr>
          <a:xfrm>
            <a:off x="7233068" y="371839"/>
            <a:ext cx="1792124" cy="3893735"/>
          </a:xfrm>
          <a:prstGeom prst="rect">
            <a:avLst/>
          </a:prstGeom>
          <a:ln>
            <a:solidFill>
              <a:srgbClr val="00B050"/>
            </a:solidFill>
          </a:ln>
        </p:spPr>
      </p:pic>
      <p:pic>
        <p:nvPicPr>
          <p:cNvPr id="8" name="Picture 7"/>
          <p:cNvPicPr>
            <a:picLocks noChangeAspect="1"/>
          </p:cNvPicPr>
          <p:nvPr/>
        </p:nvPicPr>
        <p:blipFill>
          <a:blip r:embed="rId3"/>
          <a:stretch>
            <a:fillRect/>
          </a:stretch>
        </p:blipFill>
        <p:spPr>
          <a:xfrm>
            <a:off x="10183932" y="371839"/>
            <a:ext cx="1788933" cy="3893735"/>
          </a:xfrm>
          <a:prstGeom prst="rect">
            <a:avLst/>
          </a:prstGeom>
          <a:ln>
            <a:solidFill>
              <a:srgbClr val="00B050"/>
            </a:solidFill>
          </a:ln>
        </p:spPr>
      </p:pic>
      <p:pic>
        <p:nvPicPr>
          <p:cNvPr id="9" name="Picture 8"/>
          <p:cNvPicPr>
            <a:picLocks noChangeAspect="1"/>
          </p:cNvPicPr>
          <p:nvPr/>
        </p:nvPicPr>
        <p:blipFill>
          <a:blip r:embed="rId4"/>
          <a:stretch>
            <a:fillRect/>
          </a:stretch>
        </p:blipFill>
        <p:spPr>
          <a:xfrm>
            <a:off x="4457745" y="371839"/>
            <a:ext cx="1794769" cy="3893735"/>
          </a:xfrm>
          <a:prstGeom prst="rect">
            <a:avLst/>
          </a:prstGeom>
          <a:ln>
            <a:solidFill>
              <a:srgbClr val="00B050"/>
            </a:solidFill>
          </a:ln>
        </p:spPr>
      </p:pic>
      <p:sp>
        <p:nvSpPr>
          <p:cNvPr id="27" name="TextBox 26"/>
          <p:cNvSpPr txBox="1"/>
          <p:nvPr/>
        </p:nvSpPr>
        <p:spPr>
          <a:xfrm>
            <a:off x="9782211" y="4216931"/>
            <a:ext cx="2222468" cy="246349"/>
          </a:xfrm>
          <a:prstGeom prst="rect">
            <a:avLst/>
          </a:prstGeom>
          <a:solidFill>
            <a:schemeClr val="bg1"/>
          </a:solidFill>
          <a:ln>
            <a:solidFill>
              <a:srgbClr val="00B050"/>
            </a:solidFill>
          </a:ln>
        </p:spPr>
        <p:txBody>
          <a:bodyPr wrap="square" rtlCol="0">
            <a:spAutoFit/>
          </a:bodyPr>
          <a:lstStyle/>
          <a:p>
            <a:r>
              <a:rPr lang="en-AU" sz="1001" dirty="0"/>
              <a:t>Text coloured blue indicates hyperlinks</a:t>
            </a:r>
          </a:p>
        </p:txBody>
      </p:sp>
      <p:cxnSp>
        <p:nvCxnSpPr>
          <p:cNvPr id="30" name="Straight Arrow Connector 29"/>
          <p:cNvCxnSpPr/>
          <p:nvPr/>
        </p:nvCxnSpPr>
        <p:spPr>
          <a:xfrm flipV="1">
            <a:off x="5235581" y="2939540"/>
            <a:ext cx="119547" cy="567450"/>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31" name="Straight Connector 30"/>
          <p:cNvCxnSpPr/>
          <p:nvPr/>
        </p:nvCxnSpPr>
        <p:spPr>
          <a:xfrm>
            <a:off x="9944100" y="1200156"/>
            <a:ext cx="4196" cy="3016777"/>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9944104" y="1226763"/>
            <a:ext cx="274535" cy="80798"/>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38" name="Straight Arrow Connector 37"/>
          <p:cNvCxnSpPr/>
          <p:nvPr/>
        </p:nvCxnSpPr>
        <p:spPr>
          <a:xfrm>
            <a:off x="9944104" y="1697400"/>
            <a:ext cx="274535" cy="113609"/>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40" name="Straight Arrow Connector 39"/>
          <p:cNvCxnSpPr/>
          <p:nvPr/>
        </p:nvCxnSpPr>
        <p:spPr>
          <a:xfrm>
            <a:off x="9944104" y="2168035"/>
            <a:ext cx="274535" cy="150670"/>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42" name="Straight Arrow Connector 41"/>
          <p:cNvCxnSpPr/>
          <p:nvPr/>
        </p:nvCxnSpPr>
        <p:spPr>
          <a:xfrm>
            <a:off x="9949714" y="2708540"/>
            <a:ext cx="268922" cy="59113"/>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44" name="TextBox 43"/>
          <p:cNvSpPr txBox="1"/>
          <p:nvPr/>
        </p:nvSpPr>
        <p:spPr>
          <a:xfrm>
            <a:off x="4431231" y="125617"/>
            <a:ext cx="1155182" cy="246349"/>
          </a:xfrm>
          <a:prstGeom prst="rect">
            <a:avLst/>
          </a:prstGeom>
          <a:solidFill>
            <a:schemeClr val="bg1"/>
          </a:solidFill>
          <a:ln>
            <a:solidFill>
              <a:srgbClr val="00B050"/>
            </a:solidFill>
          </a:ln>
        </p:spPr>
        <p:txBody>
          <a:bodyPr wrap="square" rtlCol="0">
            <a:spAutoFit/>
          </a:bodyPr>
          <a:lstStyle/>
          <a:p>
            <a:r>
              <a:rPr lang="en-AU" sz="1001" dirty="0"/>
              <a:t>Banner and logo</a:t>
            </a:r>
          </a:p>
        </p:txBody>
      </p:sp>
      <p:cxnSp>
        <p:nvCxnSpPr>
          <p:cNvPr id="53" name="Straight Arrow Connector 52"/>
          <p:cNvCxnSpPr>
            <a:stCxn id="44" idx="3"/>
          </p:cNvCxnSpPr>
          <p:nvPr/>
        </p:nvCxnSpPr>
        <p:spPr>
          <a:xfrm>
            <a:off x="5586415" y="248790"/>
            <a:ext cx="395583" cy="236986"/>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54" name="Straight Arrow Connector 53"/>
          <p:cNvCxnSpPr>
            <a:stCxn id="44" idx="1"/>
          </p:cNvCxnSpPr>
          <p:nvPr/>
        </p:nvCxnSpPr>
        <p:spPr>
          <a:xfrm>
            <a:off x="4431231" y="248790"/>
            <a:ext cx="26510" cy="360096"/>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55" name="TextBox 54"/>
          <p:cNvSpPr txBox="1"/>
          <p:nvPr/>
        </p:nvSpPr>
        <p:spPr>
          <a:xfrm>
            <a:off x="4629023" y="3506989"/>
            <a:ext cx="1155182" cy="400366"/>
          </a:xfrm>
          <a:prstGeom prst="rect">
            <a:avLst/>
          </a:prstGeom>
          <a:solidFill>
            <a:schemeClr val="bg1"/>
          </a:solidFill>
          <a:ln>
            <a:solidFill>
              <a:srgbClr val="00B050"/>
            </a:solidFill>
          </a:ln>
        </p:spPr>
        <p:txBody>
          <a:bodyPr wrap="square" rtlCol="0">
            <a:spAutoFit/>
          </a:bodyPr>
          <a:lstStyle/>
          <a:p>
            <a:r>
              <a:rPr lang="en-AU" sz="1001" dirty="0"/>
              <a:t>Selection box, multiple-option</a:t>
            </a:r>
          </a:p>
        </p:txBody>
      </p:sp>
      <p:sp>
        <p:nvSpPr>
          <p:cNvPr id="57" name="TextBox 56"/>
          <p:cNvSpPr txBox="1"/>
          <p:nvPr/>
        </p:nvSpPr>
        <p:spPr>
          <a:xfrm>
            <a:off x="6328771" y="864473"/>
            <a:ext cx="842651" cy="1940531"/>
          </a:xfrm>
          <a:prstGeom prst="rect">
            <a:avLst/>
          </a:prstGeom>
          <a:solidFill>
            <a:schemeClr val="bg1"/>
          </a:solidFill>
          <a:ln>
            <a:solidFill>
              <a:srgbClr val="00B050"/>
            </a:solidFill>
          </a:ln>
        </p:spPr>
        <p:txBody>
          <a:bodyPr wrap="square" rtlCol="0">
            <a:spAutoFit/>
          </a:bodyPr>
          <a:lstStyle/>
          <a:p>
            <a:r>
              <a:rPr lang="en-AU" sz="1001" dirty="0"/>
              <a:t>User consent, acknowledgement of copyright and privacy principles associated with data upload and alert registration</a:t>
            </a:r>
          </a:p>
        </p:txBody>
      </p:sp>
      <p:cxnSp>
        <p:nvCxnSpPr>
          <p:cNvPr id="58" name="Straight Arrow Connector 57"/>
          <p:cNvCxnSpPr/>
          <p:nvPr/>
        </p:nvCxnSpPr>
        <p:spPr>
          <a:xfrm flipV="1">
            <a:off x="7171418" y="1428755"/>
            <a:ext cx="318736" cy="173317"/>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60" name="Straight Connector 59"/>
          <p:cNvCxnSpPr/>
          <p:nvPr/>
        </p:nvCxnSpPr>
        <p:spPr>
          <a:xfrm>
            <a:off x="6249437" y="1833966"/>
            <a:ext cx="108897" cy="0"/>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V="1">
            <a:off x="6244114" y="856251"/>
            <a:ext cx="1" cy="1909518"/>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flipH="1">
            <a:off x="6061448" y="856248"/>
            <a:ext cx="182663" cy="8222"/>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flipH="1">
            <a:off x="6085760" y="2751456"/>
            <a:ext cx="182663" cy="8222"/>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sp>
        <p:nvSpPr>
          <p:cNvPr id="72" name="TextBox 71"/>
          <p:cNvSpPr txBox="1"/>
          <p:nvPr/>
        </p:nvSpPr>
        <p:spPr>
          <a:xfrm>
            <a:off x="4233531" y="4150633"/>
            <a:ext cx="5250729" cy="708399"/>
          </a:xfrm>
          <a:prstGeom prst="rect">
            <a:avLst/>
          </a:prstGeom>
          <a:solidFill>
            <a:schemeClr val="bg1"/>
          </a:solidFill>
          <a:ln>
            <a:solidFill>
              <a:srgbClr val="00B050"/>
            </a:solidFill>
          </a:ln>
        </p:spPr>
        <p:txBody>
          <a:bodyPr wrap="square" rtlCol="0">
            <a:spAutoFit/>
          </a:bodyPr>
          <a:lstStyle/>
          <a:p>
            <a:r>
              <a:rPr lang="en-AU" sz="1001" dirty="0"/>
              <a:t>The above wireframes demonstrate visual communication elements and principles in the form of alignment and placement of the entities within the page.  Boxes for entering fields and affirming Boolean values are evenly spaced throughout the page, attributing to useability and learnability within the page</a:t>
            </a:r>
          </a:p>
        </p:txBody>
      </p:sp>
      <p:cxnSp>
        <p:nvCxnSpPr>
          <p:cNvPr id="51" name="Straight Arrow Connector 50"/>
          <p:cNvCxnSpPr/>
          <p:nvPr/>
        </p:nvCxnSpPr>
        <p:spPr>
          <a:xfrm flipH="1" flipV="1">
            <a:off x="5955487" y="3810000"/>
            <a:ext cx="26510" cy="327644"/>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52" name="Straight Arrow Connector 51"/>
          <p:cNvCxnSpPr/>
          <p:nvPr/>
        </p:nvCxnSpPr>
        <p:spPr>
          <a:xfrm flipV="1">
            <a:off x="8148313" y="3810000"/>
            <a:ext cx="95142" cy="333730"/>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56" name="Straight Arrow Connector 55"/>
          <p:cNvCxnSpPr/>
          <p:nvPr/>
        </p:nvCxnSpPr>
        <p:spPr>
          <a:xfrm flipV="1">
            <a:off x="9426908" y="3855510"/>
            <a:ext cx="1059338" cy="353890"/>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61" name="TextBox 60"/>
          <p:cNvSpPr txBox="1"/>
          <p:nvPr/>
        </p:nvSpPr>
        <p:spPr>
          <a:xfrm>
            <a:off x="9070537" y="291120"/>
            <a:ext cx="968681" cy="862416"/>
          </a:xfrm>
          <a:prstGeom prst="rect">
            <a:avLst/>
          </a:prstGeom>
          <a:solidFill>
            <a:schemeClr val="bg1"/>
          </a:solidFill>
          <a:ln>
            <a:solidFill>
              <a:srgbClr val="00B050"/>
            </a:solidFill>
          </a:ln>
        </p:spPr>
        <p:txBody>
          <a:bodyPr wrap="square" rtlCol="0">
            <a:spAutoFit/>
          </a:bodyPr>
          <a:lstStyle/>
          <a:p>
            <a:r>
              <a:rPr lang="en-AU" sz="1001" dirty="0"/>
              <a:t>Use of breadcrumbs, three circles to signify opening of menu</a:t>
            </a:r>
          </a:p>
        </p:txBody>
      </p:sp>
      <p:cxnSp>
        <p:nvCxnSpPr>
          <p:cNvPr id="64" name="Straight Arrow Connector 63"/>
          <p:cNvCxnSpPr/>
          <p:nvPr/>
        </p:nvCxnSpPr>
        <p:spPr>
          <a:xfrm>
            <a:off x="10039215" y="590638"/>
            <a:ext cx="671034" cy="168565"/>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65" name="Straight Arrow Connector 64"/>
          <p:cNvCxnSpPr>
            <a:stCxn id="61" idx="3"/>
          </p:cNvCxnSpPr>
          <p:nvPr/>
        </p:nvCxnSpPr>
        <p:spPr>
          <a:xfrm>
            <a:off x="10039218" y="722328"/>
            <a:ext cx="220745" cy="162550"/>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68" name="TextBox 67"/>
          <p:cNvSpPr txBox="1"/>
          <p:nvPr/>
        </p:nvSpPr>
        <p:spPr>
          <a:xfrm>
            <a:off x="9070540" y="1199437"/>
            <a:ext cx="752377" cy="1016432"/>
          </a:xfrm>
          <a:prstGeom prst="rect">
            <a:avLst/>
          </a:prstGeom>
          <a:solidFill>
            <a:schemeClr val="bg1"/>
          </a:solidFill>
          <a:ln>
            <a:solidFill>
              <a:srgbClr val="00B050"/>
            </a:solidFill>
          </a:ln>
        </p:spPr>
        <p:txBody>
          <a:bodyPr wrap="square" rtlCol="0">
            <a:spAutoFit/>
          </a:bodyPr>
          <a:lstStyle/>
          <a:p>
            <a:r>
              <a:rPr lang="en-AU" sz="1001" dirty="0"/>
              <a:t>Universal symbols of common webpages within a web app</a:t>
            </a:r>
          </a:p>
        </p:txBody>
      </p:sp>
      <p:cxnSp>
        <p:nvCxnSpPr>
          <p:cNvPr id="69" name="Straight Connector 68"/>
          <p:cNvCxnSpPr>
            <a:stCxn id="68" idx="3"/>
          </p:cNvCxnSpPr>
          <p:nvPr/>
        </p:nvCxnSpPr>
        <p:spPr>
          <a:xfrm flipV="1">
            <a:off x="9822917" y="1704276"/>
            <a:ext cx="130293" cy="3379"/>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sp>
        <p:nvSpPr>
          <p:cNvPr id="74" name="TextBox 73"/>
          <p:cNvSpPr txBox="1"/>
          <p:nvPr/>
        </p:nvSpPr>
        <p:spPr>
          <a:xfrm>
            <a:off x="4233531" y="4956286"/>
            <a:ext cx="3821999" cy="1632498"/>
          </a:xfrm>
          <a:prstGeom prst="rect">
            <a:avLst/>
          </a:prstGeom>
          <a:solidFill>
            <a:schemeClr val="bg1"/>
          </a:solidFill>
          <a:ln>
            <a:solidFill>
              <a:srgbClr val="00B050"/>
            </a:solidFill>
          </a:ln>
        </p:spPr>
        <p:txBody>
          <a:bodyPr wrap="square" rtlCol="0">
            <a:spAutoFit/>
          </a:bodyPr>
          <a:lstStyle/>
          <a:p>
            <a:r>
              <a:rPr lang="en-AU" sz="1001" dirty="0"/>
              <a:t>Through creating templates with elements of breadcrumbs, site maps are integral in indicating the paradigm of the web app. Whilst there are more to added to this site map seen to the right, this site map indicates all front-end elements that hold functions. Understanding the relationships between entities is important within the developer view, and helps to understand how a user interacts within the app.</a:t>
            </a:r>
          </a:p>
          <a:p>
            <a:endParaRPr lang="en-AU" sz="1001" dirty="0"/>
          </a:p>
          <a:p>
            <a:r>
              <a:rPr lang="en-AU" sz="1001" dirty="0"/>
              <a:t>Outlining the site map also indicates the significance of navigation throughout a given web app, as the greater the complexity of the site map, the more useability and learnability techniques should be used</a:t>
            </a:r>
          </a:p>
        </p:txBody>
      </p:sp>
      <p:cxnSp>
        <p:nvCxnSpPr>
          <p:cNvPr id="75" name="Straight Connector 74"/>
          <p:cNvCxnSpPr/>
          <p:nvPr/>
        </p:nvCxnSpPr>
        <p:spPr>
          <a:xfrm flipH="1" flipV="1">
            <a:off x="4257483" y="200555"/>
            <a:ext cx="24012" cy="3706549"/>
          </a:xfrm>
          <a:prstGeom prst="line">
            <a:avLst/>
          </a:prstGeom>
        </p:spPr>
        <p:style>
          <a:lnRef idx="1">
            <a:schemeClr val="accent6"/>
          </a:lnRef>
          <a:fillRef idx="0">
            <a:schemeClr val="accent6"/>
          </a:fillRef>
          <a:effectRef idx="0">
            <a:schemeClr val="accent6"/>
          </a:effectRef>
          <a:fontRef idx="minor">
            <a:schemeClr val="tx1"/>
          </a:fontRef>
        </p:style>
      </p:cxnSp>
      <p:sp>
        <p:nvSpPr>
          <p:cNvPr id="81" name="TextBox 80"/>
          <p:cNvSpPr txBox="1"/>
          <p:nvPr/>
        </p:nvSpPr>
        <p:spPr>
          <a:xfrm>
            <a:off x="6291448" y="2957163"/>
            <a:ext cx="899854" cy="862416"/>
          </a:xfrm>
          <a:prstGeom prst="rect">
            <a:avLst/>
          </a:prstGeom>
          <a:solidFill>
            <a:schemeClr val="bg1"/>
          </a:solidFill>
          <a:ln>
            <a:solidFill>
              <a:srgbClr val="00B050"/>
            </a:solidFill>
          </a:ln>
        </p:spPr>
        <p:txBody>
          <a:bodyPr wrap="square" rtlCol="0">
            <a:spAutoFit/>
          </a:bodyPr>
          <a:lstStyle/>
          <a:p>
            <a:r>
              <a:rPr lang="en-AU" sz="1001" dirty="0"/>
              <a:t>Image to demonstrate a given option within a form</a:t>
            </a:r>
          </a:p>
        </p:txBody>
      </p:sp>
      <p:cxnSp>
        <p:nvCxnSpPr>
          <p:cNvPr id="82" name="Straight Arrow Connector 81"/>
          <p:cNvCxnSpPr>
            <a:stCxn id="81" idx="3"/>
          </p:cNvCxnSpPr>
          <p:nvPr/>
        </p:nvCxnSpPr>
        <p:spPr>
          <a:xfrm>
            <a:off x="7191302" y="3388373"/>
            <a:ext cx="1052156" cy="118621"/>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85" name="TextBox 84"/>
          <p:cNvSpPr txBox="1"/>
          <p:nvPr/>
        </p:nvSpPr>
        <p:spPr>
          <a:xfrm>
            <a:off x="9097519" y="2521923"/>
            <a:ext cx="804784" cy="1170449"/>
          </a:xfrm>
          <a:prstGeom prst="rect">
            <a:avLst/>
          </a:prstGeom>
          <a:solidFill>
            <a:schemeClr val="bg1"/>
          </a:solidFill>
          <a:ln>
            <a:solidFill>
              <a:srgbClr val="00B050"/>
            </a:solidFill>
          </a:ln>
        </p:spPr>
        <p:txBody>
          <a:bodyPr wrap="square" rtlCol="0">
            <a:spAutoFit/>
          </a:bodyPr>
          <a:lstStyle/>
          <a:p>
            <a:r>
              <a:rPr lang="en-AU" sz="1001" dirty="0"/>
              <a:t>Disclaimers and descriptions for users within options and forms</a:t>
            </a:r>
          </a:p>
        </p:txBody>
      </p:sp>
      <p:cxnSp>
        <p:nvCxnSpPr>
          <p:cNvPr id="86" name="Straight Arrow Connector 85"/>
          <p:cNvCxnSpPr/>
          <p:nvPr/>
        </p:nvCxnSpPr>
        <p:spPr>
          <a:xfrm flipH="1" flipV="1">
            <a:off x="8704466" y="1783547"/>
            <a:ext cx="404615" cy="752076"/>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88" name="Straight Arrow Connector 87"/>
          <p:cNvCxnSpPr/>
          <p:nvPr/>
        </p:nvCxnSpPr>
        <p:spPr>
          <a:xfrm flipH="1" flipV="1">
            <a:off x="8777400" y="3072629"/>
            <a:ext cx="313282" cy="138059"/>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92" name="Straight Arrow Connector 91"/>
          <p:cNvCxnSpPr/>
          <p:nvPr/>
        </p:nvCxnSpPr>
        <p:spPr>
          <a:xfrm flipH="1" flipV="1">
            <a:off x="7330786" y="4668176"/>
            <a:ext cx="72352" cy="283381"/>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94" name="Straight Arrow Connector 93"/>
          <p:cNvCxnSpPr/>
          <p:nvPr/>
        </p:nvCxnSpPr>
        <p:spPr>
          <a:xfrm flipV="1">
            <a:off x="8058920" y="5550174"/>
            <a:ext cx="281106" cy="64450"/>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98" name="Straight Arrow Connector 97"/>
          <p:cNvCxnSpPr/>
          <p:nvPr/>
        </p:nvCxnSpPr>
        <p:spPr>
          <a:xfrm flipH="1">
            <a:off x="9025197" y="5614626"/>
            <a:ext cx="1" cy="326302"/>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pic>
        <p:nvPicPr>
          <p:cNvPr id="3" name="Picture 2"/>
          <p:cNvPicPr>
            <a:picLocks noChangeAspect="1"/>
          </p:cNvPicPr>
          <p:nvPr/>
        </p:nvPicPr>
        <p:blipFill>
          <a:blip r:embed="rId5"/>
          <a:stretch>
            <a:fillRect/>
          </a:stretch>
        </p:blipFill>
        <p:spPr>
          <a:xfrm>
            <a:off x="125137" y="766383"/>
            <a:ext cx="3568089" cy="3573654"/>
          </a:xfrm>
          <a:prstGeom prst="rect">
            <a:avLst/>
          </a:prstGeom>
          <a:ln>
            <a:noFill/>
          </a:ln>
        </p:spPr>
      </p:pic>
      <p:pic>
        <p:nvPicPr>
          <p:cNvPr id="4" name="Picture 3"/>
          <p:cNvPicPr>
            <a:picLocks noChangeAspect="1"/>
          </p:cNvPicPr>
          <p:nvPr/>
        </p:nvPicPr>
        <p:blipFill>
          <a:blip r:embed="rId6"/>
          <a:stretch>
            <a:fillRect/>
          </a:stretch>
        </p:blipFill>
        <p:spPr>
          <a:xfrm>
            <a:off x="121745" y="4300033"/>
            <a:ext cx="3510481" cy="2410016"/>
          </a:xfrm>
          <a:prstGeom prst="rect">
            <a:avLst/>
          </a:prstGeom>
          <a:ln>
            <a:noFill/>
          </a:ln>
        </p:spPr>
      </p:pic>
      <p:sp>
        <p:nvSpPr>
          <p:cNvPr id="67" name="TextBox 66"/>
          <p:cNvSpPr txBox="1"/>
          <p:nvPr/>
        </p:nvSpPr>
        <p:spPr>
          <a:xfrm>
            <a:off x="2103521" y="721889"/>
            <a:ext cx="2032779" cy="5944961"/>
          </a:xfrm>
          <a:prstGeom prst="rect">
            <a:avLst/>
          </a:prstGeom>
          <a:solidFill>
            <a:schemeClr val="bg1"/>
          </a:solidFill>
          <a:ln>
            <a:solidFill>
              <a:srgbClr val="00B050"/>
            </a:solidFill>
          </a:ln>
        </p:spPr>
        <p:txBody>
          <a:bodyPr wrap="square" rtlCol="0">
            <a:spAutoFit/>
          </a:bodyPr>
          <a:lstStyle/>
          <a:p>
            <a:r>
              <a:rPr lang="en-AU" sz="1001" dirty="0"/>
              <a:t>Banner and logo with username and password fields. These fields use the visual communication element of alignment with the visual communication principle of proximity. </a:t>
            </a:r>
          </a:p>
          <a:p>
            <a:endParaRPr lang="en-AU" sz="1001" dirty="0"/>
          </a:p>
          <a:p>
            <a:r>
              <a:rPr lang="en-AU" sz="1001" dirty="0"/>
              <a:t>The retyping of the password is common within registration pages as retyping the password strengthens the memory the user will have with the password.</a:t>
            </a:r>
          </a:p>
          <a:p>
            <a:endParaRPr lang="en-AU" sz="1001" dirty="0"/>
          </a:p>
          <a:p>
            <a:r>
              <a:rPr lang="en-AU" sz="1001" dirty="0"/>
              <a:t>Email and First name are also common, and can link a person to an accounts. This is particularly useful for </a:t>
            </a:r>
            <a:r>
              <a:rPr lang="en-AU" sz="1001" dirty="0" err="1"/>
              <a:t>eSport</a:t>
            </a:r>
            <a:r>
              <a:rPr lang="en-AU" sz="1001" dirty="0"/>
              <a:t> professionals, who wish to spread their name and can get contracts through e-mails, thus making the FIFA Web app more suitable for professional FIFA eSports, Age is also important for professional eSports and may be used for safety functions. Age, unlike the previous fields use a scroll=down menu for options.</a:t>
            </a:r>
          </a:p>
          <a:p>
            <a:endParaRPr lang="en-AU" sz="1001" dirty="0"/>
          </a:p>
          <a:p>
            <a:r>
              <a:rPr lang="en-AU" sz="1001" dirty="0"/>
              <a:t>Multiple-choice fields are used within characterisation for creation of the FIFA follower’s account. Options such as ‘favourite top team’ and ‘favourite FIFA </a:t>
            </a:r>
            <a:r>
              <a:rPr lang="en-AU" sz="1001" dirty="0" err="1"/>
              <a:t>gamemode</a:t>
            </a:r>
            <a:r>
              <a:rPr lang="en-AU" sz="1001" dirty="0"/>
              <a:t>’ give the option of using algorithms for users to access an environment more suited to their likes and with people with similar tastes, thus making it more likely for users to stay on the site.</a:t>
            </a:r>
          </a:p>
        </p:txBody>
      </p:sp>
      <p:cxnSp>
        <p:nvCxnSpPr>
          <p:cNvPr id="70" name="Straight Arrow Connector 69"/>
          <p:cNvCxnSpPr/>
          <p:nvPr/>
        </p:nvCxnSpPr>
        <p:spPr>
          <a:xfrm flipH="1">
            <a:off x="1623224" y="1249616"/>
            <a:ext cx="471892" cy="67986"/>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73" name="Straight Arrow Connector 72"/>
          <p:cNvCxnSpPr/>
          <p:nvPr/>
        </p:nvCxnSpPr>
        <p:spPr>
          <a:xfrm flipH="1">
            <a:off x="1623224" y="1704277"/>
            <a:ext cx="519228" cy="1"/>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76" name="Straight Arrow Connector 75"/>
          <p:cNvCxnSpPr/>
          <p:nvPr/>
        </p:nvCxnSpPr>
        <p:spPr>
          <a:xfrm flipH="1" flipV="1">
            <a:off x="1693065" y="2034842"/>
            <a:ext cx="422818" cy="9102"/>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78" name="Straight Connector 77"/>
          <p:cNvCxnSpPr/>
          <p:nvPr/>
        </p:nvCxnSpPr>
        <p:spPr>
          <a:xfrm flipV="1">
            <a:off x="1757095" y="2299202"/>
            <a:ext cx="24978" cy="1316345"/>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576847" y="2264392"/>
            <a:ext cx="212030" cy="86570"/>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flipV="1">
            <a:off x="1619236" y="3615547"/>
            <a:ext cx="133547" cy="78981"/>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788913" y="2843624"/>
            <a:ext cx="319954" cy="191828"/>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693063" y="5071107"/>
            <a:ext cx="415804" cy="277706"/>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p:nvPr/>
        </p:nvCxnSpPr>
        <p:spPr>
          <a:xfrm>
            <a:off x="1677153" y="3973827"/>
            <a:ext cx="2304" cy="2267351"/>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p:nvPr/>
        </p:nvCxnSpPr>
        <p:spPr>
          <a:xfrm>
            <a:off x="1362950" y="3855507"/>
            <a:ext cx="314204" cy="165228"/>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a:xfrm flipV="1">
            <a:off x="1434231" y="6211308"/>
            <a:ext cx="239570" cy="129569"/>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sp>
        <p:nvSpPr>
          <p:cNvPr id="104" name="TextBox 103"/>
          <p:cNvSpPr txBox="1"/>
          <p:nvPr/>
        </p:nvSpPr>
        <p:spPr>
          <a:xfrm>
            <a:off x="62342" y="6416440"/>
            <a:ext cx="2032779" cy="400366"/>
          </a:xfrm>
          <a:prstGeom prst="rect">
            <a:avLst/>
          </a:prstGeom>
          <a:solidFill>
            <a:schemeClr val="bg1"/>
          </a:solidFill>
          <a:ln>
            <a:solidFill>
              <a:srgbClr val="00B050"/>
            </a:solidFill>
          </a:ln>
        </p:spPr>
        <p:txBody>
          <a:bodyPr wrap="square" rtlCol="0">
            <a:spAutoFit/>
          </a:bodyPr>
          <a:lstStyle/>
          <a:p>
            <a:r>
              <a:rPr lang="en-AU" sz="1001" dirty="0"/>
              <a:t>This form was created with </a:t>
            </a:r>
            <a:r>
              <a:rPr lang="en-AU" sz="1001" dirty="0" err="1"/>
              <a:t>wufoo</a:t>
            </a:r>
            <a:r>
              <a:rPr lang="en-AU" sz="1001" dirty="0"/>
              <a:t> (</a:t>
            </a:r>
            <a:r>
              <a:rPr lang="en-AU" sz="1001" dirty="0">
                <a:hlinkClick r:id="rId7"/>
              </a:rPr>
              <a:t>https://www.wufoo.com/</a:t>
            </a:r>
            <a:r>
              <a:rPr lang="en-AU" sz="1001" dirty="0"/>
              <a:t>)</a:t>
            </a:r>
          </a:p>
        </p:txBody>
      </p:sp>
    </p:spTree>
    <p:extLst>
      <p:ext uri="{BB962C8B-B14F-4D97-AF65-F5344CB8AC3E}">
        <p14:creationId xmlns:p14="http://schemas.microsoft.com/office/powerpoint/2010/main" val="33122895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 y="-290944"/>
            <a:ext cx="10515600" cy="1325563"/>
          </a:xfrm>
        </p:spPr>
        <p:txBody>
          <a:bodyPr>
            <a:normAutofit/>
          </a:bodyPr>
          <a:lstStyle/>
          <a:p>
            <a:r>
              <a:rPr lang="en-AU" sz="2400" b="1" dirty="0"/>
              <a:t>Development- User Interface and Data</a:t>
            </a:r>
          </a:p>
        </p:txBody>
      </p:sp>
      <p:sp>
        <p:nvSpPr>
          <p:cNvPr id="59" name="TextBox 58"/>
          <p:cNvSpPr txBox="1"/>
          <p:nvPr/>
        </p:nvSpPr>
        <p:spPr>
          <a:xfrm>
            <a:off x="6575342" y="959736"/>
            <a:ext cx="2810800" cy="1478482"/>
          </a:xfrm>
          <a:prstGeom prst="rect">
            <a:avLst/>
          </a:prstGeom>
          <a:solidFill>
            <a:schemeClr val="bg1"/>
          </a:solidFill>
          <a:ln>
            <a:solidFill>
              <a:srgbClr val="00B050"/>
            </a:solidFill>
          </a:ln>
        </p:spPr>
        <p:txBody>
          <a:bodyPr wrap="square" rtlCol="0">
            <a:spAutoFit/>
          </a:bodyPr>
          <a:lstStyle/>
          <a:p>
            <a:r>
              <a:rPr lang="en-AU" sz="1001" dirty="0">
                <a:latin typeface="Courier New" panose="02070309020205020404" pitchFamily="49" charset="0"/>
                <a:cs typeface="Courier New" panose="02070309020205020404" pitchFamily="49" charset="0"/>
              </a:rPr>
              <a:t>CREATE TABLE User {</a:t>
            </a:r>
          </a:p>
          <a:p>
            <a:r>
              <a:rPr lang="en-AU" sz="1001" dirty="0">
                <a:latin typeface="Courier New" panose="02070309020205020404" pitchFamily="49" charset="0"/>
                <a:cs typeface="Courier New" panose="02070309020205020404" pitchFamily="49" charset="0"/>
              </a:rPr>
              <a:t>id integer NOT NULL UNIQUE PRIMARY AUTOINCREMENT,</a:t>
            </a:r>
          </a:p>
          <a:p>
            <a:r>
              <a:rPr lang="en-AU" sz="1001" dirty="0">
                <a:latin typeface="Courier New" panose="02070309020205020404" pitchFamily="49" charset="0"/>
                <a:cs typeface="Courier New" panose="02070309020205020404" pitchFamily="49" charset="0"/>
              </a:rPr>
              <a:t>username varchar(20) NOT NULL,</a:t>
            </a:r>
          </a:p>
          <a:p>
            <a:r>
              <a:rPr lang="en-AU" sz="1001" dirty="0" err="1">
                <a:latin typeface="Courier New" panose="02070309020205020404" pitchFamily="49" charset="0"/>
                <a:cs typeface="Courier New" panose="02070309020205020404" pitchFamily="49" charset="0"/>
              </a:rPr>
              <a:t>team_following</a:t>
            </a:r>
            <a:r>
              <a:rPr lang="en-AU" sz="1001" dirty="0">
                <a:latin typeface="Courier New" panose="02070309020205020404" pitchFamily="49" charset="0"/>
                <a:cs typeface="Courier New" panose="02070309020205020404" pitchFamily="49" charset="0"/>
              </a:rPr>
              <a:t> varchar(30) DEFAULT NULL,</a:t>
            </a:r>
          </a:p>
          <a:p>
            <a:r>
              <a:rPr lang="en-AU" sz="1001" dirty="0">
                <a:latin typeface="Courier New" panose="02070309020205020404" pitchFamily="49" charset="0"/>
                <a:cs typeface="Courier New" panose="02070309020205020404" pitchFamily="49" charset="0"/>
              </a:rPr>
              <a:t>wins integer DEFAULT NULL,</a:t>
            </a:r>
          </a:p>
          <a:p>
            <a:r>
              <a:rPr lang="en-AU" sz="1001" dirty="0">
                <a:latin typeface="Courier New" panose="02070309020205020404" pitchFamily="49" charset="0"/>
                <a:cs typeface="Courier New" panose="02070309020205020404" pitchFamily="49" charset="0"/>
              </a:rPr>
              <a:t>email varchar(30) NOT NULL,</a:t>
            </a:r>
          </a:p>
          <a:p>
            <a:r>
              <a:rPr lang="en-AU" sz="1001" dirty="0">
                <a:latin typeface="Courier New" panose="02070309020205020404" pitchFamily="49" charset="0"/>
                <a:cs typeface="Courier New" panose="02070309020205020404" pitchFamily="49" charset="0"/>
              </a:rPr>
              <a:t>};</a:t>
            </a:r>
          </a:p>
        </p:txBody>
      </p:sp>
      <p:sp>
        <p:nvSpPr>
          <p:cNvPr id="62" name="TextBox 61"/>
          <p:cNvSpPr txBox="1"/>
          <p:nvPr/>
        </p:nvSpPr>
        <p:spPr>
          <a:xfrm>
            <a:off x="139299" y="697810"/>
            <a:ext cx="6261500" cy="1786515"/>
          </a:xfrm>
          <a:prstGeom prst="rect">
            <a:avLst/>
          </a:prstGeom>
          <a:solidFill>
            <a:schemeClr val="bg1"/>
          </a:solidFill>
          <a:ln>
            <a:solidFill>
              <a:srgbClr val="00B050"/>
            </a:solidFill>
          </a:ln>
        </p:spPr>
        <p:txBody>
          <a:bodyPr wrap="square" rtlCol="0">
            <a:spAutoFit/>
          </a:bodyPr>
          <a:lstStyle/>
          <a:p>
            <a:r>
              <a:rPr lang="en-AU" sz="1001" dirty="0"/>
              <a:t>The ‘CREATE’ SQL statement is used for creating a model within an SQL server. Within an SQL statement, fields are initialised first through their names, and then characterised through various keywords that describe their data type. For example, the ‘username’ field is written with the name of the field ‘username’, followed by it’s datatype ‘VARCHAR’, with the amount of text within the field (20), followed by the requirement for the data not to be null. </a:t>
            </a:r>
          </a:p>
          <a:p>
            <a:r>
              <a:rPr lang="en-AU" sz="1001" dirty="0">
                <a:hlinkClick r:id="rId2"/>
              </a:rPr>
              <a:t>https://www.w3schools.com/sql/sql_create_table.asp</a:t>
            </a:r>
            <a:endParaRPr lang="en-AU" sz="1001" dirty="0"/>
          </a:p>
          <a:p>
            <a:r>
              <a:rPr lang="en-AU" sz="1001" dirty="0"/>
              <a:t>Other statements can be used to manually insert and remove entries and fields within a table such as ‘DELETE’ and ‘INSERT INTO’. </a:t>
            </a:r>
          </a:p>
          <a:p>
            <a:r>
              <a:rPr lang="en-AU" sz="1001" dirty="0"/>
              <a:t>(INSERT INTO)</a:t>
            </a:r>
          </a:p>
          <a:p>
            <a:r>
              <a:rPr lang="en-AU" sz="1001" dirty="0">
                <a:hlinkClick r:id="rId2"/>
              </a:rPr>
              <a:t>https://www.w3schools.com/sql/sql_create_table.asp</a:t>
            </a:r>
            <a:r>
              <a:rPr lang="en-AU" sz="1001" dirty="0"/>
              <a:t>, </a:t>
            </a:r>
          </a:p>
          <a:p>
            <a:r>
              <a:rPr lang="en-AU" sz="1001" dirty="0"/>
              <a:t>(DELETE)</a:t>
            </a:r>
          </a:p>
          <a:p>
            <a:r>
              <a:rPr lang="en-AU" sz="1001" dirty="0">
                <a:hlinkClick r:id="rId3"/>
              </a:rPr>
              <a:t>https://www.w3schools.com/sql/sql_delete.asp</a:t>
            </a:r>
            <a:endParaRPr lang="en-AU" sz="1001" dirty="0"/>
          </a:p>
        </p:txBody>
      </p:sp>
      <p:sp>
        <p:nvSpPr>
          <p:cNvPr id="67" name="TextBox 66"/>
          <p:cNvSpPr txBox="1"/>
          <p:nvPr/>
        </p:nvSpPr>
        <p:spPr>
          <a:xfrm>
            <a:off x="4996492" y="117264"/>
            <a:ext cx="1473958" cy="400366"/>
          </a:xfrm>
          <a:prstGeom prst="rect">
            <a:avLst/>
          </a:prstGeom>
          <a:solidFill>
            <a:schemeClr val="bg1"/>
          </a:solidFill>
          <a:ln>
            <a:solidFill>
              <a:srgbClr val="00B050"/>
            </a:solidFill>
          </a:ln>
        </p:spPr>
        <p:txBody>
          <a:bodyPr wrap="square" rtlCol="0">
            <a:spAutoFit/>
          </a:bodyPr>
          <a:lstStyle/>
          <a:p>
            <a:r>
              <a:rPr lang="en-AU" sz="1001" dirty="0">
                <a:latin typeface="Courier New" panose="02070309020205020404" pitchFamily="49" charset="0"/>
                <a:cs typeface="Courier New" panose="02070309020205020404" pitchFamily="49" charset="0"/>
              </a:rPr>
              <a:t>DELETE FROM User WHERE ‘id’ = 1</a:t>
            </a:r>
          </a:p>
        </p:txBody>
      </p:sp>
      <p:sp>
        <p:nvSpPr>
          <p:cNvPr id="74" name="TextBox 73"/>
          <p:cNvSpPr txBox="1"/>
          <p:nvPr/>
        </p:nvSpPr>
        <p:spPr>
          <a:xfrm>
            <a:off x="6524923" y="126206"/>
            <a:ext cx="2872705" cy="708399"/>
          </a:xfrm>
          <a:prstGeom prst="rect">
            <a:avLst/>
          </a:prstGeom>
          <a:solidFill>
            <a:schemeClr val="bg1"/>
          </a:solidFill>
          <a:ln>
            <a:solidFill>
              <a:srgbClr val="00B050"/>
            </a:solidFill>
          </a:ln>
        </p:spPr>
        <p:txBody>
          <a:bodyPr wrap="square" rtlCol="0">
            <a:spAutoFit/>
          </a:bodyPr>
          <a:lstStyle/>
          <a:p>
            <a:r>
              <a:rPr lang="en-AU" sz="1001" dirty="0">
                <a:latin typeface="Courier New" panose="02070309020205020404" pitchFamily="49" charset="0"/>
                <a:cs typeface="Courier New" panose="02070309020205020404" pitchFamily="49" charset="0"/>
              </a:rPr>
              <a:t>INSERT INTO User VALUES( 25,’Frederich’, ‘FIFA Team 1’,’13’,</a:t>
            </a:r>
          </a:p>
          <a:p>
            <a:r>
              <a:rPr lang="en-AU" sz="1001" dirty="0">
                <a:latin typeface="Courier New" panose="02070309020205020404" pitchFamily="49" charset="0"/>
                <a:cs typeface="Courier New" panose="02070309020205020404" pitchFamily="49" charset="0"/>
              </a:rPr>
              <a:t>’Beyond_Good_And_Evil@outlook.com’ );</a:t>
            </a:r>
          </a:p>
        </p:txBody>
      </p:sp>
      <p:cxnSp>
        <p:nvCxnSpPr>
          <p:cNvPr id="75" name="Straight Arrow Connector 74"/>
          <p:cNvCxnSpPr/>
          <p:nvPr/>
        </p:nvCxnSpPr>
        <p:spPr>
          <a:xfrm flipH="1">
            <a:off x="9335719" y="4166570"/>
            <a:ext cx="6052" cy="489638"/>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76" name="Straight Arrow Connector 75"/>
          <p:cNvCxnSpPr/>
          <p:nvPr/>
        </p:nvCxnSpPr>
        <p:spPr>
          <a:xfrm flipV="1">
            <a:off x="6412527" y="767246"/>
            <a:ext cx="643801" cy="260038"/>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77" name="Straight Arrow Connector 76"/>
          <p:cNvCxnSpPr/>
          <p:nvPr/>
        </p:nvCxnSpPr>
        <p:spPr>
          <a:xfrm>
            <a:off x="6416019" y="1577071"/>
            <a:ext cx="355148" cy="38327"/>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pic>
        <p:nvPicPr>
          <p:cNvPr id="1026" name="Picture 2" descr="sqlitebrowser · GitHub"/>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38777" y="3113070"/>
            <a:ext cx="575276" cy="575276"/>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86" name="TextBox 85"/>
          <p:cNvSpPr txBox="1"/>
          <p:nvPr/>
        </p:nvSpPr>
        <p:spPr>
          <a:xfrm>
            <a:off x="207550" y="2663346"/>
            <a:ext cx="4952837" cy="862416"/>
          </a:xfrm>
          <a:prstGeom prst="rect">
            <a:avLst/>
          </a:prstGeom>
          <a:solidFill>
            <a:schemeClr val="bg1"/>
          </a:solidFill>
          <a:ln>
            <a:solidFill>
              <a:srgbClr val="00B050"/>
            </a:solidFill>
          </a:ln>
        </p:spPr>
        <p:txBody>
          <a:bodyPr wrap="square" rtlCol="0">
            <a:spAutoFit/>
          </a:bodyPr>
          <a:lstStyle/>
          <a:p>
            <a:r>
              <a:rPr lang="en-AU" sz="1001" dirty="0"/>
              <a:t>For a developer working through SQL within web apps, SQLite is a light-weight iteration of SQL similar to MySQL and PostgreSQL thus making it appealing particularly within prototyping databases.  Within development of SQLite servers, SQLite Database Browser provides a way to access these databases with easy implementation of SQL commands.</a:t>
            </a:r>
          </a:p>
          <a:p>
            <a:r>
              <a:rPr lang="en-AU" sz="1001" dirty="0">
                <a:hlinkClick r:id="rId5"/>
              </a:rPr>
              <a:t>https://sqlitebrowser.org/</a:t>
            </a:r>
            <a:endParaRPr lang="en-AU" sz="1001" dirty="0"/>
          </a:p>
        </p:txBody>
      </p:sp>
      <p:pic>
        <p:nvPicPr>
          <p:cNvPr id="1030" name="Picture 6" descr="phpMyAdmin"/>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235077" y="2703269"/>
            <a:ext cx="678976" cy="356463"/>
          </a:xfrm>
          <a:prstGeom prst="rect">
            <a:avLst/>
          </a:prstGeom>
          <a:noFill/>
          <a:ln>
            <a:solidFill>
              <a:srgbClr val="00B050"/>
            </a:solidFill>
          </a:ln>
          <a:extLst>
            <a:ext uri="{909E8E84-426E-40DD-AFC4-6F175D3DCCD1}">
              <a14:hiddenFill xmlns:a14="http://schemas.microsoft.com/office/drawing/2010/main">
                <a:solidFill>
                  <a:srgbClr val="FFFFFF"/>
                </a:solidFill>
              </a14:hiddenFill>
            </a:ext>
          </a:extLst>
        </p:spPr>
      </p:pic>
      <p:cxnSp>
        <p:nvCxnSpPr>
          <p:cNvPr id="87" name="Straight Arrow Connector 86"/>
          <p:cNvCxnSpPr/>
          <p:nvPr/>
        </p:nvCxnSpPr>
        <p:spPr>
          <a:xfrm flipV="1">
            <a:off x="5122782" y="2862450"/>
            <a:ext cx="307833" cy="27959"/>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89" name="Straight Arrow Connector 88"/>
          <p:cNvCxnSpPr/>
          <p:nvPr/>
        </p:nvCxnSpPr>
        <p:spPr>
          <a:xfrm flipV="1">
            <a:off x="5141297" y="3387409"/>
            <a:ext cx="433268" cy="26598"/>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90" name="Straight Arrow Connector 89"/>
          <p:cNvCxnSpPr/>
          <p:nvPr/>
        </p:nvCxnSpPr>
        <p:spPr>
          <a:xfrm flipV="1">
            <a:off x="6244993" y="317319"/>
            <a:ext cx="9054" cy="389822"/>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grpSp>
        <p:nvGrpSpPr>
          <p:cNvPr id="4" name="Group 3"/>
          <p:cNvGrpSpPr/>
          <p:nvPr/>
        </p:nvGrpSpPr>
        <p:grpSpPr>
          <a:xfrm>
            <a:off x="5257800" y="4136828"/>
            <a:ext cx="6520980" cy="2454763"/>
            <a:chOff x="3700545" y="2146267"/>
            <a:chExt cx="6520980" cy="2454763"/>
          </a:xfrm>
        </p:grpSpPr>
        <p:pic>
          <p:nvPicPr>
            <p:cNvPr id="29" name="Picture 28">
              <a:extLst>
                <a:ext uri="{FF2B5EF4-FFF2-40B4-BE49-F238E27FC236}">
                  <a16:creationId xmlns:a16="http://schemas.microsoft.com/office/drawing/2014/main" id="{A162E725-C5A1-4D6B-9218-84A7F72741D4}"/>
                </a:ext>
              </a:extLst>
            </p:cNvPr>
            <p:cNvPicPr>
              <a:picLocks noChangeAspect="1"/>
            </p:cNvPicPr>
            <p:nvPr/>
          </p:nvPicPr>
          <p:blipFill rotWithShape="1">
            <a:blip r:embed="rId7"/>
            <a:srcRect b="27966"/>
            <a:stretch/>
          </p:blipFill>
          <p:spPr>
            <a:xfrm>
              <a:off x="3700545" y="2165318"/>
              <a:ext cx="4905375" cy="2435712"/>
            </a:xfrm>
            <a:prstGeom prst="rect">
              <a:avLst/>
            </a:prstGeom>
          </p:spPr>
        </p:pic>
        <p:pic>
          <p:nvPicPr>
            <p:cNvPr id="30" name="Picture 29">
              <a:extLst>
                <a:ext uri="{FF2B5EF4-FFF2-40B4-BE49-F238E27FC236}">
                  <a16:creationId xmlns:a16="http://schemas.microsoft.com/office/drawing/2014/main" id="{8A2E1E54-881E-401A-B7EB-60731BAFEA67}"/>
                </a:ext>
              </a:extLst>
            </p:cNvPr>
            <p:cNvPicPr>
              <a:picLocks noChangeAspect="1"/>
            </p:cNvPicPr>
            <p:nvPr/>
          </p:nvPicPr>
          <p:blipFill rotWithShape="1">
            <a:blip r:embed="rId8"/>
            <a:srcRect b="29061"/>
            <a:stretch/>
          </p:blipFill>
          <p:spPr>
            <a:xfrm>
              <a:off x="7735500" y="2146267"/>
              <a:ext cx="2486025" cy="2425734"/>
            </a:xfrm>
            <a:prstGeom prst="rect">
              <a:avLst/>
            </a:prstGeom>
          </p:spPr>
        </p:pic>
      </p:grpSp>
      <p:sp>
        <p:nvSpPr>
          <p:cNvPr id="28" name="TextBox 27"/>
          <p:cNvSpPr txBox="1"/>
          <p:nvPr/>
        </p:nvSpPr>
        <p:spPr>
          <a:xfrm>
            <a:off x="6092447" y="2656848"/>
            <a:ext cx="2565178" cy="1324465"/>
          </a:xfrm>
          <a:prstGeom prst="rect">
            <a:avLst/>
          </a:prstGeom>
          <a:solidFill>
            <a:schemeClr val="bg1"/>
          </a:solidFill>
          <a:ln>
            <a:solidFill>
              <a:srgbClr val="00B050"/>
            </a:solidFill>
          </a:ln>
        </p:spPr>
        <p:txBody>
          <a:bodyPr wrap="square" rtlCol="0">
            <a:spAutoFit/>
          </a:bodyPr>
          <a:lstStyle/>
          <a:p>
            <a:r>
              <a:rPr lang="en-AU" sz="1001" dirty="0"/>
              <a:t>The MySQL and SQLite use AUTOINCREMENT. This is used as it indicates the database automatically creates these fields within a given model as default. Usually this refers to the ‘id’ of a given object.</a:t>
            </a:r>
          </a:p>
          <a:p>
            <a:endParaRPr lang="en-AU" sz="1001" dirty="0"/>
          </a:p>
          <a:p>
            <a:r>
              <a:rPr lang="en-AU" sz="1001" dirty="0">
                <a:hlinkClick r:id="rId9"/>
              </a:rPr>
              <a:t>https://www.w3schools.com/sql/sql_autoincrement.asp</a:t>
            </a:r>
            <a:endParaRPr lang="en-AU" sz="1001" dirty="0"/>
          </a:p>
        </p:txBody>
      </p:sp>
      <p:sp>
        <p:nvSpPr>
          <p:cNvPr id="31" name="TextBox 30"/>
          <p:cNvSpPr txBox="1"/>
          <p:nvPr/>
        </p:nvSpPr>
        <p:spPr>
          <a:xfrm>
            <a:off x="3052379" y="3746849"/>
            <a:ext cx="2037819" cy="2864630"/>
          </a:xfrm>
          <a:prstGeom prst="rect">
            <a:avLst/>
          </a:prstGeom>
          <a:solidFill>
            <a:schemeClr val="bg1"/>
          </a:solidFill>
          <a:ln>
            <a:solidFill>
              <a:srgbClr val="00B050"/>
            </a:solidFill>
          </a:ln>
        </p:spPr>
        <p:txBody>
          <a:bodyPr wrap="square" rtlCol="0">
            <a:spAutoFit/>
          </a:bodyPr>
          <a:lstStyle/>
          <a:p>
            <a:r>
              <a:rPr lang="en-AU" sz="1001" dirty="0"/>
              <a:t>Data within this table will be deleted in seven days. There are various reasons;</a:t>
            </a:r>
          </a:p>
          <a:p>
            <a:pPr marL="171454" indent="-171454">
              <a:buFontTx/>
              <a:buChar char="-"/>
            </a:pPr>
            <a:r>
              <a:rPr lang="en-AU" sz="1001" dirty="0"/>
              <a:t>Seven days is enough to collect a week of FIFA eSports discussion and is useful for information to optimise the Web app’s function</a:t>
            </a:r>
          </a:p>
          <a:p>
            <a:pPr marL="171454" indent="-171454">
              <a:buFontTx/>
              <a:buChar char="-"/>
            </a:pPr>
            <a:r>
              <a:rPr lang="en-AU" sz="1001" dirty="0"/>
              <a:t>The data cannot stay indefinitely to retain the privacy of the users </a:t>
            </a:r>
          </a:p>
          <a:p>
            <a:pPr marL="171454" indent="-171454">
              <a:buFontTx/>
              <a:buChar char="-"/>
            </a:pPr>
            <a:r>
              <a:rPr lang="en-AU" sz="1001" dirty="0"/>
              <a:t>The website and development could be updated and there is a risk the data will become redundant</a:t>
            </a:r>
          </a:p>
          <a:p>
            <a:pPr marL="171454" indent="-171454">
              <a:buFontTx/>
              <a:buChar char="-"/>
            </a:pPr>
            <a:r>
              <a:rPr lang="en-AU" sz="1001" dirty="0"/>
              <a:t>Most recent data is typically most relevant as it describes the current interests of the FIFA Web app user’s interests</a:t>
            </a:r>
          </a:p>
        </p:txBody>
      </p:sp>
      <p:cxnSp>
        <p:nvCxnSpPr>
          <p:cNvPr id="32" name="Straight Arrow Connector 31"/>
          <p:cNvCxnSpPr/>
          <p:nvPr/>
        </p:nvCxnSpPr>
        <p:spPr>
          <a:xfrm flipH="1">
            <a:off x="5733474" y="3430092"/>
            <a:ext cx="343003" cy="41577"/>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33" name="TextBox 32"/>
          <p:cNvSpPr txBox="1"/>
          <p:nvPr/>
        </p:nvSpPr>
        <p:spPr>
          <a:xfrm>
            <a:off x="8848041" y="2627918"/>
            <a:ext cx="2630268" cy="1324465"/>
          </a:xfrm>
          <a:prstGeom prst="rect">
            <a:avLst/>
          </a:prstGeom>
          <a:solidFill>
            <a:schemeClr val="bg1"/>
          </a:solidFill>
          <a:ln>
            <a:solidFill>
              <a:srgbClr val="00B050"/>
            </a:solidFill>
          </a:ln>
        </p:spPr>
        <p:txBody>
          <a:bodyPr wrap="square" rtlCol="0">
            <a:spAutoFit/>
          </a:bodyPr>
          <a:lstStyle/>
          <a:p>
            <a:r>
              <a:rPr lang="en-AU" sz="1001" dirty="0"/>
              <a:t>The various data types within this table are;</a:t>
            </a:r>
            <a:endParaRPr lang="en-AU" sz="1001" dirty="0">
              <a:latin typeface="Courier New" panose="02070309020205020404" pitchFamily="49" charset="0"/>
              <a:cs typeface="Courier New" panose="02070309020205020404" pitchFamily="49" charset="0"/>
            </a:endParaRPr>
          </a:p>
          <a:p>
            <a:endParaRPr lang="en-AU" sz="1001" dirty="0">
              <a:latin typeface="Courier New" panose="02070309020205020404" pitchFamily="49" charset="0"/>
              <a:cs typeface="Courier New" panose="02070309020205020404" pitchFamily="49" charset="0"/>
            </a:endParaRPr>
          </a:p>
          <a:p>
            <a:r>
              <a:rPr lang="en-AU" sz="1001" dirty="0">
                <a:latin typeface="Courier New" panose="02070309020205020404" pitchFamily="49" charset="0"/>
                <a:cs typeface="Courier New" panose="02070309020205020404" pitchFamily="49" charset="0"/>
              </a:rPr>
              <a:t>‘ID’:INTEGER</a:t>
            </a:r>
          </a:p>
          <a:p>
            <a:r>
              <a:rPr lang="en-AU" sz="1001" dirty="0">
                <a:latin typeface="Courier New" panose="02070309020205020404" pitchFamily="49" charset="0"/>
                <a:cs typeface="Courier New" panose="02070309020205020404" pitchFamily="49" charset="0"/>
              </a:rPr>
              <a:t>‘THREAD_TITLE’:VARCHAR</a:t>
            </a:r>
          </a:p>
          <a:p>
            <a:r>
              <a:rPr lang="en-AU" sz="1001" dirty="0">
                <a:latin typeface="Courier New" panose="02070309020205020404" pitchFamily="49" charset="0"/>
                <a:cs typeface="Courier New" panose="02070309020205020404" pitchFamily="49" charset="0"/>
              </a:rPr>
              <a:t>‘THREAD_TEXT’:VARCHAR</a:t>
            </a:r>
          </a:p>
          <a:p>
            <a:r>
              <a:rPr lang="en-AU" sz="1001" dirty="0">
                <a:latin typeface="Courier New" panose="02070309020205020404" pitchFamily="49" charset="0"/>
                <a:cs typeface="Courier New" panose="02070309020205020404" pitchFamily="49" charset="0"/>
              </a:rPr>
              <a:t>‘PUBDATE’:DATETIME</a:t>
            </a:r>
          </a:p>
          <a:p>
            <a:r>
              <a:rPr lang="en-AU" sz="1001" dirty="0">
                <a:latin typeface="Courier New" panose="02070309020205020404" pitchFamily="49" charset="0"/>
                <a:cs typeface="Courier New" panose="02070309020205020404" pitchFamily="49" charset="0"/>
              </a:rPr>
              <a:t>‘UPVOTES’:INTEGER</a:t>
            </a:r>
          </a:p>
          <a:p>
            <a:r>
              <a:rPr lang="en-AU" sz="1001" dirty="0">
                <a:latin typeface="Courier New" panose="02070309020205020404" pitchFamily="49" charset="0"/>
                <a:cs typeface="Courier New" panose="02070309020205020404" pitchFamily="49" charset="0"/>
              </a:rPr>
              <a:t>‘USER_ID’:INTEGER</a:t>
            </a:r>
          </a:p>
        </p:txBody>
      </p:sp>
      <p:sp>
        <p:nvSpPr>
          <p:cNvPr id="34" name="TextBox 33"/>
          <p:cNvSpPr txBox="1"/>
          <p:nvPr/>
        </p:nvSpPr>
        <p:spPr>
          <a:xfrm>
            <a:off x="157598" y="3688349"/>
            <a:ext cx="2741839" cy="3018647"/>
          </a:xfrm>
          <a:prstGeom prst="rect">
            <a:avLst/>
          </a:prstGeom>
          <a:solidFill>
            <a:schemeClr val="bg1"/>
          </a:solidFill>
          <a:ln>
            <a:solidFill>
              <a:srgbClr val="00B050"/>
            </a:solidFill>
          </a:ln>
        </p:spPr>
        <p:txBody>
          <a:bodyPr wrap="square" rtlCol="0">
            <a:spAutoFit/>
          </a:bodyPr>
          <a:lstStyle/>
          <a:p>
            <a:r>
              <a:rPr lang="en-AU" sz="1001" dirty="0"/>
              <a:t>The table as seen on the bottom right is the ‘</a:t>
            </a:r>
            <a:r>
              <a:rPr lang="en-AU" sz="1001" b="1" dirty="0">
                <a:solidFill>
                  <a:srgbClr val="FF0000"/>
                </a:solidFill>
              </a:rPr>
              <a:t>main/thread</a:t>
            </a:r>
            <a:r>
              <a:rPr lang="en-AU" sz="1001" dirty="0"/>
              <a:t>’ (&lt;&lt; NOT THE NAME CHANGE) table and is used for displaying the threads within the FIFA eSports Forum. Users register data in this table through forms and fields are inputted by users such as ‘</a:t>
            </a:r>
            <a:r>
              <a:rPr lang="en-AU" sz="1001" dirty="0" err="1"/>
              <a:t>thread_title</a:t>
            </a:r>
            <a:r>
              <a:rPr lang="en-AU" sz="1001" dirty="0"/>
              <a:t>’ and ‘</a:t>
            </a:r>
            <a:r>
              <a:rPr lang="en-AU" sz="1001" dirty="0" err="1"/>
              <a:t>thread_text</a:t>
            </a:r>
            <a:r>
              <a:rPr lang="en-AU" sz="1001" dirty="0"/>
              <a:t>’. However fields such as ‘id’,’</a:t>
            </a:r>
            <a:r>
              <a:rPr lang="en-AU" sz="1001" dirty="0" err="1"/>
              <a:t>user_id</a:t>
            </a:r>
            <a:r>
              <a:rPr lang="en-AU" sz="1001" dirty="0"/>
              <a:t>’ and ‘</a:t>
            </a:r>
            <a:r>
              <a:rPr lang="en-AU" sz="1001" dirty="0" err="1"/>
              <a:t>pub_date</a:t>
            </a:r>
            <a:r>
              <a:rPr lang="en-AU" sz="1001" dirty="0"/>
              <a:t>’ are completed automatically on creation of the thread object. </a:t>
            </a:r>
          </a:p>
          <a:p>
            <a:endParaRPr lang="en-AU" sz="1001" dirty="0"/>
          </a:p>
          <a:p>
            <a:r>
              <a:rPr lang="en-AU" sz="1001" dirty="0"/>
              <a:t>The threads for displaying are called using a Foreign Key to the Thread model.</a:t>
            </a:r>
          </a:p>
          <a:p>
            <a:endParaRPr lang="en-AU" sz="1001" dirty="0"/>
          </a:p>
          <a:p>
            <a:r>
              <a:rPr lang="en-AU" sz="1001" dirty="0"/>
              <a:t>Foreign Keys will be used also for other functional components necessary to an eSports app such as an alert system. The implementation of these Foreign Keys and not keeping all models and information confined to one table retains data integrity.</a:t>
            </a:r>
          </a:p>
        </p:txBody>
      </p:sp>
      <p:sp>
        <p:nvSpPr>
          <p:cNvPr id="35" name="TextBox 34"/>
          <p:cNvSpPr txBox="1"/>
          <p:nvPr/>
        </p:nvSpPr>
        <p:spPr>
          <a:xfrm>
            <a:off x="9496691" y="126209"/>
            <a:ext cx="2492110" cy="2402581"/>
          </a:xfrm>
          <a:prstGeom prst="rect">
            <a:avLst/>
          </a:prstGeom>
          <a:solidFill>
            <a:schemeClr val="bg1"/>
          </a:solidFill>
          <a:ln>
            <a:solidFill>
              <a:srgbClr val="00B050"/>
            </a:solidFill>
          </a:ln>
        </p:spPr>
        <p:txBody>
          <a:bodyPr wrap="square" rtlCol="0">
            <a:spAutoFit/>
          </a:bodyPr>
          <a:lstStyle/>
          <a:p>
            <a:r>
              <a:rPr lang="en-AU" sz="1001" dirty="0"/>
              <a:t>This data has been checked for data integrity in order to prevent data redundancy.  </a:t>
            </a:r>
          </a:p>
          <a:p>
            <a:r>
              <a:rPr lang="en-AU" sz="1001" dirty="0"/>
              <a:t>Redundant data can come in the form of;</a:t>
            </a:r>
          </a:p>
          <a:p>
            <a:pPr marL="171454" indent="-171454">
              <a:buFontTx/>
              <a:buChar char="-"/>
            </a:pPr>
            <a:r>
              <a:rPr lang="en-AU" sz="1001" dirty="0"/>
              <a:t>Two fields being the same</a:t>
            </a:r>
          </a:p>
          <a:p>
            <a:endParaRPr lang="en-AU" sz="1001" dirty="0"/>
          </a:p>
          <a:p>
            <a:pPr marL="171454" indent="-171454">
              <a:buFontTx/>
              <a:buChar char="-"/>
            </a:pPr>
            <a:r>
              <a:rPr lang="en-AU" sz="1001" dirty="0"/>
              <a:t>Data being unreadable or not within format of the SQL table (input constraints)</a:t>
            </a:r>
          </a:p>
          <a:p>
            <a:endParaRPr lang="en-AU" sz="1001" dirty="0"/>
          </a:p>
          <a:p>
            <a:pPr marL="171454" indent="-171454">
              <a:buFontTx/>
              <a:buChar char="-"/>
            </a:pPr>
            <a:r>
              <a:rPr lang="en-AU" sz="1001" dirty="0"/>
              <a:t>Null values in fields that are not meant to be null</a:t>
            </a:r>
          </a:p>
          <a:p>
            <a:endParaRPr lang="en-AU" sz="1001" dirty="0"/>
          </a:p>
          <a:p>
            <a:pPr marL="171454" indent="-171454">
              <a:buFontTx/>
              <a:buChar char="-"/>
            </a:pPr>
            <a:r>
              <a:rPr lang="en-AU" sz="1001" dirty="0"/>
              <a:t>Data types different to that specified within the field</a:t>
            </a:r>
          </a:p>
        </p:txBody>
      </p:sp>
      <p:cxnSp>
        <p:nvCxnSpPr>
          <p:cNvPr id="36" name="Straight Arrow Connector 35"/>
          <p:cNvCxnSpPr/>
          <p:nvPr/>
        </p:nvCxnSpPr>
        <p:spPr>
          <a:xfrm>
            <a:off x="2884769" y="4528457"/>
            <a:ext cx="344290" cy="0"/>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38" name="Straight Arrow Connector 37"/>
          <p:cNvCxnSpPr/>
          <p:nvPr/>
        </p:nvCxnSpPr>
        <p:spPr>
          <a:xfrm>
            <a:off x="5116341" y="4411388"/>
            <a:ext cx="344290" cy="0"/>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7950602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290945"/>
            <a:ext cx="2840182" cy="1189956"/>
          </a:xfrm>
        </p:spPr>
        <p:txBody>
          <a:bodyPr>
            <a:normAutofit/>
          </a:bodyPr>
          <a:lstStyle/>
          <a:p>
            <a:r>
              <a:rPr lang="en-AU" sz="2400" b="1" dirty="0"/>
              <a:t>Development- Data 1</a:t>
            </a:r>
          </a:p>
        </p:txBody>
      </p:sp>
      <p:grpSp>
        <p:nvGrpSpPr>
          <p:cNvPr id="8" name="Group 7"/>
          <p:cNvGrpSpPr/>
          <p:nvPr/>
        </p:nvGrpSpPr>
        <p:grpSpPr>
          <a:xfrm>
            <a:off x="38463" y="4023375"/>
            <a:ext cx="10671502" cy="2724150"/>
            <a:chOff x="190463" y="1673661"/>
            <a:chExt cx="10671502" cy="2724150"/>
          </a:xfrm>
        </p:grpSpPr>
        <p:pic>
          <p:nvPicPr>
            <p:cNvPr id="10" name="Picture 9">
              <a:extLst>
                <a:ext uri="{FF2B5EF4-FFF2-40B4-BE49-F238E27FC236}">
                  <a16:creationId xmlns:a16="http://schemas.microsoft.com/office/drawing/2014/main" id="{A72B4674-6CC4-4BA7-B8AB-8FABD9AA4BCA}"/>
                </a:ext>
              </a:extLst>
            </p:cNvPr>
            <p:cNvPicPr>
              <a:picLocks noChangeAspect="1"/>
            </p:cNvPicPr>
            <p:nvPr/>
          </p:nvPicPr>
          <p:blipFill rotWithShape="1">
            <a:blip r:embed="rId2"/>
            <a:srcRect r="1972"/>
            <a:stretch/>
          </p:blipFill>
          <p:spPr>
            <a:xfrm>
              <a:off x="190463" y="1693353"/>
              <a:ext cx="5032701" cy="2686050"/>
            </a:xfrm>
            <a:prstGeom prst="rect">
              <a:avLst/>
            </a:prstGeom>
          </p:spPr>
        </p:pic>
        <p:pic>
          <p:nvPicPr>
            <p:cNvPr id="11" name="Picture 10">
              <a:extLst>
                <a:ext uri="{FF2B5EF4-FFF2-40B4-BE49-F238E27FC236}">
                  <a16:creationId xmlns:a16="http://schemas.microsoft.com/office/drawing/2014/main" id="{B2CEDDFC-7F5D-4E67-AA30-AAB7AE998850}"/>
                </a:ext>
              </a:extLst>
            </p:cNvPr>
            <p:cNvPicPr>
              <a:picLocks noChangeAspect="1"/>
            </p:cNvPicPr>
            <p:nvPr/>
          </p:nvPicPr>
          <p:blipFill rotWithShape="1">
            <a:blip r:embed="rId3"/>
            <a:srcRect r="39112"/>
            <a:stretch/>
          </p:blipFill>
          <p:spPr>
            <a:xfrm>
              <a:off x="5223165" y="1702878"/>
              <a:ext cx="2743200" cy="2676525"/>
            </a:xfrm>
            <a:prstGeom prst="rect">
              <a:avLst/>
            </a:prstGeom>
          </p:spPr>
        </p:pic>
        <p:pic>
          <p:nvPicPr>
            <p:cNvPr id="12" name="Picture 11">
              <a:extLst>
                <a:ext uri="{FF2B5EF4-FFF2-40B4-BE49-F238E27FC236}">
                  <a16:creationId xmlns:a16="http://schemas.microsoft.com/office/drawing/2014/main" id="{DC19F319-AC91-4CE4-A272-75E1454629D9}"/>
                </a:ext>
              </a:extLst>
            </p:cNvPr>
            <p:cNvPicPr>
              <a:picLocks noChangeAspect="1"/>
            </p:cNvPicPr>
            <p:nvPr/>
          </p:nvPicPr>
          <p:blipFill>
            <a:blip r:embed="rId4"/>
            <a:stretch>
              <a:fillRect/>
            </a:stretch>
          </p:blipFill>
          <p:spPr>
            <a:xfrm>
              <a:off x="7966365" y="1673661"/>
              <a:ext cx="2895600" cy="2724150"/>
            </a:xfrm>
            <a:prstGeom prst="rect">
              <a:avLst/>
            </a:prstGeom>
          </p:spPr>
        </p:pic>
      </p:grpSp>
      <p:sp>
        <p:nvSpPr>
          <p:cNvPr id="13" name="TextBox 12"/>
          <p:cNvSpPr txBox="1"/>
          <p:nvPr/>
        </p:nvSpPr>
        <p:spPr>
          <a:xfrm>
            <a:off x="38463" y="2990749"/>
            <a:ext cx="3355902" cy="862416"/>
          </a:xfrm>
          <a:prstGeom prst="rect">
            <a:avLst/>
          </a:prstGeom>
          <a:solidFill>
            <a:schemeClr val="bg1"/>
          </a:solidFill>
          <a:ln>
            <a:solidFill>
              <a:srgbClr val="00B050"/>
            </a:solidFill>
          </a:ln>
        </p:spPr>
        <p:txBody>
          <a:bodyPr wrap="square" rtlCol="0">
            <a:spAutoFit/>
          </a:bodyPr>
          <a:lstStyle/>
          <a:p>
            <a:r>
              <a:rPr lang="en-AU" sz="1001" dirty="0"/>
              <a:t>This table outlines the ‘User’ model. Within this model, various datatypes are inputted ranging from Booleans (for ‘</a:t>
            </a:r>
            <a:r>
              <a:rPr lang="en-AU" sz="1001" dirty="0" err="1"/>
              <a:t>superuser</a:t>
            </a:r>
            <a:r>
              <a:rPr lang="en-AU" sz="1001" dirty="0"/>
              <a:t>’, ‘</a:t>
            </a:r>
            <a:r>
              <a:rPr lang="en-AU" sz="1001" dirty="0" err="1"/>
              <a:t>is_staff</a:t>
            </a:r>
            <a:r>
              <a:rPr lang="en-AU" sz="1001" dirty="0"/>
              <a:t>’, </a:t>
            </a:r>
            <a:r>
              <a:rPr lang="en-AU" sz="1001" dirty="0" err="1"/>
              <a:t>etc</a:t>
            </a:r>
            <a:r>
              <a:rPr lang="en-AU" sz="1001" dirty="0"/>
              <a:t>), varchar (for various fields such as username and email), integer (‘id’)m and </a:t>
            </a:r>
            <a:r>
              <a:rPr lang="en-AU" sz="1001" dirty="0" err="1"/>
              <a:t>datetime</a:t>
            </a:r>
            <a:r>
              <a:rPr lang="en-AU" sz="1001" dirty="0"/>
              <a:t> (‘</a:t>
            </a:r>
            <a:r>
              <a:rPr lang="en-AU" sz="1001" dirty="0" err="1"/>
              <a:t>date_joined</a:t>
            </a:r>
            <a:r>
              <a:rPr lang="en-AU" sz="1001" dirty="0"/>
              <a:t>’). </a:t>
            </a:r>
            <a:endParaRPr lang="en-AU" sz="1001" dirty="0">
              <a:latin typeface="Courier New" panose="02070309020205020404" pitchFamily="49" charset="0"/>
              <a:cs typeface="Courier New" panose="02070309020205020404" pitchFamily="49" charset="0"/>
            </a:endParaRPr>
          </a:p>
        </p:txBody>
      </p:sp>
      <p:sp>
        <p:nvSpPr>
          <p:cNvPr id="14" name="TextBox 13"/>
          <p:cNvSpPr txBox="1"/>
          <p:nvPr/>
        </p:nvSpPr>
        <p:spPr>
          <a:xfrm>
            <a:off x="10708995" y="3036916"/>
            <a:ext cx="1345441" cy="1632498"/>
          </a:xfrm>
          <a:prstGeom prst="rect">
            <a:avLst/>
          </a:prstGeom>
          <a:solidFill>
            <a:schemeClr val="bg1"/>
          </a:solidFill>
          <a:ln>
            <a:solidFill>
              <a:srgbClr val="00B050"/>
            </a:solidFill>
          </a:ln>
        </p:spPr>
        <p:txBody>
          <a:bodyPr wrap="square" rtlCol="0">
            <a:spAutoFit/>
          </a:bodyPr>
          <a:lstStyle/>
          <a:p>
            <a:r>
              <a:rPr lang="en-AU" sz="1001" dirty="0"/>
              <a:t>Data can be inputted within this SQL server through insert commands (</a:t>
            </a:r>
            <a:r>
              <a:rPr lang="en-AU" sz="1001" dirty="0">
                <a:hlinkClick r:id="rId5"/>
              </a:rPr>
              <a:t>https://www.w3schools.com/</a:t>
            </a:r>
            <a:r>
              <a:rPr lang="en-AU" sz="1001" dirty="0" err="1">
                <a:hlinkClick r:id="rId5"/>
              </a:rPr>
              <a:t>sql</a:t>
            </a:r>
            <a:r>
              <a:rPr lang="en-AU" sz="1001" dirty="0">
                <a:hlinkClick r:id="rId5"/>
              </a:rPr>
              <a:t>/sql_insert.asp#:~:text=INSERT%20INTO%20Syntax,%2C%20column3%2C%20...)</a:t>
            </a:r>
            <a:r>
              <a:rPr lang="en-AU" sz="1001" dirty="0"/>
              <a:t>)</a:t>
            </a:r>
            <a:endParaRPr lang="en-AU" sz="1001" dirty="0">
              <a:latin typeface="Courier New" panose="02070309020205020404" pitchFamily="49" charset="0"/>
              <a:cs typeface="Courier New" panose="02070309020205020404" pitchFamily="49" charset="0"/>
            </a:endParaRPr>
          </a:p>
        </p:txBody>
      </p:sp>
      <p:sp>
        <p:nvSpPr>
          <p:cNvPr id="15" name="TextBox 14"/>
          <p:cNvSpPr txBox="1"/>
          <p:nvPr/>
        </p:nvSpPr>
        <p:spPr>
          <a:xfrm>
            <a:off x="10709967" y="4803576"/>
            <a:ext cx="1343490" cy="1940531"/>
          </a:xfrm>
          <a:prstGeom prst="rect">
            <a:avLst/>
          </a:prstGeom>
          <a:solidFill>
            <a:schemeClr val="bg1"/>
          </a:solidFill>
          <a:ln>
            <a:solidFill>
              <a:srgbClr val="00B050"/>
            </a:solidFill>
          </a:ln>
        </p:spPr>
        <p:txBody>
          <a:bodyPr wrap="square" rtlCol="0">
            <a:spAutoFit/>
          </a:bodyPr>
          <a:lstStyle/>
          <a:p>
            <a:r>
              <a:rPr lang="en-AU" sz="1001" dirty="0">
                <a:latin typeface="Courier New" panose="02070309020205020404" pitchFamily="49" charset="0"/>
                <a:cs typeface="Courier New" panose="02070309020205020404" pitchFamily="49" charset="0"/>
              </a:rPr>
              <a:t>INSERT INTO User VALUES(</a:t>
            </a:r>
          </a:p>
          <a:p>
            <a:r>
              <a:rPr lang="en-AU" sz="1001" dirty="0">
                <a:latin typeface="Courier New" panose="02070309020205020404" pitchFamily="49" charset="0"/>
                <a:cs typeface="Courier New" panose="02070309020205020404" pitchFamily="49" charset="0"/>
              </a:rPr>
              <a:t>‘password’, ‘0’,</a:t>
            </a:r>
          </a:p>
          <a:p>
            <a:r>
              <a:rPr lang="en-AU" sz="1001" dirty="0">
                <a:latin typeface="Courier New" panose="02070309020205020404" pitchFamily="49" charset="0"/>
                <a:cs typeface="Courier New" panose="02070309020205020404" pitchFamily="49" charset="0"/>
              </a:rPr>
              <a:t>’</a:t>
            </a:r>
            <a:r>
              <a:rPr lang="en-AU" sz="1001" dirty="0" err="1">
                <a:latin typeface="Courier New" panose="02070309020205020404" pitchFamily="49" charset="0"/>
                <a:cs typeface="Courier New" panose="02070309020205020404" pitchFamily="49" charset="0"/>
              </a:rPr>
              <a:t>beyondgoodandevil</a:t>
            </a:r>
            <a:r>
              <a:rPr lang="en-AU" sz="1001" dirty="0">
                <a:latin typeface="Courier New" panose="02070309020205020404" pitchFamily="49" charset="0"/>
                <a:cs typeface="Courier New" panose="02070309020205020404" pitchFamily="49" charset="0"/>
              </a:rPr>
              <a:t>’,</a:t>
            </a:r>
          </a:p>
          <a:p>
            <a:r>
              <a:rPr lang="en-AU" sz="1001" dirty="0">
                <a:latin typeface="Courier New" panose="02070309020205020404" pitchFamily="49" charset="0"/>
                <a:cs typeface="Courier New" panose="02070309020205020404" pitchFamily="49" charset="0"/>
              </a:rPr>
              <a:t>’</a:t>
            </a:r>
            <a:r>
              <a:rPr lang="en-AU" sz="1001" dirty="0" err="1">
                <a:latin typeface="Courier New" panose="02070309020205020404" pitchFamily="49" charset="0"/>
                <a:cs typeface="Courier New" panose="02070309020205020404" pitchFamily="49" charset="0"/>
              </a:rPr>
              <a:t>Fredriche</a:t>
            </a:r>
            <a:r>
              <a:rPr lang="en-AU" sz="1001" dirty="0">
                <a:latin typeface="Courier New" panose="02070309020205020404" pitchFamily="49" charset="0"/>
                <a:cs typeface="Courier New" panose="02070309020205020404" pitchFamily="49" charset="0"/>
              </a:rPr>
              <a:t>’,</a:t>
            </a:r>
          </a:p>
          <a:p>
            <a:r>
              <a:rPr lang="en-AU" sz="1001" dirty="0">
                <a:latin typeface="Courier New" panose="02070309020205020404" pitchFamily="49" charset="0"/>
                <a:cs typeface="Courier New" panose="02070309020205020404" pitchFamily="49" charset="0"/>
              </a:rPr>
              <a:t>’beyondgoodandevil@outlook.com’,</a:t>
            </a:r>
          </a:p>
          <a:p>
            <a:r>
              <a:rPr lang="en-AU" sz="1001" dirty="0">
                <a:latin typeface="Courier New" panose="02070309020205020404" pitchFamily="49" charset="0"/>
                <a:cs typeface="Courier New" panose="02070309020205020404" pitchFamily="49" charset="0"/>
              </a:rPr>
              <a:t>’0’,</a:t>
            </a:r>
          </a:p>
          <a:p>
            <a:r>
              <a:rPr lang="en-AU" sz="1001" dirty="0">
                <a:latin typeface="Courier New" panose="02070309020205020404" pitchFamily="49" charset="0"/>
                <a:cs typeface="Courier New" panose="02070309020205020404" pitchFamily="49" charset="0"/>
              </a:rPr>
              <a:t>’</a:t>
            </a:r>
            <a:r>
              <a:rPr lang="en-AU" sz="1001" dirty="0" err="1">
                <a:latin typeface="Courier New" panose="02070309020205020404" pitchFamily="49" charset="0"/>
                <a:cs typeface="Courier New" panose="02070309020205020404" pitchFamily="49" charset="0"/>
              </a:rPr>
              <a:t>Nietzche</a:t>
            </a:r>
            <a:r>
              <a:rPr lang="en-AU" sz="1001" dirty="0">
                <a:latin typeface="Courier New" panose="02070309020205020404" pitchFamily="49" charset="0"/>
                <a:cs typeface="Courier New" panose="02070309020205020404" pitchFamily="49" charset="0"/>
              </a:rPr>
              <a:t>’);</a:t>
            </a:r>
          </a:p>
        </p:txBody>
      </p:sp>
      <p:cxnSp>
        <p:nvCxnSpPr>
          <p:cNvPr id="16" name="Straight Arrow Connector 15"/>
          <p:cNvCxnSpPr/>
          <p:nvPr/>
        </p:nvCxnSpPr>
        <p:spPr>
          <a:xfrm flipH="1">
            <a:off x="1233060" y="3852527"/>
            <a:ext cx="55417" cy="359259"/>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9" name="Straight Arrow Connector 18"/>
          <p:cNvCxnSpPr/>
          <p:nvPr/>
        </p:nvCxnSpPr>
        <p:spPr>
          <a:xfrm flipH="1">
            <a:off x="11831788" y="4668136"/>
            <a:ext cx="55417" cy="359259"/>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20" name="Straight Arrow Connector 19"/>
          <p:cNvCxnSpPr/>
          <p:nvPr/>
        </p:nvCxnSpPr>
        <p:spPr>
          <a:xfrm flipH="1">
            <a:off x="10280077" y="6601222"/>
            <a:ext cx="428914" cy="141344"/>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grpSp>
        <p:nvGrpSpPr>
          <p:cNvPr id="26" name="Group 25"/>
          <p:cNvGrpSpPr/>
          <p:nvPr/>
        </p:nvGrpSpPr>
        <p:grpSpPr>
          <a:xfrm>
            <a:off x="5690450" y="945898"/>
            <a:ext cx="1660350" cy="1990108"/>
            <a:chOff x="8104335" y="1866474"/>
            <a:chExt cx="1345441" cy="1370228"/>
          </a:xfrm>
        </p:grpSpPr>
        <p:sp>
          <p:nvSpPr>
            <p:cNvPr id="24" name="TextBox 23"/>
            <p:cNvSpPr txBox="1"/>
            <p:nvPr/>
          </p:nvSpPr>
          <p:spPr>
            <a:xfrm>
              <a:off x="8104335" y="2112695"/>
              <a:ext cx="1345441" cy="1124007"/>
            </a:xfrm>
            <a:prstGeom prst="rect">
              <a:avLst/>
            </a:prstGeom>
            <a:solidFill>
              <a:schemeClr val="bg1"/>
            </a:solidFill>
            <a:ln>
              <a:solidFill>
                <a:srgbClr val="00B050"/>
              </a:solidFill>
            </a:ln>
          </p:spPr>
          <p:txBody>
            <a:bodyPr wrap="square" rtlCol="0">
              <a:spAutoFit/>
            </a:bodyPr>
            <a:lstStyle/>
            <a:p>
              <a:r>
                <a:rPr lang="en-AU" sz="1001" dirty="0"/>
                <a:t>PK; </a:t>
              </a:r>
              <a:r>
                <a:rPr lang="en-AU" sz="1001" b="1" dirty="0">
                  <a:solidFill>
                    <a:srgbClr val="FF0000"/>
                  </a:solidFill>
                </a:rPr>
                <a:t>USER_ID</a:t>
              </a:r>
              <a:r>
                <a:rPr lang="en-AU" sz="1001" dirty="0"/>
                <a:t>; INTEGER,</a:t>
              </a:r>
            </a:p>
            <a:p>
              <a:r>
                <a:rPr lang="en-AU" sz="1001" dirty="0"/>
                <a:t>PASSWORD; VARCHAR(50),</a:t>
              </a:r>
            </a:p>
            <a:p>
              <a:r>
                <a:rPr lang="en-AU" sz="1001" dirty="0"/>
                <a:t>USERNAME; VARCHAR(30),</a:t>
              </a:r>
            </a:p>
            <a:p>
              <a:r>
                <a:rPr lang="en-AU" sz="1001" dirty="0"/>
                <a:t>EMAILL VARCHAR(40),</a:t>
              </a:r>
            </a:p>
            <a:p>
              <a:r>
                <a:rPr lang="en-AU" sz="1001" dirty="0"/>
                <a:t>IS_STAFF; BOOLEAN,</a:t>
              </a:r>
            </a:p>
            <a:p>
              <a:r>
                <a:rPr lang="en-AU" sz="1001" dirty="0"/>
                <a:t>IS_ACTIVE; BOOLEAN,</a:t>
              </a:r>
            </a:p>
            <a:p>
              <a:r>
                <a:rPr lang="en-AU" sz="1001" dirty="0"/>
                <a:t>DATE_JOINED; DATETIME,</a:t>
              </a:r>
            </a:p>
            <a:p>
              <a:r>
                <a:rPr lang="en-AU" sz="1001" dirty="0"/>
                <a:t>FIRST_NAME; VARCHAR(20),</a:t>
              </a:r>
            </a:p>
            <a:p>
              <a:r>
                <a:rPr lang="en-AU" sz="1001" dirty="0"/>
                <a:t>LAST_NAME; VARCHAR(20),</a:t>
              </a:r>
            </a:p>
            <a:p>
              <a:r>
                <a:rPr lang="en-AU" sz="1001" dirty="0"/>
                <a:t>IS_SUPERUSER; BOOLEAN</a:t>
              </a:r>
            </a:p>
          </p:txBody>
        </p:sp>
        <p:sp>
          <p:nvSpPr>
            <p:cNvPr id="25" name="TextBox 24"/>
            <p:cNvSpPr txBox="1"/>
            <p:nvPr/>
          </p:nvSpPr>
          <p:spPr>
            <a:xfrm>
              <a:off x="8104335" y="1866474"/>
              <a:ext cx="1345441" cy="275660"/>
            </a:xfrm>
            <a:prstGeom prst="rect">
              <a:avLst/>
            </a:prstGeom>
            <a:solidFill>
              <a:schemeClr val="accent6">
                <a:lumMod val="20000"/>
                <a:lumOff val="80000"/>
              </a:schemeClr>
            </a:solidFill>
            <a:ln>
              <a:solidFill>
                <a:srgbClr val="00B050"/>
              </a:solidFill>
            </a:ln>
          </p:spPr>
          <p:txBody>
            <a:bodyPr wrap="square" rtlCol="0">
              <a:spAutoFit/>
            </a:bodyPr>
            <a:lstStyle/>
            <a:p>
              <a:pPr algn="ctr"/>
              <a:r>
                <a:rPr lang="en-AU" sz="1001" b="1" dirty="0"/>
                <a:t>USER</a:t>
              </a:r>
            </a:p>
            <a:p>
              <a:pPr algn="ctr"/>
              <a:endParaRPr lang="en-AU" sz="1001" b="1" dirty="0">
                <a:latin typeface="Courier New" panose="02070309020205020404" pitchFamily="49" charset="0"/>
                <a:cs typeface="Courier New" panose="02070309020205020404" pitchFamily="49" charset="0"/>
              </a:endParaRPr>
            </a:p>
          </p:txBody>
        </p:sp>
      </p:grpSp>
      <p:grpSp>
        <p:nvGrpSpPr>
          <p:cNvPr id="29" name="Group 28"/>
          <p:cNvGrpSpPr/>
          <p:nvPr/>
        </p:nvGrpSpPr>
        <p:grpSpPr>
          <a:xfrm>
            <a:off x="10053747" y="233217"/>
            <a:ext cx="1924684" cy="1491747"/>
            <a:chOff x="8104335" y="1866474"/>
            <a:chExt cx="1345441" cy="772748"/>
          </a:xfrm>
        </p:grpSpPr>
        <p:sp>
          <p:nvSpPr>
            <p:cNvPr id="30" name="TextBox 29"/>
            <p:cNvSpPr txBox="1"/>
            <p:nvPr/>
          </p:nvSpPr>
          <p:spPr>
            <a:xfrm>
              <a:off x="8104335" y="2112695"/>
              <a:ext cx="1345441" cy="526527"/>
            </a:xfrm>
            <a:prstGeom prst="rect">
              <a:avLst/>
            </a:prstGeom>
            <a:solidFill>
              <a:schemeClr val="bg1"/>
            </a:solidFill>
            <a:ln>
              <a:solidFill>
                <a:srgbClr val="00B050"/>
              </a:solidFill>
            </a:ln>
          </p:spPr>
          <p:txBody>
            <a:bodyPr wrap="square" rtlCol="0">
              <a:spAutoFit/>
            </a:bodyPr>
            <a:lstStyle/>
            <a:p>
              <a:r>
                <a:rPr lang="en-AU" sz="1001" dirty="0"/>
                <a:t>PK; COMMENT_ID,; INTEGER,</a:t>
              </a:r>
            </a:p>
            <a:p>
              <a:r>
                <a:rPr lang="en-AU" sz="1001" dirty="0"/>
                <a:t>COMMENT_TEXT; VARCHAR(50),</a:t>
              </a:r>
            </a:p>
            <a:p>
              <a:r>
                <a:rPr lang="en-AU" sz="1001" dirty="0"/>
                <a:t>PUB_DATE; DATETIME,</a:t>
              </a:r>
            </a:p>
            <a:p>
              <a:r>
                <a:rPr lang="en-AU" sz="1001" dirty="0"/>
                <a:t>UPVOTES; INTEGER,</a:t>
              </a:r>
            </a:p>
            <a:p>
              <a:r>
                <a:rPr lang="en-AU" sz="1001" b="1" dirty="0">
                  <a:solidFill>
                    <a:srgbClr val="7030A0"/>
                  </a:solidFill>
                </a:rPr>
                <a:t>THREAD_ID</a:t>
              </a:r>
              <a:r>
                <a:rPr lang="en-AU" sz="1001" dirty="0"/>
                <a:t>; INTEGER,</a:t>
              </a:r>
            </a:p>
            <a:p>
              <a:r>
                <a:rPr lang="en-AU" sz="1001" b="1" dirty="0">
                  <a:solidFill>
                    <a:srgbClr val="FF0000"/>
                  </a:solidFill>
                </a:rPr>
                <a:t>USER_ID</a:t>
              </a:r>
              <a:r>
                <a:rPr lang="en-AU" sz="1001" dirty="0"/>
                <a:t>; INTEGER</a:t>
              </a:r>
            </a:p>
          </p:txBody>
        </p:sp>
        <p:sp>
          <p:nvSpPr>
            <p:cNvPr id="31" name="TextBox 30"/>
            <p:cNvSpPr txBox="1"/>
            <p:nvPr/>
          </p:nvSpPr>
          <p:spPr>
            <a:xfrm>
              <a:off x="8104335" y="1866474"/>
              <a:ext cx="1345441" cy="207396"/>
            </a:xfrm>
            <a:prstGeom prst="rect">
              <a:avLst/>
            </a:prstGeom>
            <a:solidFill>
              <a:schemeClr val="accent6">
                <a:lumMod val="20000"/>
                <a:lumOff val="80000"/>
              </a:schemeClr>
            </a:solidFill>
            <a:ln>
              <a:solidFill>
                <a:srgbClr val="00B050"/>
              </a:solidFill>
            </a:ln>
          </p:spPr>
          <p:txBody>
            <a:bodyPr wrap="square" rtlCol="0">
              <a:spAutoFit/>
            </a:bodyPr>
            <a:lstStyle/>
            <a:p>
              <a:pPr algn="ctr"/>
              <a:r>
                <a:rPr lang="en-AU" sz="1001" b="1" dirty="0"/>
                <a:t>COMMENT</a:t>
              </a:r>
            </a:p>
            <a:p>
              <a:pPr algn="ctr"/>
              <a:endParaRPr lang="en-AU" sz="1001" b="1" dirty="0">
                <a:latin typeface="Courier New" panose="02070309020205020404" pitchFamily="49" charset="0"/>
                <a:cs typeface="Courier New" panose="02070309020205020404" pitchFamily="49" charset="0"/>
              </a:endParaRPr>
            </a:p>
          </p:txBody>
        </p:sp>
      </p:grpSp>
      <p:grpSp>
        <p:nvGrpSpPr>
          <p:cNvPr id="32" name="Group 31"/>
          <p:cNvGrpSpPr/>
          <p:nvPr/>
        </p:nvGrpSpPr>
        <p:grpSpPr>
          <a:xfrm>
            <a:off x="7836449" y="55449"/>
            <a:ext cx="1797641" cy="1378256"/>
            <a:chOff x="8104335" y="1866474"/>
            <a:chExt cx="1345441" cy="937904"/>
          </a:xfrm>
        </p:grpSpPr>
        <p:sp>
          <p:nvSpPr>
            <p:cNvPr id="33" name="TextBox 32"/>
            <p:cNvSpPr txBox="1"/>
            <p:nvPr/>
          </p:nvSpPr>
          <p:spPr>
            <a:xfrm>
              <a:off x="8104335" y="2112695"/>
              <a:ext cx="1345441" cy="691683"/>
            </a:xfrm>
            <a:prstGeom prst="rect">
              <a:avLst/>
            </a:prstGeom>
            <a:solidFill>
              <a:schemeClr val="bg1"/>
            </a:solidFill>
            <a:ln>
              <a:solidFill>
                <a:srgbClr val="00B050"/>
              </a:solidFill>
            </a:ln>
          </p:spPr>
          <p:txBody>
            <a:bodyPr wrap="square" rtlCol="0">
              <a:spAutoFit/>
            </a:bodyPr>
            <a:lstStyle/>
            <a:p>
              <a:r>
                <a:rPr lang="en-AU" sz="1001" dirty="0"/>
                <a:t>PK; </a:t>
              </a:r>
              <a:r>
                <a:rPr lang="en-AU" sz="1001" b="1" dirty="0">
                  <a:solidFill>
                    <a:srgbClr val="7030A0"/>
                  </a:solidFill>
                </a:rPr>
                <a:t>THREAD_ID</a:t>
              </a:r>
              <a:r>
                <a:rPr lang="en-AU" sz="1001" dirty="0"/>
                <a:t>; INTEGER,</a:t>
              </a:r>
            </a:p>
            <a:p>
              <a:r>
                <a:rPr lang="en-AU" sz="1001" dirty="0"/>
                <a:t>THREAD_TITLE; VARCHAR(30),</a:t>
              </a:r>
            </a:p>
            <a:p>
              <a:r>
                <a:rPr lang="en-AU" sz="1001" dirty="0"/>
                <a:t>THREAD_TEXT;  VARCHAR(50),</a:t>
              </a:r>
            </a:p>
            <a:p>
              <a:r>
                <a:rPr lang="en-AU" sz="1001" dirty="0"/>
                <a:t>PUBDATE; DATETIME,</a:t>
              </a:r>
            </a:p>
            <a:p>
              <a:r>
                <a:rPr lang="en-AU" sz="1001" dirty="0"/>
                <a:t>UPVOTES, INTEGER,</a:t>
              </a:r>
            </a:p>
            <a:p>
              <a:r>
                <a:rPr lang="en-AU" sz="1001" b="1" dirty="0">
                  <a:solidFill>
                    <a:srgbClr val="FF0000"/>
                  </a:solidFill>
                </a:rPr>
                <a:t>USER_ID</a:t>
              </a:r>
              <a:r>
                <a:rPr lang="en-AU" sz="1001" dirty="0"/>
                <a:t>, INTEGER</a:t>
              </a:r>
            </a:p>
          </p:txBody>
        </p:sp>
        <p:sp>
          <p:nvSpPr>
            <p:cNvPr id="34" name="TextBox 33"/>
            <p:cNvSpPr txBox="1"/>
            <p:nvPr/>
          </p:nvSpPr>
          <p:spPr>
            <a:xfrm>
              <a:off x="8104335" y="1866474"/>
              <a:ext cx="1345441" cy="272449"/>
            </a:xfrm>
            <a:prstGeom prst="rect">
              <a:avLst/>
            </a:prstGeom>
            <a:solidFill>
              <a:schemeClr val="accent6">
                <a:lumMod val="20000"/>
                <a:lumOff val="80000"/>
              </a:schemeClr>
            </a:solidFill>
            <a:ln>
              <a:solidFill>
                <a:srgbClr val="00B050"/>
              </a:solidFill>
            </a:ln>
          </p:spPr>
          <p:txBody>
            <a:bodyPr wrap="square" rtlCol="0">
              <a:spAutoFit/>
            </a:bodyPr>
            <a:lstStyle/>
            <a:p>
              <a:pPr algn="ctr"/>
              <a:r>
                <a:rPr lang="en-AU" sz="1001" b="1" dirty="0"/>
                <a:t>THREAD</a:t>
              </a:r>
            </a:p>
            <a:p>
              <a:pPr algn="ctr"/>
              <a:endParaRPr lang="en-AU" sz="1001" b="1" dirty="0">
                <a:latin typeface="Courier New" panose="02070309020205020404" pitchFamily="49" charset="0"/>
                <a:cs typeface="Courier New" panose="02070309020205020404" pitchFamily="49" charset="0"/>
              </a:endParaRPr>
            </a:p>
          </p:txBody>
        </p:sp>
      </p:grpSp>
      <p:sp>
        <p:nvSpPr>
          <p:cNvPr id="35" name="TextBox 34"/>
          <p:cNvSpPr txBox="1"/>
          <p:nvPr/>
        </p:nvSpPr>
        <p:spPr>
          <a:xfrm>
            <a:off x="8230179" y="3184372"/>
            <a:ext cx="2285425" cy="708399"/>
          </a:xfrm>
          <a:prstGeom prst="rect">
            <a:avLst/>
          </a:prstGeom>
          <a:solidFill>
            <a:schemeClr val="bg1"/>
          </a:solidFill>
          <a:ln>
            <a:solidFill>
              <a:srgbClr val="00B050"/>
            </a:solidFill>
          </a:ln>
        </p:spPr>
        <p:txBody>
          <a:bodyPr wrap="square" rtlCol="0">
            <a:spAutoFit/>
          </a:bodyPr>
          <a:lstStyle/>
          <a:p>
            <a:r>
              <a:rPr lang="en-AU" sz="1001" dirty="0"/>
              <a:t>Related </a:t>
            </a:r>
            <a:r>
              <a:rPr lang="en-AU" sz="1001" dirty="0" err="1"/>
              <a:t>eSport</a:t>
            </a:r>
            <a:r>
              <a:rPr lang="en-AU" sz="1001" dirty="0"/>
              <a:t> components can always be added through the SQL ‘ALTER’ statement.</a:t>
            </a:r>
          </a:p>
          <a:p>
            <a:r>
              <a:rPr lang="en-AU" sz="1001" dirty="0">
                <a:hlinkClick r:id="rId6"/>
              </a:rPr>
              <a:t>http://w3schools.com/sql/sql_alter.asp</a:t>
            </a:r>
            <a:endParaRPr lang="en-AU" sz="1001" dirty="0">
              <a:latin typeface="Courier New" panose="02070309020205020404" pitchFamily="49" charset="0"/>
              <a:cs typeface="Courier New" panose="02070309020205020404" pitchFamily="49" charset="0"/>
            </a:endParaRPr>
          </a:p>
        </p:txBody>
      </p:sp>
      <p:sp>
        <p:nvSpPr>
          <p:cNvPr id="36" name="TextBox 35"/>
          <p:cNvSpPr txBox="1"/>
          <p:nvPr/>
        </p:nvSpPr>
        <p:spPr>
          <a:xfrm>
            <a:off x="6110260" y="3184371"/>
            <a:ext cx="2037193" cy="708399"/>
          </a:xfrm>
          <a:prstGeom prst="rect">
            <a:avLst/>
          </a:prstGeom>
          <a:solidFill>
            <a:schemeClr val="bg1"/>
          </a:solidFill>
          <a:ln>
            <a:solidFill>
              <a:srgbClr val="00B050"/>
            </a:solidFill>
          </a:ln>
        </p:spPr>
        <p:txBody>
          <a:bodyPr wrap="square" rtlCol="0">
            <a:spAutoFit/>
          </a:bodyPr>
          <a:lstStyle/>
          <a:p>
            <a:r>
              <a:rPr lang="en-AU" sz="1001" dirty="0">
                <a:latin typeface="Courier New" panose="02070309020205020404" pitchFamily="49" charset="0"/>
                <a:cs typeface="Courier New" panose="02070309020205020404" pitchFamily="49" charset="0"/>
              </a:rPr>
              <a:t>ALTER TABLE Users</a:t>
            </a:r>
          </a:p>
          <a:p>
            <a:r>
              <a:rPr lang="en-AU" sz="1001" dirty="0">
                <a:latin typeface="Courier New" panose="02070309020205020404" pitchFamily="49" charset="0"/>
                <a:cs typeface="Courier New" panose="02070309020205020404" pitchFamily="49" charset="0"/>
              </a:rPr>
              <a:t>ADD </a:t>
            </a:r>
          </a:p>
          <a:p>
            <a:r>
              <a:rPr lang="en-AU" sz="1001" dirty="0">
                <a:latin typeface="Courier New" panose="02070309020205020404" pitchFamily="49" charset="0"/>
                <a:cs typeface="Courier New" panose="02070309020205020404" pitchFamily="49" charset="0"/>
              </a:rPr>
              <a:t>   </a:t>
            </a:r>
            <a:r>
              <a:rPr lang="en-AU" sz="1001" dirty="0" err="1">
                <a:latin typeface="Courier New" panose="02070309020205020404" pitchFamily="49" charset="0"/>
                <a:cs typeface="Courier New" panose="02070309020205020404" pitchFamily="49" charset="0"/>
              </a:rPr>
              <a:t>FIFAWins</a:t>
            </a:r>
            <a:r>
              <a:rPr lang="en-AU" sz="1001" dirty="0">
                <a:latin typeface="Courier New" panose="02070309020205020404" pitchFamily="49" charset="0"/>
                <a:cs typeface="Courier New" panose="02070309020205020404" pitchFamily="49" charset="0"/>
              </a:rPr>
              <a:t> integer,</a:t>
            </a:r>
          </a:p>
          <a:p>
            <a:r>
              <a:rPr lang="en-AU" sz="1001" dirty="0">
                <a:latin typeface="Courier New" panose="02070309020205020404" pitchFamily="49" charset="0"/>
                <a:cs typeface="Courier New" panose="02070309020205020404" pitchFamily="49" charset="0"/>
              </a:rPr>
              <a:t>   </a:t>
            </a:r>
            <a:r>
              <a:rPr lang="en-AU" sz="1001" dirty="0" err="1">
                <a:latin typeface="Courier New" panose="02070309020205020404" pitchFamily="49" charset="0"/>
                <a:cs typeface="Courier New" panose="02070309020205020404" pitchFamily="49" charset="0"/>
              </a:rPr>
              <a:t>FIFALosses</a:t>
            </a:r>
            <a:r>
              <a:rPr lang="en-AU" sz="1001" dirty="0">
                <a:latin typeface="Courier New" panose="02070309020205020404" pitchFamily="49" charset="0"/>
                <a:cs typeface="Courier New" panose="02070309020205020404" pitchFamily="49" charset="0"/>
              </a:rPr>
              <a:t> integer;</a:t>
            </a:r>
          </a:p>
        </p:txBody>
      </p:sp>
      <p:cxnSp>
        <p:nvCxnSpPr>
          <p:cNvPr id="37" name="Straight Arrow Connector 36"/>
          <p:cNvCxnSpPr>
            <a:stCxn id="35" idx="1"/>
          </p:cNvCxnSpPr>
          <p:nvPr/>
        </p:nvCxnSpPr>
        <p:spPr>
          <a:xfrm flipH="1" flipV="1">
            <a:off x="7814367" y="3538314"/>
            <a:ext cx="415810" cy="256"/>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40" name="Straight Arrow Connector 39"/>
          <p:cNvCxnSpPr/>
          <p:nvPr/>
        </p:nvCxnSpPr>
        <p:spPr>
          <a:xfrm>
            <a:off x="10155383" y="3538316"/>
            <a:ext cx="636334" cy="25177"/>
          </a:xfrm>
          <a:prstGeom prst="straightConnector1">
            <a:avLst/>
          </a:prstGeom>
          <a:ln w="63500">
            <a:solidFill>
              <a:srgbClr val="FF0000"/>
            </a:solidFill>
            <a:headEnd type="triangle"/>
            <a:tailEnd type="triangle"/>
          </a:ln>
        </p:spPr>
        <p:style>
          <a:lnRef idx="1">
            <a:schemeClr val="accent2"/>
          </a:lnRef>
          <a:fillRef idx="0">
            <a:schemeClr val="accent2"/>
          </a:fillRef>
          <a:effectRef idx="0">
            <a:schemeClr val="accent2"/>
          </a:effectRef>
          <a:fontRef idx="minor">
            <a:schemeClr val="tx1"/>
          </a:fontRef>
        </p:style>
      </p:cxnSp>
      <p:grpSp>
        <p:nvGrpSpPr>
          <p:cNvPr id="43" name="Group 42"/>
          <p:cNvGrpSpPr/>
          <p:nvPr/>
        </p:nvGrpSpPr>
        <p:grpSpPr>
          <a:xfrm>
            <a:off x="7805140" y="2073537"/>
            <a:ext cx="1924684" cy="943737"/>
            <a:chOff x="8104335" y="1990786"/>
            <a:chExt cx="1345441" cy="488870"/>
          </a:xfrm>
        </p:grpSpPr>
        <p:sp>
          <p:nvSpPr>
            <p:cNvPr id="44" name="TextBox 43"/>
            <p:cNvSpPr txBox="1"/>
            <p:nvPr/>
          </p:nvSpPr>
          <p:spPr>
            <a:xfrm>
              <a:off x="8104335" y="2112695"/>
              <a:ext cx="1345441" cy="366961"/>
            </a:xfrm>
            <a:prstGeom prst="rect">
              <a:avLst/>
            </a:prstGeom>
            <a:solidFill>
              <a:schemeClr val="bg1"/>
            </a:solidFill>
            <a:ln>
              <a:solidFill>
                <a:srgbClr val="00B050"/>
              </a:solidFill>
            </a:ln>
          </p:spPr>
          <p:txBody>
            <a:bodyPr wrap="square" rtlCol="0">
              <a:spAutoFit/>
            </a:bodyPr>
            <a:lstStyle/>
            <a:p>
              <a:r>
                <a:rPr lang="en-AU" sz="1001" dirty="0"/>
                <a:t>PK; ALERT_ID,; INTEGER,</a:t>
              </a:r>
            </a:p>
            <a:p>
              <a:r>
                <a:rPr lang="en-AU" sz="1001" dirty="0"/>
                <a:t>ALERT_TEXT; VARCHAR(50),</a:t>
              </a:r>
            </a:p>
            <a:p>
              <a:r>
                <a:rPr lang="en-AU" sz="1001" dirty="0"/>
                <a:t>PUB_DATE; DATETIME,</a:t>
              </a:r>
            </a:p>
            <a:p>
              <a:r>
                <a:rPr lang="en-AU" sz="1001" b="1" dirty="0">
                  <a:solidFill>
                    <a:srgbClr val="FF0000"/>
                  </a:solidFill>
                </a:rPr>
                <a:t>USER_ID</a:t>
              </a:r>
              <a:r>
                <a:rPr lang="en-AU" sz="1001" dirty="0"/>
                <a:t>; INTEGER</a:t>
              </a:r>
            </a:p>
          </p:txBody>
        </p:sp>
        <p:sp>
          <p:nvSpPr>
            <p:cNvPr id="45" name="TextBox 44"/>
            <p:cNvSpPr txBox="1"/>
            <p:nvPr/>
          </p:nvSpPr>
          <p:spPr>
            <a:xfrm>
              <a:off x="8104335" y="1990786"/>
              <a:ext cx="1345441" cy="127612"/>
            </a:xfrm>
            <a:prstGeom prst="rect">
              <a:avLst/>
            </a:prstGeom>
            <a:solidFill>
              <a:schemeClr val="accent6">
                <a:lumMod val="20000"/>
                <a:lumOff val="80000"/>
              </a:schemeClr>
            </a:solidFill>
            <a:ln>
              <a:solidFill>
                <a:srgbClr val="00B050"/>
              </a:solidFill>
            </a:ln>
          </p:spPr>
          <p:txBody>
            <a:bodyPr wrap="square" rtlCol="0">
              <a:spAutoFit/>
            </a:bodyPr>
            <a:lstStyle/>
            <a:p>
              <a:pPr algn="ctr"/>
              <a:r>
                <a:rPr lang="en-AU" sz="1001" b="1" dirty="0"/>
                <a:t>ALERT</a:t>
              </a:r>
              <a:endParaRPr lang="en-AU" sz="1001" b="1" dirty="0">
                <a:latin typeface="Courier New" panose="02070309020205020404" pitchFamily="49" charset="0"/>
                <a:cs typeface="Courier New" panose="02070309020205020404" pitchFamily="49" charset="0"/>
              </a:endParaRPr>
            </a:p>
          </p:txBody>
        </p:sp>
      </p:grpSp>
      <p:cxnSp>
        <p:nvCxnSpPr>
          <p:cNvPr id="46" name="Straight Arrow Connector 45"/>
          <p:cNvCxnSpPr>
            <a:cxnSpLocks/>
          </p:cNvCxnSpPr>
          <p:nvPr/>
        </p:nvCxnSpPr>
        <p:spPr>
          <a:xfrm flipV="1">
            <a:off x="5948218" y="2959537"/>
            <a:ext cx="1" cy="1293993"/>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grpSp>
        <p:nvGrpSpPr>
          <p:cNvPr id="71" name="Group 70"/>
          <p:cNvGrpSpPr/>
          <p:nvPr/>
        </p:nvGrpSpPr>
        <p:grpSpPr>
          <a:xfrm>
            <a:off x="7292072" y="948779"/>
            <a:ext cx="682949" cy="276558"/>
            <a:chOff x="6640636" y="269769"/>
            <a:chExt cx="682949" cy="276558"/>
          </a:xfrm>
        </p:grpSpPr>
        <p:cxnSp>
          <p:nvCxnSpPr>
            <p:cNvPr id="64" name="Straight Connector 63"/>
            <p:cNvCxnSpPr/>
            <p:nvPr/>
          </p:nvCxnSpPr>
          <p:spPr>
            <a:xfrm flipV="1">
              <a:off x="6640636" y="393671"/>
              <a:ext cx="515128" cy="1298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Arc 64"/>
            <p:cNvSpPr/>
            <p:nvPr/>
          </p:nvSpPr>
          <p:spPr>
            <a:xfrm rot="4566630" flipV="1">
              <a:off x="7076365" y="269019"/>
              <a:ext cx="225327" cy="255829"/>
            </a:xfrm>
            <a:prstGeom prst="arc">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sz="1801"/>
            </a:p>
          </p:txBody>
        </p:sp>
        <p:sp>
          <p:nvSpPr>
            <p:cNvPr id="66" name="Arc 65"/>
            <p:cNvSpPr/>
            <p:nvPr/>
          </p:nvSpPr>
          <p:spPr>
            <a:xfrm rot="9966630" flipV="1">
              <a:off x="7058135" y="269769"/>
              <a:ext cx="265450" cy="209093"/>
            </a:xfrm>
            <a:prstGeom prst="arc">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sz="1801"/>
            </a:p>
          </p:txBody>
        </p:sp>
        <p:cxnSp>
          <p:nvCxnSpPr>
            <p:cNvPr id="67" name="Straight Connector 66"/>
            <p:cNvCxnSpPr/>
            <p:nvPr/>
          </p:nvCxnSpPr>
          <p:spPr>
            <a:xfrm rot="13235887">
              <a:off x="6735268" y="468889"/>
              <a:ext cx="117924" cy="77438"/>
            </a:xfrm>
            <a:prstGeom prst="line">
              <a:avLst/>
            </a:prstGeom>
          </p:spPr>
          <p:style>
            <a:lnRef idx="1">
              <a:schemeClr val="dk1"/>
            </a:lnRef>
            <a:fillRef idx="0">
              <a:schemeClr val="dk1"/>
            </a:fillRef>
            <a:effectRef idx="0">
              <a:schemeClr val="dk1"/>
            </a:effectRef>
            <a:fontRef idx="minor">
              <a:schemeClr val="tx1"/>
            </a:fontRef>
          </p:style>
        </p:cxnSp>
      </p:grpSp>
      <p:grpSp>
        <p:nvGrpSpPr>
          <p:cNvPr id="72" name="Group 71"/>
          <p:cNvGrpSpPr/>
          <p:nvPr/>
        </p:nvGrpSpPr>
        <p:grpSpPr>
          <a:xfrm rot="2174926">
            <a:off x="7290228" y="2236879"/>
            <a:ext cx="682949" cy="276558"/>
            <a:chOff x="6640636" y="269769"/>
            <a:chExt cx="682949" cy="276558"/>
          </a:xfrm>
        </p:grpSpPr>
        <p:cxnSp>
          <p:nvCxnSpPr>
            <p:cNvPr id="73" name="Straight Connector 72"/>
            <p:cNvCxnSpPr/>
            <p:nvPr/>
          </p:nvCxnSpPr>
          <p:spPr>
            <a:xfrm flipV="1">
              <a:off x="6640636" y="393671"/>
              <a:ext cx="515128" cy="1298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Arc 73"/>
            <p:cNvSpPr/>
            <p:nvPr/>
          </p:nvSpPr>
          <p:spPr>
            <a:xfrm rot="4566630" flipV="1">
              <a:off x="7076365" y="269019"/>
              <a:ext cx="225327" cy="255829"/>
            </a:xfrm>
            <a:prstGeom prst="arc">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sz="1801"/>
            </a:p>
          </p:txBody>
        </p:sp>
        <p:sp>
          <p:nvSpPr>
            <p:cNvPr id="75" name="Arc 74"/>
            <p:cNvSpPr/>
            <p:nvPr/>
          </p:nvSpPr>
          <p:spPr>
            <a:xfrm rot="9966630" flipV="1">
              <a:off x="7058135" y="269769"/>
              <a:ext cx="265450" cy="209093"/>
            </a:xfrm>
            <a:prstGeom prst="arc">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sz="1801"/>
            </a:p>
          </p:txBody>
        </p:sp>
        <p:cxnSp>
          <p:nvCxnSpPr>
            <p:cNvPr id="76" name="Straight Connector 75"/>
            <p:cNvCxnSpPr/>
            <p:nvPr/>
          </p:nvCxnSpPr>
          <p:spPr>
            <a:xfrm rot="13235887">
              <a:off x="6735268" y="468889"/>
              <a:ext cx="117924" cy="77438"/>
            </a:xfrm>
            <a:prstGeom prst="line">
              <a:avLst/>
            </a:prstGeom>
          </p:spPr>
          <p:style>
            <a:lnRef idx="1">
              <a:schemeClr val="dk1"/>
            </a:lnRef>
            <a:fillRef idx="0">
              <a:schemeClr val="dk1"/>
            </a:fillRef>
            <a:effectRef idx="0">
              <a:schemeClr val="dk1"/>
            </a:effectRef>
            <a:fontRef idx="minor">
              <a:schemeClr val="tx1"/>
            </a:fontRef>
          </p:style>
        </p:cxnSp>
      </p:grpSp>
      <p:cxnSp>
        <p:nvCxnSpPr>
          <p:cNvPr id="83" name="Straight Connector 82"/>
          <p:cNvCxnSpPr/>
          <p:nvPr/>
        </p:nvCxnSpPr>
        <p:spPr>
          <a:xfrm flipV="1">
            <a:off x="7276336" y="1609686"/>
            <a:ext cx="2745356" cy="2081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7" name="Group 86"/>
          <p:cNvGrpSpPr/>
          <p:nvPr/>
        </p:nvGrpSpPr>
        <p:grpSpPr>
          <a:xfrm>
            <a:off x="9888646" y="1490063"/>
            <a:ext cx="266092" cy="239238"/>
            <a:chOff x="8621426" y="1587480"/>
            <a:chExt cx="266092" cy="239238"/>
          </a:xfrm>
        </p:grpSpPr>
        <p:sp>
          <p:nvSpPr>
            <p:cNvPr id="84" name="Arc 83"/>
            <p:cNvSpPr/>
            <p:nvPr/>
          </p:nvSpPr>
          <p:spPr>
            <a:xfrm rot="5122927" flipV="1">
              <a:off x="8636677" y="1586140"/>
              <a:ext cx="225327" cy="255829"/>
            </a:xfrm>
            <a:prstGeom prst="arc">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sz="1801"/>
            </a:p>
          </p:txBody>
        </p:sp>
        <p:sp>
          <p:nvSpPr>
            <p:cNvPr id="85" name="Arc 84"/>
            <p:cNvSpPr/>
            <p:nvPr/>
          </p:nvSpPr>
          <p:spPr>
            <a:xfrm rot="10522927" flipV="1">
              <a:off x="8622068" y="1587480"/>
              <a:ext cx="265450" cy="209093"/>
            </a:xfrm>
            <a:prstGeom prst="arc">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sz="1801"/>
            </a:p>
          </p:txBody>
        </p:sp>
      </p:grpSp>
      <p:cxnSp>
        <p:nvCxnSpPr>
          <p:cNvPr id="86" name="Straight Connector 85"/>
          <p:cNvCxnSpPr/>
          <p:nvPr/>
        </p:nvCxnSpPr>
        <p:spPr>
          <a:xfrm rot="13792184">
            <a:off x="7301135" y="1785623"/>
            <a:ext cx="117924" cy="77438"/>
          </a:xfrm>
          <a:prstGeom prst="line">
            <a:avLst/>
          </a:prstGeom>
        </p:spPr>
        <p:style>
          <a:lnRef idx="1">
            <a:schemeClr val="dk1"/>
          </a:lnRef>
          <a:fillRef idx="0">
            <a:schemeClr val="dk1"/>
          </a:fillRef>
          <a:effectRef idx="0">
            <a:schemeClr val="dk1"/>
          </a:effectRef>
          <a:fontRef idx="minor">
            <a:schemeClr val="tx1"/>
          </a:fontRef>
        </p:style>
      </p:cxnSp>
      <p:grpSp>
        <p:nvGrpSpPr>
          <p:cNvPr id="90" name="Group 89"/>
          <p:cNvGrpSpPr/>
          <p:nvPr/>
        </p:nvGrpSpPr>
        <p:grpSpPr>
          <a:xfrm rot="2162958">
            <a:off x="9613436" y="326528"/>
            <a:ext cx="682949" cy="276558"/>
            <a:chOff x="6640636" y="269769"/>
            <a:chExt cx="682949" cy="276558"/>
          </a:xfrm>
        </p:grpSpPr>
        <p:cxnSp>
          <p:nvCxnSpPr>
            <p:cNvPr id="91" name="Straight Connector 90"/>
            <p:cNvCxnSpPr/>
            <p:nvPr/>
          </p:nvCxnSpPr>
          <p:spPr>
            <a:xfrm flipV="1">
              <a:off x="6640636" y="393671"/>
              <a:ext cx="515128" cy="1298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2" name="Arc 91"/>
            <p:cNvSpPr/>
            <p:nvPr/>
          </p:nvSpPr>
          <p:spPr>
            <a:xfrm rot="4566630" flipV="1">
              <a:off x="7076365" y="269019"/>
              <a:ext cx="225327" cy="255829"/>
            </a:xfrm>
            <a:prstGeom prst="arc">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sz="1801"/>
            </a:p>
          </p:txBody>
        </p:sp>
        <p:sp>
          <p:nvSpPr>
            <p:cNvPr id="93" name="Arc 92"/>
            <p:cNvSpPr/>
            <p:nvPr/>
          </p:nvSpPr>
          <p:spPr>
            <a:xfrm rot="9966630" flipV="1">
              <a:off x="7058135" y="269769"/>
              <a:ext cx="265450" cy="209093"/>
            </a:xfrm>
            <a:prstGeom prst="arc">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sz="1801"/>
            </a:p>
          </p:txBody>
        </p:sp>
        <p:cxnSp>
          <p:nvCxnSpPr>
            <p:cNvPr id="94" name="Straight Connector 93"/>
            <p:cNvCxnSpPr/>
            <p:nvPr/>
          </p:nvCxnSpPr>
          <p:spPr>
            <a:xfrm rot="13235887">
              <a:off x="6735268" y="468889"/>
              <a:ext cx="117924" cy="77438"/>
            </a:xfrm>
            <a:prstGeom prst="line">
              <a:avLst/>
            </a:prstGeom>
          </p:spPr>
          <p:style>
            <a:lnRef idx="1">
              <a:schemeClr val="dk1"/>
            </a:lnRef>
            <a:fillRef idx="0">
              <a:schemeClr val="dk1"/>
            </a:fillRef>
            <a:effectRef idx="0">
              <a:schemeClr val="dk1"/>
            </a:effectRef>
            <a:fontRef idx="minor">
              <a:schemeClr val="tx1"/>
            </a:fontRef>
          </p:style>
        </p:cxnSp>
      </p:grpSp>
      <p:pic>
        <p:nvPicPr>
          <p:cNvPr id="95" name="Picture 94"/>
          <p:cNvPicPr>
            <a:picLocks noChangeAspect="1"/>
          </p:cNvPicPr>
          <p:nvPr/>
        </p:nvPicPr>
        <p:blipFill>
          <a:blip r:embed="rId7"/>
          <a:stretch>
            <a:fillRect/>
          </a:stretch>
        </p:blipFill>
        <p:spPr>
          <a:xfrm>
            <a:off x="119134" y="618977"/>
            <a:ext cx="4281798" cy="2283625"/>
          </a:xfrm>
          <a:prstGeom prst="rect">
            <a:avLst/>
          </a:prstGeom>
          <a:ln>
            <a:solidFill>
              <a:srgbClr val="00B050"/>
            </a:solidFill>
          </a:ln>
        </p:spPr>
      </p:pic>
      <p:sp>
        <p:nvSpPr>
          <p:cNvPr id="96" name="TextBox 95"/>
          <p:cNvSpPr txBox="1"/>
          <p:nvPr/>
        </p:nvSpPr>
        <p:spPr>
          <a:xfrm>
            <a:off x="5656179" y="98304"/>
            <a:ext cx="2137852" cy="708399"/>
          </a:xfrm>
          <a:prstGeom prst="rect">
            <a:avLst/>
          </a:prstGeom>
          <a:solidFill>
            <a:schemeClr val="bg1"/>
          </a:solidFill>
          <a:ln>
            <a:solidFill>
              <a:srgbClr val="00B050"/>
            </a:solidFill>
          </a:ln>
        </p:spPr>
        <p:txBody>
          <a:bodyPr wrap="square" rtlCol="0">
            <a:spAutoFit/>
          </a:bodyPr>
          <a:lstStyle/>
          <a:p>
            <a:r>
              <a:rPr lang="en-AU" sz="1001" dirty="0"/>
              <a:t>This diagram describes how the models relate to each other with Foreign Keys and particularly one-to-many relationships.</a:t>
            </a:r>
            <a:endParaRPr lang="en-AU" sz="1001" dirty="0">
              <a:latin typeface="Courier New" panose="02070309020205020404" pitchFamily="49" charset="0"/>
              <a:cs typeface="Courier New" panose="02070309020205020404" pitchFamily="49" charset="0"/>
            </a:endParaRPr>
          </a:p>
        </p:txBody>
      </p:sp>
      <p:pic>
        <p:nvPicPr>
          <p:cNvPr id="97" name="Picture 6" descr="Image result for csv icon&quot;"/>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9353" y="2278130"/>
            <a:ext cx="612662" cy="612662"/>
          </a:xfrm>
          <a:prstGeom prst="rect">
            <a:avLst/>
          </a:prstGeom>
          <a:noFill/>
          <a:extLst>
            <a:ext uri="{909E8E84-426E-40DD-AFC4-6F175D3DCCD1}">
              <a14:hiddenFill xmlns:a14="http://schemas.microsoft.com/office/drawing/2010/main">
                <a:solidFill>
                  <a:srgbClr val="FFFFFF"/>
                </a:solidFill>
              </a14:hiddenFill>
            </a:ext>
          </a:extLst>
        </p:spPr>
      </p:pic>
      <p:sp>
        <p:nvSpPr>
          <p:cNvPr id="98" name="TextBox 97"/>
          <p:cNvSpPr txBox="1"/>
          <p:nvPr/>
        </p:nvSpPr>
        <p:spPr>
          <a:xfrm>
            <a:off x="4482859" y="486299"/>
            <a:ext cx="1086716" cy="2248564"/>
          </a:xfrm>
          <a:prstGeom prst="rect">
            <a:avLst/>
          </a:prstGeom>
          <a:solidFill>
            <a:schemeClr val="bg1"/>
          </a:solidFill>
          <a:ln>
            <a:solidFill>
              <a:srgbClr val="00B050"/>
            </a:solidFill>
          </a:ln>
        </p:spPr>
        <p:txBody>
          <a:bodyPr wrap="square" rtlCol="0">
            <a:spAutoFit/>
          </a:bodyPr>
          <a:lstStyle/>
          <a:p>
            <a:r>
              <a:rPr lang="en-AU" sz="1001" dirty="0"/>
              <a:t>There are methods of exporting .csv to SQL or SQLite such as with </a:t>
            </a:r>
            <a:r>
              <a:rPr lang="en-AU" sz="1001" dirty="0" err="1"/>
              <a:t>USBWebserver</a:t>
            </a:r>
            <a:r>
              <a:rPr lang="en-AU" sz="1001" dirty="0"/>
              <a:t> and </a:t>
            </a:r>
            <a:r>
              <a:rPr lang="en-AU" sz="1001" dirty="0" err="1"/>
              <a:t>phpMyAdmin</a:t>
            </a:r>
            <a:endParaRPr lang="en-AU" sz="1001" dirty="0">
              <a:hlinkClick r:id="rId9"/>
            </a:endParaRPr>
          </a:p>
          <a:p>
            <a:endParaRPr lang="en-AU" sz="1001" dirty="0">
              <a:hlinkClick r:id="rId9"/>
            </a:endParaRPr>
          </a:p>
          <a:p>
            <a:r>
              <a:rPr lang="en-AU" sz="1001" dirty="0">
                <a:hlinkClick r:id="rId9"/>
              </a:rPr>
              <a:t>https://www.sqlshack.com/importing-and-working-with-csv-files-in-sql-server/</a:t>
            </a:r>
            <a:endParaRPr lang="en-AU" sz="1001" dirty="0">
              <a:latin typeface="Courier New" panose="02070309020205020404" pitchFamily="49" charset="0"/>
              <a:cs typeface="Courier New" panose="02070309020205020404" pitchFamily="49" charset="0"/>
            </a:endParaRPr>
          </a:p>
        </p:txBody>
      </p:sp>
      <p:sp>
        <p:nvSpPr>
          <p:cNvPr id="99" name="TextBox 98"/>
          <p:cNvSpPr txBox="1"/>
          <p:nvPr/>
        </p:nvSpPr>
        <p:spPr>
          <a:xfrm>
            <a:off x="3518611" y="2959538"/>
            <a:ext cx="2287196" cy="1016432"/>
          </a:xfrm>
          <a:prstGeom prst="rect">
            <a:avLst/>
          </a:prstGeom>
          <a:solidFill>
            <a:schemeClr val="bg1"/>
          </a:solidFill>
          <a:ln>
            <a:solidFill>
              <a:srgbClr val="00B050"/>
            </a:solidFill>
          </a:ln>
        </p:spPr>
        <p:txBody>
          <a:bodyPr wrap="square" rtlCol="0">
            <a:spAutoFit/>
          </a:bodyPr>
          <a:lstStyle/>
          <a:p>
            <a:r>
              <a:rPr lang="en-AU" sz="1001" dirty="0"/>
              <a:t>Data can be stored within Excel .csv files and through data upload methods, large sums of data can be transferred. This also accounts for downloading open-source csv files for easy data that can help optimise the FIFA Web App. </a:t>
            </a:r>
            <a:endParaRPr lang="en-AU" sz="1001" dirty="0">
              <a:latin typeface="Courier New" panose="02070309020205020404" pitchFamily="49" charset="0"/>
              <a:cs typeface="Courier New" panose="02070309020205020404" pitchFamily="49" charset="0"/>
            </a:endParaRPr>
          </a:p>
        </p:txBody>
      </p:sp>
      <p:sp>
        <p:nvSpPr>
          <p:cNvPr id="100" name="TextBox 99"/>
          <p:cNvSpPr txBox="1"/>
          <p:nvPr/>
        </p:nvSpPr>
        <p:spPr>
          <a:xfrm>
            <a:off x="9809655" y="1934693"/>
            <a:ext cx="2257753" cy="1016432"/>
          </a:xfrm>
          <a:prstGeom prst="rect">
            <a:avLst/>
          </a:prstGeom>
          <a:solidFill>
            <a:schemeClr val="bg1"/>
          </a:solidFill>
          <a:ln>
            <a:solidFill>
              <a:srgbClr val="00B050"/>
            </a:solidFill>
          </a:ln>
        </p:spPr>
        <p:txBody>
          <a:bodyPr wrap="square" rtlCol="0">
            <a:spAutoFit/>
          </a:bodyPr>
          <a:lstStyle/>
          <a:p>
            <a:r>
              <a:rPr lang="en-AU" sz="1001" dirty="0"/>
              <a:t>And if data is viewed to be redundant, it can be deleted through SQL</a:t>
            </a:r>
            <a:r>
              <a:rPr lang="en-AU" sz="1001" dirty="0">
                <a:latin typeface="Courier New" panose="02070309020205020404" pitchFamily="49" charset="0"/>
                <a:cs typeface="Courier New" panose="02070309020205020404" pitchFamily="49" charset="0"/>
              </a:rPr>
              <a:t>;</a:t>
            </a:r>
          </a:p>
          <a:p>
            <a:r>
              <a:rPr lang="en-AU" sz="1001" dirty="0"/>
              <a:t>DELETE FROM TABLE Users </a:t>
            </a:r>
          </a:p>
          <a:p>
            <a:r>
              <a:rPr lang="en-AU" sz="1001" dirty="0"/>
              <a:t>FIELD ‘</a:t>
            </a:r>
            <a:r>
              <a:rPr lang="en-AU" sz="1001" dirty="0" err="1"/>
              <a:t>is_Staff</a:t>
            </a:r>
            <a:r>
              <a:rPr lang="en-AU" sz="1001" dirty="0"/>
              <a:t>’;</a:t>
            </a:r>
          </a:p>
          <a:p>
            <a:r>
              <a:rPr lang="en-AU" sz="1001" dirty="0"/>
              <a:t>(</a:t>
            </a:r>
            <a:r>
              <a:rPr lang="en-AU" sz="1001" dirty="0">
                <a:hlinkClick r:id="rId10"/>
              </a:rPr>
              <a:t>https://www.w3schools.com/sql/sql_delete.asp</a:t>
            </a:r>
            <a:r>
              <a:rPr lang="en-AU" sz="1001" dirty="0"/>
              <a:t>)</a:t>
            </a:r>
          </a:p>
        </p:txBody>
      </p:sp>
    </p:spTree>
    <p:extLst>
      <p:ext uri="{BB962C8B-B14F-4D97-AF65-F5344CB8AC3E}">
        <p14:creationId xmlns:p14="http://schemas.microsoft.com/office/powerpoint/2010/main" val="2760633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5"/>
                                        </p:tgtEl>
                                        <p:attrNameLst>
                                          <p:attrName>style.visibility</p:attrName>
                                        </p:attrNameLst>
                                      </p:cBhvr>
                                      <p:to>
                                        <p:strVal val="visible"/>
                                      </p:to>
                                    </p:set>
                                    <p:animEffect transition="in" filter="fade">
                                      <p:cBhvr>
                                        <p:cTn id="7" dur="500"/>
                                        <p:tgtEl>
                                          <p:spTgt spid="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5" y="-290944"/>
            <a:ext cx="2939143" cy="1325563"/>
          </a:xfrm>
        </p:spPr>
        <p:txBody>
          <a:bodyPr>
            <a:normAutofit/>
          </a:bodyPr>
          <a:lstStyle/>
          <a:p>
            <a:r>
              <a:rPr lang="en-AU" sz="2400" b="1" dirty="0"/>
              <a:t>Development- Data 2</a:t>
            </a:r>
          </a:p>
        </p:txBody>
      </p:sp>
      <p:sp>
        <p:nvSpPr>
          <p:cNvPr id="3" name="TextBox 2"/>
          <p:cNvSpPr txBox="1"/>
          <p:nvPr/>
        </p:nvSpPr>
        <p:spPr>
          <a:xfrm>
            <a:off x="826632" y="1104134"/>
            <a:ext cx="1966005" cy="1478482"/>
          </a:xfrm>
          <a:prstGeom prst="rect">
            <a:avLst/>
          </a:prstGeom>
          <a:solidFill>
            <a:schemeClr val="bg1"/>
          </a:solidFill>
          <a:ln>
            <a:solidFill>
              <a:srgbClr val="00B050"/>
            </a:solidFill>
          </a:ln>
        </p:spPr>
        <p:txBody>
          <a:bodyPr wrap="square" rtlCol="0">
            <a:spAutoFit/>
          </a:bodyPr>
          <a:lstStyle/>
          <a:p>
            <a:r>
              <a:rPr lang="en-AU" sz="1001" dirty="0">
                <a:cs typeface="Courier New" panose="02070309020205020404" pitchFamily="49" charset="0"/>
              </a:rPr>
              <a:t>This code describes how FIFA components can be inputted to the table with values following this. ‘ALTER’ is often using more than ‘CREATE’ due to constant changing in development and generation of a given digital solution as described by the EDGE process</a:t>
            </a:r>
          </a:p>
        </p:txBody>
      </p:sp>
      <p:sp>
        <p:nvSpPr>
          <p:cNvPr id="5" name="TextBox 4"/>
          <p:cNvSpPr txBox="1"/>
          <p:nvPr/>
        </p:nvSpPr>
        <p:spPr>
          <a:xfrm>
            <a:off x="4722194" y="74239"/>
            <a:ext cx="3115525" cy="6715043"/>
          </a:xfrm>
          <a:prstGeom prst="rect">
            <a:avLst/>
          </a:prstGeom>
          <a:solidFill>
            <a:schemeClr val="bg1"/>
          </a:solidFill>
          <a:ln>
            <a:solidFill>
              <a:srgbClr val="00B050"/>
            </a:solidFill>
          </a:ln>
        </p:spPr>
        <p:txBody>
          <a:bodyPr wrap="square" rtlCol="0">
            <a:spAutoFit/>
          </a:bodyPr>
          <a:lstStyle/>
          <a:p>
            <a:r>
              <a:rPr lang="en-AU" sz="1001" dirty="0">
                <a:latin typeface="Courier New" panose="02070309020205020404" pitchFamily="49" charset="0"/>
                <a:cs typeface="Courier New" panose="02070309020205020404" pitchFamily="49" charset="0"/>
              </a:rPr>
              <a:t>CREATE TABLE </a:t>
            </a:r>
            <a:r>
              <a:rPr lang="en-AU" sz="1001" dirty="0" err="1">
                <a:latin typeface="Courier New" panose="02070309020205020404" pitchFamily="49" charset="0"/>
                <a:cs typeface="Courier New" panose="02070309020205020404" pitchFamily="49" charset="0"/>
              </a:rPr>
              <a:t>main_additionaluserinfo</a:t>
            </a:r>
            <a:r>
              <a:rPr lang="en-AU" sz="1001" dirty="0">
                <a:latin typeface="Courier New" panose="02070309020205020404" pitchFamily="49" charset="0"/>
                <a:cs typeface="Courier New" panose="02070309020205020404" pitchFamily="49" charset="0"/>
              </a:rPr>
              <a:t> {</a:t>
            </a:r>
          </a:p>
          <a:p>
            <a:r>
              <a:rPr lang="en-AU" sz="1001" dirty="0">
                <a:latin typeface="Courier New" panose="02070309020205020404" pitchFamily="49" charset="0"/>
                <a:cs typeface="Courier New" panose="02070309020205020404" pitchFamily="49" charset="0"/>
              </a:rPr>
              <a:t>“id” integer NOT NULL PRIMARY KEY AUTOINCREMENT,</a:t>
            </a:r>
          </a:p>
          <a:p>
            <a:r>
              <a:rPr lang="en-AU" sz="1001" dirty="0">
                <a:latin typeface="Courier New" panose="02070309020205020404" pitchFamily="49" charset="0"/>
                <a:cs typeface="Courier New" panose="02070309020205020404" pitchFamily="49" charset="0"/>
              </a:rPr>
              <a:t>“pc” integer NOT NULL,</a:t>
            </a:r>
          </a:p>
          <a:p>
            <a:r>
              <a:rPr lang="en-AU" sz="1001" dirty="0">
                <a:latin typeface="Courier New" panose="02070309020205020404" pitchFamily="49" charset="0"/>
                <a:cs typeface="Courier New" panose="02070309020205020404" pitchFamily="49" charset="0"/>
              </a:rPr>
              <a:t>“</a:t>
            </a:r>
            <a:r>
              <a:rPr lang="en-AU" sz="1001" dirty="0" err="1">
                <a:latin typeface="Courier New" panose="02070309020205020404" pitchFamily="49" charset="0"/>
                <a:cs typeface="Courier New" panose="02070309020205020404" pitchFamily="49" charset="0"/>
              </a:rPr>
              <a:t>user_id</a:t>
            </a:r>
            <a:r>
              <a:rPr lang="en-AU" sz="1001" dirty="0">
                <a:latin typeface="Courier New" panose="02070309020205020404" pitchFamily="49" charset="0"/>
                <a:cs typeface="Courier New" panose="02070309020205020404" pitchFamily="49" charset="0"/>
              </a:rPr>
              <a:t>” NOT NULL UNIQUE REFERENCES,</a:t>
            </a:r>
          </a:p>
          <a:p>
            <a:r>
              <a:rPr lang="en-AU" sz="1001" dirty="0">
                <a:latin typeface="Courier New" panose="02070309020205020404" pitchFamily="49" charset="0"/>
                <a:cs typeface="Courier New" panose="02070309020205020404" pitchFamily="49" charset="0"/>
              </a:rPr>
              <a:t>“image” varchar(100) NOT NULL};</a:t>
            </a:r>
          </a:p>
          <a:p>
            <a:endParaRPr lang="en-AU" sz="1001" dirty="0">
              <a:latin typeface="Courier New" panose="02070309020205020404" pitchFamily="49" charset="0"/>
              <a:cs typeface="Courier New" panose="02070309020205020404" pitchFamily="49" charset="0"/>
            </a:endParaRPr>
          </a:p>
          <a:p>
            <a:r>
              <a:rPr lang="en-AU" sz="1001" dirty="0">
                <a:latin typeface="Courier New" panose="02070309020205020404" pitchFamily="49" charset="0"/>
                <a:cs typeface="Courier New" panose="02070309020205020404" pitchFamily="49" charset="0"/>
              </a:rPr>
              <a:t>CREATE TABLE  </a:t>
            </a:r>
            <a:r>
              <a:rPr lang="en-AU" sz="1001" dirty="0" err="1">
                <a:latin typeface="Courier New" panose="02070309020205020404" pitchFamily="49" charset="0"/>
                <a:cs typeface="Courier New" panose="02070309020205020404" pitchFamily="49" charset="0"/>
              </a:rPr>
              <a:t>main_thread</a:t>
            </a:r>
            <a:r>
              <a:rPr lang="en-AU" sz="1001" dirty="0">
                <a:latin typeface="Courier New" panose="02070309020205020404" pitchFamily="49" charset="0"/>
                <a:cs typeface="Courier New" panose="02070309020205020404" pitchFamily="49" charset="0"/>
              </a:rPr>
              <a:t> { “id” integer NOT NULL PRIMARY KEY AUTOINCREMENT, “</a:t>
            </a:r>
            <a:r>
              <a:rPr lang="en-AU" sz="1001" dirty="0" err="1">
                <a:latin typeface="Courier New" panose="02070309020205020404" pitchFamily="49" charset="0"/>
                <a:cs typeface="Courier New" panose="02070309020205020404" pitchFamily="49" charset="0"/>
              </a:rPr>
              <a:t>thread_title</a:t>
            </a:r>
            <a:r>
              <a:rPr lang="en-AU" sz="1001" dirty="0">
                <a:latin typeface="Courier New" panose="02070309020205020404" pitchFamily="49" charset="0"/>
                <a:cs typeface="Courier New" panose="02070309020205020404" pitchFamily="49" charset="0"/>
              </a:rPr>
              <a:t>” varchar(50) NOT NULL, </a:t>
            </a:r>
          </a:p>
          <a:p>
            <a:r>
              <a:rPr lang="en-AU" sz="1001" dirty="0">
                <a:latin typeface="Courier New" panose="02070309020205020404" pitchFamily="49" charset="0"/>
                <a:cs typeface="Courier New" panose="02070309020205020404" pitchFamily="49" charset="0"/>
              </a:rPr>
              <a:t>“</a:t>
            </a:r>
            <a:r>
              <a:rPr lang="en-AU" sz="1001" dirty="0" err="1">
                <a:latin typeface="Courier New" panose="02070309020205020404" pitchFamily="49" charset="0"/>
                <a:cs typeface="Courier New" panose="02070309020205020404" pitchFamily="49" charset="0"/>
              </a:rPr>
              <a:t>thread_text</a:t>
            </a:r>
            <a:r>
              <a:rPr lang="en-AU" sz="1001" dirty="0">
                <a:latin typeface="Courier New" panose="02070309020205020404" pitchFamily="49" charset="0"/>
                <a:cs typeface="Courier New" panose="02070309020205020404" pitchFamily="49" charset="0"/>
              </a:rPr>
              <a:t>” varchar(200) NOT NULL,</a:t>
            </a:r>
          </a:p>
          <a:p>
            <a:r>
              <a:rPr lang="en-AU" sz="1001" dirty="0">
                <a:latin typeface="Courier New" panose="02070309020205020404" pitchFamily="49" charset="0"/>
                <a:cs typeface="Courier New" panose="02070309020205020404" pitchFamily="49" charset="0"/>
              </a:rPr>
              <a:t>“</a:t>
            </a:r>
            <a:r>
              <a:rPr lang="en-AU" sz="1001" dirty="0" err="1">
                <a:latin typeface="Courier New" panose="02070309020205020404" pitchFamily="49" charset="0"/>
                <a:cs typeface="Courier New" panose="02070309020205020404" pitchFamily="49" charset="0"/>
              </a:rPr>
              <a:t>pub_date</a:t>
            </a:r>
            <a:r>
              <a:rPr lang="en-AU" sz="1001" dirty="0">
                <a:latin typeface="Courier New" panose="02070309020205020404" pitchFamily="49" charset="0"/>
                <a:cs typeface="Courier New" panose="02070309020205020404" pitchFamily="49" charset="0"/>
              </a:rPr>
              <a:t>” datetime NOT NULL,</a:t>
            </a:r>
          </a:p>
          <a:p>
            <a:r>
              <a:rPr lang="en-AU" sz="1001" dirty="0">
                <a:latin typeface="Courier New" panose="02070309020205020404" pitchFamily="49" charset="0"/>
                <a:cs typeface="Courier New" panose="02070309020205020404" pitchFamily="49" charset="0"/>
              </a:rPr>
              <a:t>“upvotes” integer NOT NULL, “</a:t>
            </a:r>
            <a:r>
              <a:rPr lang="en-AU" sz="1001" dirty="0" err="1">
                <a:latin typeface="Courier New" panose="02070309020205020404" pitchFamily="49" charset="0"/>
                <a:cs typeface="Courier New" panose="02070309020205020404" pitchFamily="49" charset="0"/>
              </a:rPr>
              <a:t>user_id</a:t>
            </a:r>
            <a:r>
              <a:rPr lang="en-AU" sz="1001" dirty="0">
                <a:latin typeface="Courier New" panose="02070309020205020404" pitchFamily="49" charset="0"/>
                <a:cs typeface="Courier New" panose="02070309020205020404" pitchFamily="49" charset="0"/>
              </a:rPr>
              <a:t>” integer NULL REFERENCES “</a:t>
            </a:r>
            <a:r>
              <a:rPr lang="en-AU" sz="1001" dirty="0" err="1">
                <a:latin typeface="Courier New" panose="02070309020205020404" pitchFamily="49" charset="0"/>
                <a:cs typeface="Courier New" panose="02070309020205020404" pitchFamily="49" charset="0"/>
              </a:rPr>
              <a:t>auth_user</a:t>
            </a:r>
            <a:r>
              <a:rPr lang="en-AU" sz="1001" dirty="0">
                <a:latin typeface="Courier New" panose="02070309020205020404" pitchFamily="49" charset="0"/>
                <a:cs typeface="Courier New" panose="02070309020205020404" pitchFamily="49" charset="0"/>
              </a:rPr>
              <a:t>”(“id”) DEFERRABLE INITALLY DEFERRED};</a:t>
            </a:r>
          </a:p>
          <a:p>
            <a:endParaRPr lang="en-AU" sz="1001" dirty="0">
              <a:latin typeface="Courier New" panose="02070309020205020404" pitchFamily="49" charset="0"/>
              <a:cs typeface="Courier New" panose="02070309020205020404" pitchFamily="49" charset="0"/>
            </a:endParaRPr>
          </a:p>
          <a:p>
            <a:r>
              <a:rPr lang="en-AU" sz="1001" dirty="0">
                <a:latin typeface="Courier New" panose="02070309020205020404" pitchFamily="49" charset="0"/>
                <a:cs typeface="Courier New" panose="02070309020205020404" pitchFamily="49" charset="0"/>
              </a:rPr>
              <a:t>CREATE TABLE </a:t>
            </a:r>
            <a:r>
              <a:rPr lang="en-AU" sz="1001" dirty="0" err="1">
                <a:latin typeface="Courier New" panose="02070309020205020404" pitchFamily="49" charset="0"/>
                <a:cs typeface="Courier New" panose="02070309020205020404" pitchFamily="49" charset="0"/>
              </a:rPr>
              <a:t>main_comment</a:t>
            </a:r>
            <a:r>
              <a:rPr lang="en-AU" sz="1001" dirty="0">
                <a:latin typeface="Courier New" panose="02070309020205020404" pitchFamily="49" charset="0"/>
                <a:cs typeface="Courier New" panose="02070309020205020404" pitchFamily="49" charset="0"/>
              </a:rPr>
              <a:t> { “id” integer NOT NULL PRIMARY KEY AUTOINCREMENT, “</a:t>
            </a:r>
            <a:r>
              <a:rPr lang="en-AU" sz="1001" dirty="0" err="1">
                <a:latin typeface="Courier New" panose="02070309020205020404" pitchFamily="49" charset="0"/>
                <a:cs typeface="Courier New" panose="02070309020205020404" pitchFamily="49" charset="0"/>
              </a:rPr>
              <a:t>comment_text</a:t>
            </a:r>
            <a:r>
              <a:rPr lang="en-AU" sz="1001" dirty="0">
                <a:latin typeface="Courier New" panose="02070309020205020404" pitchFamily="49" charset="0"/>
                <a:cs typeface="Courier New" panose="02070309020205020404" pitchFamily="49" charset="0"/>
              </a:rPr>
              <a:t>” varchar(20) NOT NULL,</a:t>
            </a:r>
          </a:p>
          <a:p>
            <a:r>
              <a:rPr lang="en-AU" sz="1001" dirty="0">
                <a:latin typeface="Courier New" panose="02070309020205020404" pitchFamily="49" charset="0"/>
                <a:cs typeface="Courier New" panose="02070309020205020404" pitchFamily="49" charset="0"/>
              </a:rPr>
              <a:t>“</a:t>
            </a:r>
            <a:r>
              <a:rPr lang="en-AU" sz="1001" dirty="0" err="1">
                <a:latin typeface="Courier New" panose="02070309020205020404" pitchFamily="49" charset="0"/>
                <a:cs typeface="Courier New" panose="02070309020205020404" pitchFamily="49" charset="0"/>
              </a:rPr>
              <a:t>pub_date</a:t>
            </a:r>
            <a:r>
              <a:rPr lang="en-AU" sz="1001" dirty="0">
                <a:latin typeface="Courier New" panose="02070309020205020404" pitchFamily="49" charset="0"/>
                <a:cs typeface="Courier New" panose="02070309020205020404" pitchFamily="49" charset="0"/>
              </a:rPr>
              <a:t>” datetime NOT NULL,</a:t>
            </a:r>
          </a:p>
          <a:p>
            <a:r>
              <a:rPr lang="en-AU" sz="1001" dirty="0">
                <a:latin typeface="Courier New" panose="02070309020205020404" pitchFamily="49" charset="0"/>
                <a:cs typeface="Courier New" panose="02070309020205020404" pitchFamily="49" charset="0"/>
              </a:rPr>
              <a:t>“upvotes” integer NOT NULL,</a:t>
            </a:r>
          </a:p>
          <a:p>
            <a:r>
              <a:rPr lang="en-AU" sz="1001" dirty="0">
                <a:latin typeface="Courier New" panose="02070309020205020404" pitchFamily="49" charset="0"/>
                <a:cs typeface="Courier New" panose="02070309020205020404" pitchFamily="49" charset="0"/>
              </a:rPr>
              <a:t>“</a:t>
            </a:r>
            <a:r>
              <a:rPr lang="en-AU" sz="1001" dirty="0" err="1">
                <a:latin typeface="Courier New" panose="02070309020205020404" pitchFamily="49" charset="0"/>
                <a:cs typeface="Courier New" panose="02070309020205020404" pitchFamily="49" charset="0"/>
              </a:rPr>
              <a:t>thread_id</a:t>
            </a:r>
            <a:r>
              <a:rPr lang="en-AU" sz="1001" dirty="0">
                <a:latin typeface="Courier New" panose="02070309020205020404" pitchFamily="49" charset="0"/>
                <a:cs typeface="Courier New" panose="02070309020205020404" pitchFamily="49" charset="0"/>
              </a:rPr>
              <a:t>” integer NULL REFERENCE “</a:t>
            </a:r>
            <a:r>
              <a:rPr lang="en-AU" sz="1001" dirty="0" err="1">
                <a:latin typeface="Courier New" panose="02070309020205020404" pitchFamily="49" charset="0"/>
                <a:cs typeface="Courier New" panose="02070309020205020404" pitchFamily="49" charset="0"/>
              </a:rPr>
              <a:t>main_thread</a:t>
            </a:r>
            <a:r>
              <a:rPr lang="en-AU" sz="1001" dirty="0">
                <a:latin typeface="Courier New" panose="02070309020205020404" pitchFamily="49" charset="0"/>
                <a:cs typeface="Courier New" panose="02070309020205020404" pitchFamily="49" charset="0"/>
              </a:rPr>
              <a:t>”(“id”) DEFERRABLE INITIALLY DEFERRED,</a:t>
            </a:r>
          </a:p>
          <a:p>
            <a:r>
              <a:rPr lang="en-AU" sz="1001" dirty="0">
                <a:latin typeface="Courier New" panose="02070309020205020404" pitchFamily="49" charset="0"/>
                <a:cs typeface="Courier New" panose="02070309020205020404" pitchFamily="49" charset="0"/>
              </a:rPr>
              <a:t>“</a:t>
            </a:r>
            <a:r>
              <a:rPr lang="en-AU" sz="1001" dirty="0" err="1">
                <a:latin typeface="Courier New" panose="02070309020205020404" pitchFamily="49" charset="0"/>
                <a:cs typeface="Courier New" panose="02070309020205020404" pitchFamily="49" charset="0"/>
              </a:rPr>
              <a:t>user_id</a:t>
            </a:r>
            <a:r>
              <a:rPr lang="en-AU" sz="1001" dirty="0">
                <a:latin typeface="Courier New" panose="02070309020205020404" pitchFamily="49" charset="0"/>
                <a:cs typeface="Courier New" panose="02070309020205020404" pitchFamily="49" charset="0"/>
              </a:rPr>
              <a:t>” integer NULL REFERENCES “</a:t>
            </a:r>
            <a:r>
              <a:rPr lang="en-AU" sz="1001" dirty="0" err="1">
                <a:latin typeface="Courier New" panose="02070309020205020404" pitchFamily="49" charset="0"/>
                <a:cs typeface="Courier New" panose="02070309020205020404" pitchFamily="49" charset="0"/>
              </a:rPr>
              <a:t>auth_user</a:t>
            </a:r>
            <a:r>
              <a:rPr lang="en-AU" sz="1001" dirty="0">
                <a:latin typeface="Courier New" panose="02070309020205020404" pitchFamily="49" charset="0"/>
                <a:cs typeface="Courier New" panose="02070309020205020404" pitchFamily="49" charset="0"/>
              </a:rPr>
              <a:t>”(“id”) DEFERRABLE INITALLY DEFERRED};</a:t>
            </a:r>
          </a:p>
          <a:p>
            <a:endParaRPr lang="en-AU" sz="1001" dirty="0">
              <a:latin typeface="Courier New" panose="02070309020205020404" pitchFamily="49" charset="0"/>
              <a:cs typeface="Courier New" panose="02070309020205020404" pitchFamily="49" charset="0"/>
            </a:endParaRPr>
          </a:p>
          <a:p>
            <a:r>
              <a:rPr lang="en-AU" sz="1001" dirty="0">
                <a:latin typeface="Courier New" panose="02070309020205020404" pitchFamily="49" charset="0"/>
                <a:cs typeface="Courier New" panose="02070309020205020404" pitchFamily="49" charset="0"/>
              </a:rPr>
              <a:t>CREATE TABLE </a:t>
            </a:r>
            <a:r>
              <a:rPr lang="en-AU" sz="1001" dirty="0" err="1">
                <a:latin typeface="Courier New" panose="02070309020205020404" pitchFamily="49" charset="0"/>
                <a:cs typeface="Courier New" panose="02070309020205020404" pitchFamily="49" charset="0"/>
              </a:rPr>
              <a:t>auth_user</a:t>
            </a:r>
            <a:r>
              <a:rPr lang="en-AU" sz="1001" dirty="0">
                <a:latin typeface="Courier New" panose="02070309020205020404" pitchFamily="49" charset="0"/>
                <a:cs typeface="Courier New" panose="02070309020205020404" pitchFamily="49" charset="0"/>
              </a:rPr>
              <a:t> {“id” integer NOT NULL PRIMARY KEY AUTOINCREMENT,</a:t>
            </a:r>
          </a:p>
          <a:p>
            <a:r>
              <a:rPr lang="en-AU" sz="1001" dirty="0">
                <a:latin typeface="Courier New" panose="02070309020205020404" pitchFamily="49" charset="0"/>
                <a:cs typeface="Courier New" panose="02070309020205020404" pitchFamily="49" charset="0"/>
              </a:rPr>
              <a:t>“password” varchar(128) NOT NULL,</a:t>
            </a:r>
          </a:p>
          <a:p>
            <a:r>
              <a:rPr lang="en-AU" sz="1001" dirty="0">
                <a:latin typeface="Courier New" panose="02070309020205020404" pitchFamily="49" charset="0"/>
                <a:cs typeface="Courier New" panose="02070309020205020404" pitchFamily="49" charset="0"/>
              </a:rPr>
              <a:t>“</a:t>
            </a:r>
            <a:r>
              <a:rPr lang="en-AU" sz="1001" dirty="0" err="1">
                <a:latin typeface="Courier New" panose="02070309020205020404" pitchFamily="49" charset="0"/>
                <a:cs typeface="Courier New" panose="02070309020205020404" pitchFamily="49" charset="0"/>
              </a:rPr>
              <a:t>last_login</a:t>
            </a:r>
            <a:r>
              <a:rPr lang="en-AU" sz="1001" dirty="0">
                <a:latin typeface="Courier New" panose="02070309020205020404" pitchFamily="49" charset="0"/>
                <a:cs typeface="Courier New" panose="02070309020205020404" pitchFamily="49" charset="0"/>
              </a:rPr>
              <a:t>” datetime,</a:t>
            </a:r>
          </a:p>
          <a:p>
            <a:r>
              <a:rPr lang="en-AU" sz="1001" dirty="0">
                <a:latin typeface="Courier New" panose="02070309020205020404" pitchFamily="49" charset="0"/>
                <a:cs typeface="Courier New" panose="02070309020205020404" pitchFamily="49" charset="0"/>
              </a:rPr>
              <a:t>“</a:t>
            </a:r>
            <a:r>
              <a:rPr lang="en-AU" sz="1001" dirty="0" err="1">
                <a:latin typeface="Courier New" panose="02070309020205020404" pitchFamily="49" charset="0"/>
                <a:cs typeface="Courier New" panose="02070309020205020404" pitchFamily="49" charset="0"/>
              </a:rPr>
              <a:t>is_superuser</a:t>
            </a:r>
            <a:r>
              <a:rPr lang="en-AU" sz="1001" dirty="0">
                <a:latin typeface="Courier New" panose="02070309020205020404" pitchFamily="49" charset="0"/>
                <a:cs typeface="Courier New" panose="02070309020205020404" pitchFamily="49" charset="0"/>
              </a:rPr>
              <a:t>” bool NOT NULL,</a:t>
            </a:r>
          </a:p>
          <a:p>
            <a:r>
              <a:rPr lang="en-AU" sz="1001" dirty="0">
                <a:latin typeface="Courier New" panose="02070309020205020404" pitchFamily="49" charset="0"/>
                <a:cs typeface="Courier New" panose="02070309020205020404" pitchFamily="49" charset="0"/>
              </a:rPr>
              <a:t>“username” varchar(150) NOT NULL,</a:t>
            </a:r>
          </a:p>
          <a:p>
            <a:r>
              <a:rPr lang="en-AU" sz="1001" dirty="0">
                <a:latin typeface="Courier New" panose="02070309020205020404" pitchFamily="49" charset="0"/>
                <a:cs typeface="Courier New" panose="02070309020205020404" pitchFamily="49" charset="0"/>
              </a:rPr>
              <a:t>“</a:t>
            </a:r>
            <a:r>
              <a:rPr lang="en-AU" sz="1001" dirty="0" err="1">
                <a:latin typeface="Courier New" panose="02070309020205020404" pitchFamily="49" charset="0"/>
                <a:cs typeface="Courier New" panose="02070309020205020404" pitchFamily="49" charset="0"/>
              </a:rPr>
              <a:t>first_name</a:t>
            </a:r>
            <a:r>
              <a:rPr lang="en-AU" sz="1001" dirty="0">
                <a:latin typeface="Courier New" panose="02070309020205020404" pitchFamily="49" charset="0"/>
                <a:cs typeface="Courier New" panose="02070309020205020404" pitchFamily="49" charset="0"/>
              </a:rPr>
              <a:t>” varchar(30) NOT NULL,</a:t>
            </a:r>
          </a:p>
          <a:p>
            <a:r>
              <a:rPr lang="en-AU" sz="1001" dirty="0">
                <a:latin typeface="Courier New" panose="02070309020205020404" pitchFamily="49" charset="0"/>
                <a:cs typeface="Courier New" panose="02070309020205020404" pitchFamily="49" charset="0"/>
              </a:rPr>
              <a:t>“email” varchar(254) NOT NULL,</a:t>
            </a:r>
          </a:p>
          <a:p>
            <a:r>
              <a:rPr lang="en-AU" sz="1001" dirty="0">
                <a:latin typeface="Courier New" panose="02070309020205020404" pitchFamily="49" charset="0"/>
                <a:cs typeface="Courier New" panose="02070309020205020404" pitchFamily="49" charset="0"/>
              </a:rPr>
              <a:t>“</a:t>
            </a:r>
            <a:r>
              <a:rPr lang="en-AU" sz="1001" dirty="0" err="1">
                <a:latin typeface="Courier New" panose="02070309020205020404" pitchFamily="49" charset="0"/>
                <a:cs typeface="Courier New" panose="02070309020205020404" pitchFamily="49" charset="0"/>
              </a:rPr>
              <a:t>is_staff</a:t>
            </a:r>
            <a:r>
              <a:rPr lang="en-AU" sz="1001" dirty="0">
                <a:latin typeface="Courier New" panose="02070309020205020404" pitchFamily="49" charset="0"/>
                <a:cs typeface="Courier New" panose="02070309020205020404" pitchFamily="49" charset="0"/>
              </a:rPr>
              <a:t>” bool NOT NULL,</a:t>
            </a:r>
          </a:p>
          <a:p>
            <a:r>
              <a:rPr lang="en-AU" sz="1001" dirty="0">
                <a:latin typeface="Courier New" panose="02070309020205020404" pitchFamily="49" charset="0"/>
                <a:cs typeface="Courier New" panose="02070309020205020404" pitchFamily="49" charset="0"/>
              </a:rPr>
              <a:t>“</a:t>
            </a:r>
            <a:r>
              <a:rPr lang="en-AU" sz="1001" dirty="0" err="1">
                <a:latin typeface="Courier New" panose="02070309020205020404" pitchFamily="49" charset="0"/>
                <a:cs typeface="Courier New" panose="02070309020205020404" pitchFamily="49" charset="0"/>
              </a:rPr>
              <a:t>is_active</a:t>
            </a:r>
            <a:r>
              <a:rPr lang="en-AU" sz="1001" dirty="0">
                <a:latin typeface="Courier New" panose="02070309020205020404" pitchFamily="49" charset="0"/>
                <a:cs typeface="Courier New" panose="02070309020205020404" pitchFamily="49" charset="0"/>
              </a:rPr>
              <a:t>” bool NOT NULL,</a:t>
            </a:r>
          </a:p>
          <a:p>
            <a:r>
              <a:rPr lang="en-AU" sz="1001" dirty="0">
                <a:latin typeface="Courier New" panose="02070309020205020404" pitchFamily="49" charset="0"/>
                <a:cs typeface="Courier New" panose="02070309020205020404" pitchFamily="49" charset="0"/>
              </a:rPr>
              <a:t>“</a:t>
            </a:r>
            <a:r>
              <a:rPr lang="en-AU" sz="1001" dirty="0" err="1">
                <a:latin typeface="Courier New" panose="02070309020205020404" pitchFamily="49" charset="0"/>
                <a:cs typeface="Courier New" panose="02070309020205020404" pitchFamily="49" charset="0"/>
              </a:rPr>
              <a:t>date_joined</a:t>
            </a:r>
            <a:r>
              <a:rPr lang="en-AU" sz="1001" dirty="0">
                <a:latin typeface="Courier New" panose="02070309020205020404" pitchFamily="49" charset="0"/>
                <a:cs typeface="Courier New" panose="02070309020205020404" pitchFamily="49" charset="0"/>
              </a:rPr>
              <a:t>” datetime NOT NULL,</a:t>
            </a:r>
          </a:p>
          <a:p>
            <a:r>
              <a:rPr lang="en-AU" sz="1001" dirty="0">
                <a:latin typeface="Courier New" panose="02070309020205020404" pitchFamily="49" charset="0"/>
                <a:cs typeface="Courier New" panose="02070309020205020404" pitchFamily="49" charset="0"/>
              </a:rPr>
              <a:t>“</a:t>
            </a:r>
            <a:r>
              <a:rPr lang="en-AU" sz="1001" dirty="0" err="1">
                <a:latin typeface="Courier New" panose="02070309020205020404" pitchFamily="49" charset="0"/>
                <a:cs typeface="Courier New" panose="02070309020205020404" pitchFamily="49" charset="0"/>
              </a:rPr>
              <a:t>last_name</a:t>
            </a:r>
            <a:r>
              <a:rPr lang="en-AU" sz="1001" dirty="0">
                <a:latin typeface="Courier New" panose="02070309020205020404" pitchFamily="49" charset="0"/>
                <a:cs typeface="Courier New" panose="02070309020205020404" pitchFamily="49" charset="0"/>
              </a:rPr>
              <a:t>” varchar(150) NOT NULL};</a:t>
            </a:r>
          </a:p>
        </p:txBody>
      </p:sp>
      <p:pic>
        <p:nvPicPr>
          <p:cNvPr id="9" name="Picture 8">
            <a:extLst>
              <a:ext uri="{FF2B5EF4-FFF2-40B4-BE49-F238E27FC236}">
                <a16:creationId xmlns:a16="http://schemas.microsoft.com/office/drawing/2014/main" id="{C9604993-13BC-4EBC-A455-F99DFC4433C7}"/>
              </a:ext>
            </a:extLst>
          </p:cNvPr>
          <p:cNvPicPr>
            <a:picLocks noChangeAspect="1"/>
          </p:cNvPicPr>
          <p:nvPr/>
        </p:nvPicPr>
        <p:blipFill>
          <a:blip r:embed="rId2"/>
          <a:stretch>
            <a:fillRect/>
          </a:stretch>
        </p:blipFill>
        <p:spPr>
          <a:xfrm>
            <a:off x="59607" y="3971110"/>
            <a:ext cx="4552443" cy="2812656"/>
          </a:xfrm>
          <a:prstGeom prst="rect">
            <a:avLst/>
          </a:prstGeom>
          <a:ln>
            <a:solidFill>
              <a:srgbClr val="00B050"/>
            </a:solidFill>
          </a:ln>
        </p:spPr>
      </p:pic>
      <p:sp>
        <p:nvSpPr>
          <p:cNvPr id="11" name="TextBox 10">
            <a:extLst>
              <a:ext uri="{FF2B5EF4-FFF2-40B4-BE49-F238E27FC236}">
                <a16:creationId xmlns:a16="http://schemas.microsoft.com/office/drawing/2014/main" id="{D55A3656-7764-43AC-8855-0D88003EEA9E}"/>
              </a:ext>
            </a:extLst>
          </p:cNvPr>
          <p:cNvSpPr txBox="1"/>
          <p:nvPr/>
        </p:nvSpPr>
        <p:spPr>
          <a:xfrm>
            <a:off x="7947858" y="4562793"/>
            <a:ext cx="4129646" cy="2094548"/>
          </a:xfrm>
          <a:prstGeom prst="rect">
            <a:avLst/>
          </a:prstGeom>
          <a:solidFill>
            <a:schemeClr val="bg1"/>
          </a:solidFill>
          <a:ln>
            <a:solidFill>
              <a:srgbClr val="00B050"/>
            </a:solidFill>
          </a:ln>
        </p:spPr>
        <p:txBody>
          <a:bodyPr wrap="square" rtlCol="0">
            <a:spAutoFit/>
          </a:bodyPr>
          <a:lstStyle/>
          <a:p>
            <a:r>
              <a:rPr lang="en-AU" sz="1001" dirty="0">
                <a:cs typeface="Courier New" panose="02070309020205020404" pitchFamily="49" charset="0"/>
              </a:rPr>
              <a:t>The likely most prominent model initialised is the ‘User’ model. Unlike the previous three tables (“</a:t>
            </a:r>
            <a:r>
              <a:rPr lang="en-AU" sz="1001" dirty="0" err="1">
                <a:cs typeface="Courier New" panose="02070309020205020404" pitchFamily="49" charset="0"/>
              </a:rPr>
              <a:t>main_additionaluserinfo</a:t>
            </a:r>
            <a:r>
              <a:rPr lang="en-AU" sz="1001" dirty="0">
                <a:cs typeface="Courier New" panose="02070309020205020404" pitchFamily="49" charset="0"/>
              </a:rPr>
              <a:t>”, “</a:t>
            </a:r>
            <a:r>
              <a:rPr lang="en-AU" sz="1001" dirty="0" err="1">
                <a:cs typeface="Courier New" panose="02070309020205020404" pitchFamily="49" charset="0"/>
              </a:rPr>
              <a:t>main_thread</a:t>
            </a:r>
            <a:r>
              <a:rPr lang="en-AU" sz="1001" dirty="0">
                <a:cs typeface="Courier New" panose="02070309020205020404" pitchFamily="49" charset="0"/>
              </a:rPr>
              <a:t>”, “</a:t>
            </a:r>
            <a:r>
              <a:rPr lang="en-AU" sz="1001" dirty="0" err="1">
                <a:cs typeface="Courier New" panose="02070309020205020404" pitchFamily="49" charset="0"/>
              </a:rPr>
              <a:t>main_comment</a:t>
            </a:r>
            <a:r>
              <a:rPr lang="en-AU" sz="1001" dirty="0">
                <a:cs typeface="Courier New" panose="02070309020205020404" pitchFamily="49" charset="0"/>
              </a:rPr>
              <a:t>”) which were custom-made, the ‘User’ model is a Django generated table. This difference in development is reflected through the SQL table. Using a different datatype as seen from before, “bool” can be seen to be used for three fields (“</a:t>
            </a:r>
            <a:r>
              <a:rPr lang="en-AU" sz="1001" dirty="0" err="1">
                <a:cs typeface="Courier New" panose="02070309020205020404" pitchFamily="49" charset="0"/>
              </a:rPr>
              <a:t>is_superuser</a:t>
            </a:r>
            <a:r>
              <a:rPr lang="en-AU" sz="1001" dirty="0">
                <a:cs typeface="Courier New" panose="02070309020205020404" pitchFamily="49" charset="0"/>
              </a:rPr>
              <a:t>”, “</a:t>
            </a:r>
            <a:r>
              <a:rPr lang="en-AU" sz="1001" dirty="0" err="1">
                <a:cs typeface="Courier New" panose="02070309020205020404" pitchFamily="49" charset="0"/>
              </a:rPr>
              <a:t>is_staff</a:t>
            </a:r>
            <a:r>
              <a:rPr lang="en-AU" sz="1001" dirty="0">
                <a:cs typeface="Courier New" panose="02070309020205020404" pitchFamily="49" charset="0"/>
              </a:rPr>
              <a:t>”, “</a:t>
            </a:r>
            <a:r>
              <a:rPr lang="en-AU" sz="1001" dirty="0" err="1">
                <a:cs typeface="Courier New" panose="02070309020205020404" pitchFamily="49" charset="0"/>
              </a:rPr>
              <a:t>is_active</a:t>
            </a:r>
            <a:r>
              <a:rPr lang="en-AU" sz="1001" dirty="0">
                <a:cs typeface="Courier New" panose="02070309020205020404" pitchFamily="49" charset="0"/>
              </a:rPr>
              <a:t>”). Bools are binary functions in that they can only be true or false. Although “</a:t>
            </a:r>
            <a:r>
              <a:rPr lang="en-AU" sz="1001" dirty="0" err="1">
                <a:cs typeface="Courier New" panose="02070309020205020404" pitchFamily="49" charset="0"/>
              </a:rPr>
              <a:t>is_superuser</a:t>
            </a:r>
            <a:r>
              <a:rPr lang="en-AU" sz="1001" dirty="0">
                <a:cs typeface="Courier New" panose="02070309020205020404" pitchFamily="49" charset="0"/>
              </a:rPr>
              <a:t>” and “</a:t>
            </a:r>
            <a:r>
              <a:rPr lang="en-AU" sz="1001" dirty="0" err="1">
                <a:cs typeface="Courier New" panose="02070309020205020404" pitchFamily="49" charset="0"/>
              </a:rPr>
              <a:t>is_staff</a:t>
            </a:r>
            <a:r>
              <a:rPr lang="en-AU" sz="1001" dirty="0">
                <a:cs typeface="Courier New" panose="02070309020205020404" pitchFamily="49" charset="0"/>
              </a:rPr>
              <a:t>” can seem to be similar and do serve similar purposes within Django admin, Django provides more choices to developers on which field to use. Many other standard fields for User creation can be seen in this table such as “password”, “username”, “email”, “</a:t>
            </a:r>
            <a:r>
              <a:rPr lang="en-AU" sz="1001" dirty="0" err="1">
                <a:cs typeface="Courier New" panose="02070309020205020404" pitchFamily="49" charset="0"/>
              </a:rPr>
              <a:t>first_name</a:t>
            </a:r>
            <a:r>
              <a:rPr lang="en-AU" sz="1001" dirty="0">
                <a:cs typeface="Courier New" panose="02070309020205020404" pitchFamily="49" charset="0"/>
              </a:rPr>
              <a:t>” and “</a:t>
            </a:r>
            <a:r>
              <a:rPr lang="en-AU" sz="1001" dirty="0" err="1">
                <a:cs typeface="Courier New" panose="02070309020205020404" pitchFamily="49" charset="0"/>
              </a:rPr>
              <a:t>last_name</a:t>
            </a:r>
            <a:r>
              <a:rPr lang="en-AU" sz="1001" dirty="0">
                <a:cs typeface="Courier New" panose="02070309020205020404" pitchFamily="49" charset="0"/>
              </a:rPr>
              <a:t>”. However it must be noted that (as in the previously data slide’s table representing this SQL table) the password data is encrypted.</a:t>
            </a:r>
          </a:p>
        </p:txBody>
      </p:sp>
      <p:cxnSp>
        <p:nvCxnSpPr>
          <p:cNvPr id="12" name="Straight Arrow Connector 11">
            <a:extLst>
              <a:ext uri="{FF2B5EF4-FFF2-40B4-BE49-F238E27FC236}">
                <a16:creationId xmlns:a16="http://schemas.microsoft.com/office/drawing/2014/main" id="{B0C312BA-3760-4E34-AFD3-F3AAD14ED6D1}"/>
              </a:ext>
            </a:extLst>
          </p:cNvPr>
          <p:cNvCxnSpPr>
            <a:cxnSpLocks/>
          </p:cNvCxnSpPr>
          <p:nvPr/>
        </p:nvCxnSpPr>
        <p:spPr>
          <a:xfrm flipH="1">
            <a:off x="7312177" y="5377437"/>
            <a:ext cx="635680" cy="0"/>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3" name="TextBox 12">
            <a:extLst>
              <a:ext uri="{FF2B5EF4-FFF2-40B4-BE49-F238E27FC236}">
                <a16:creationId xmlns:a16="http://schemas.microsoft.com/office/drawing/2014/main" id="{5AB426F8-9D64-4D6D-BA1B-97C2EEAA9B99}"/>
              </a:ext>
            </a:extLst>
          </p:cNvPr>
          <p:cNvSpPr txBox="1"/>
          <p:nvPr/>
        </p:nvSpPr>
        <p:spPr>
          <a:xfrm>
            <a:off x="7947858" y="1773285"/>
            <a:ext cx="4129646" cy="1324465"/>
          </a:xfrm>
          <a:prstGeom prst="rect">
            <a:avLst/>
          </a:prstGeom>
          <a:solidFill>
            <a:schemeClr val="bg1"/>
          </a:solidFill>
          <a:ln>
            <a:solidFill>
              <a:srgbClr val="00B050"/>
            </a:solidFill>
          </a:ln>
        </p:spPr>
        <p:txBody>
          <a:bodyPr wrap="square" rtlCol="0">
            <a:spAutoFit/>
          </a:bodyPr>
          <a:lstStyle/>
          <a:p>
            <a:r>
              <a:rPr lang="en-AU" sz="1001" dirty="0">
                <a:cs typeface="Courier New" panose="02070309020205020404" pitchFamily="49" charset="0"/>
              </a:rPr>
              <a:t>Following the “</a:t>
            </a:r>
            <a:r>
              <a:rPr lang="en-AU" sz="1001" dirty="0" err="1">
                <a:cs typeface="Courier New" panose="02070309020205020404" pitchFamily="49" charset="0"/>
              </a:rPr>
              <a:t>main_additionaluserinfo</a:t>
            </a:r>
            <a:r>
              <a:rPr lang="en-AU" sz="1001" dirty="0">
                <a:cs typeface="Courier New" panose="02070309020205020404" pitchFamily="49" charset="0"/>
              </a:rPr>
              <a:t>” table is the basis of the Bundaberg FIFA Web App’s Forum, “</a:t>
            </a:r>
            <a:r>
              <a:rPr lang="en-AU" sz="1001" dirty="0" err="1">
                <a:cs typeface="Courier New" panose="02070309020205020404" pitchFamily="49" charset="0"/>
              </a:rPr>
              <a:t>main_thread</a:t>
            </a:r>
            <a:r>
              <a:rPr lang="en-AU" sz="1001" dirty="0">
                <a:cs typeface="Courier New" panose="02070309020205020404" pitchFamily="49" charset="0"/>
              </a:rPr>
              <a:t>”. Similar to the “</a:t>
            </a:r>
            <a:r>
              <a:rPr lang="en-AU" sz="1001" dirty="0" err="1">
                <a:cs typeface="Courier New" panose="02070309020205020404" pitchFamily="49" charset="0"/>
              </a:rPr>
              <a:t>main_additionaluserinfo</a:t>
            </a:r>
            <a:r>
              <a:rPr lang="en-AU" sz="1001" dirty="0">
                <a:cs typeface="Courier New" panose="02070309020205020404" pitchFamily="49" charset="0"/>
              </a:rPr>
              <a:t>” table, the “</a:t>
            </a:r>
            <a:r>
              <a:rPr lang="en-AU" sz="1001" dirty="0" err="1">
                <a:cs typeface="Courier New" panose="02070309020205020404" pitchFamily="49" charset="0"/>
              </a:rPr>
              <a:t>main_thread</a:t>
            </a:r>
            <a:r>
              <a:rPr lang="en-AU" sz="1001" dirty="0">
                <a:cs typeface="Courier New" panose="02070309020205020404" pitchFamily="49" charset="0"/>
              </a:rPr>
              <a:t>” is custom-generated. It contains two text options in the title and text allowing all characters via the ‘varchar’ datatype. ‘datetime’ is used for the publication date field ‘</a:t>
            </a:r>
            <a:r>
              <a:rPr lang="en-AU" sz="1001" dirty="0" err="1">
                <a:cs typeface="Courier New" panose="02070309020205020404" pitchFamily="49" charset="0"/>
              </a:rPr>
              <a:t>pub_date</a:t>
            </a:r>
            <a:r>
              <a:rPr lang="en-AU" sz="1001" dirty="0">
                <a:cs typeface="Courier New" panose="02070309020205020404" pitchFamily="49" charset="0"/>
              </a:rPr>
              <a:t>’. The thread is linked back to the user using the ‘REFERENCES’ to the table “</a:t>
            </a:r>
            <a:r>
              <a:rPr lang="en-AU" sz="1001" dirty="0" err="1">
                <a:cs typeface="Courier New" panose="02070309020205020404" pitchFamily="49" charset="0"/>
              </a:rPr>
              <a:t>auth_user</a:t>
            </a:r>
            <a:r>
              <a:rPr lang="en-AU" sz="1001" dirty="0">
                <a:cs typeface="Courier New" panose="02070309020205020404" pitchFamily="49" charset="0"/>
              </a:rPr>
              <a:t>”, requesting the field “id” for the “</a:t>
            </a:r>
            <a:r>
              <a:rPr lang="en-AU" sz="1001" dirty="0" err="1">
                <a:cs typeface="Courier New" panose="02070309020205020404" pitchFamily="49" charset="0"/>
              </a:rPr>
              <a:t>user_id</a:t>
            </a:r>
            <a:r>
              <a:rPr lang="en-AU" sz="1001" dirty="0">
                <a:cs typeface="Courier New" panose="02070309020205020404" pitchFamily="49" charset="0"/>
              </a:rPr>
              <a:t>”. This is initially deferred via the SQL statement “DEFERABBLE INITIALLY DEFERRED”</a:t>
            </a:r>
          </a:p>
        </p:txBody>
      </p:sp>
      <p:cxnSp>
        <p:nvCxnSpPr>
          <p:cNvPr id="14" name="Straight Arrow Connector 13">
            <a:extLst>
              <a:ext uri="{FF2B5EF4-FFF2-40B4-BE49-F238E27FC236}">
                <a16:creationId xmlns:a16="http://schemas.microsoft.com/office/drawing/2014/main" id="{69BA0E94-44FD-4CEB-A625-30E4B1DB1356}"/>
              </a:ext>
            </a:extLst>
          </p:cNvPr>
          <p:cNvCxnSpPr>
            <a:cxnSpLocks/>
          </p:cNvCxnSpPr>
          <p:nvPr/>
        </p:nvCxnSpPr>
        <p:spPr>
          <a:xfrm flipH="1">
            <a:off x="7312177" y="2334434"/>
            <a:ext cx="635680" cy="0"/>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5" name="TextBox 14">
            <a:extLst>
              <a:ext uri="{FF2B5EF4-FFF2-40B4-BE49-F238E27FC236}">
                <a16:creationId xmlns:a16="http://schemas.microsoft.com/office/drawing/2014/main" id="{B2C2B03F-FEAC-44AA-9072-C786A82F8665}"/>
              </a:ext>
            </a:extLst>
          </p:cNvPr>
          <p:cNvSpPr txBox="1"/>
          <p:nvPr/>
        </p:nvSpPr>
        <p:spPr>
          <a:xfrm>
            <a:off x="7947858" y="70749"/>
            <a:ext cx="4129646" cy="1632498"/>
          </a:xfrm>
          <a:prstGeom prst="rect">
            <a:avLst/>
          </a:prstGeom>
          <a:solidFill>
            <a:schemeClr val="bg1"/>
          </a:solidFill>
          <a:ln>
            <a:solidFill>
              <a:srgbClr val="00B050"/>
            </a:solidFill>
          </a:ln>
        </p:spPr>
        <p:txBody>
          <a:bodyPr wrap="square" rtlCol="0">
            <a:spAutoFit/>
          </a:bodyPr>
          <a:lstStyle/>
          <a:p>
            <a:r>
              <a:rPr lang="en-AU" sz="1001" dirty="0">
                <a:cs typeface="Courier New" panose="02070309020205020404" pitchFamily="49" charset="0"/>
              </a:rPr>
              <a:t>The following ‘CREATE’ SQL tables command contain four of the prominent models in the Bundaberg FIFA Web App. The first of these demonstrated is “</a:t>
            </a:r>
            <a:r>
              <a:rPr lang="en-AU" sz="1001" dirty="0" err="1">
                <a:cs typeface="Courier New" panose="02070309020205020404" pitchFamily="49" charset="0"/>
              </a:rPr>
              <a:t>main_additionaluserinfo</a:t>
            </a:r>
            <a:r>
              <a:rPr lang="en-AU" sz="1001" dirty="0">
                <a:cs typeface="Courier New" panose="02070309020205020404" pitchFamily="49" charset="0"/>
              </a:rPr>
              <a:t>” table. A custom-made table for adding to the ‘User’ </a:t>
            </a:r>
            <a:r>
              <a:rPr lang="en-AU" sz="1001" dirty="0" err="1">
                <a:cs typeface="Courier New" panose="02070309020205020404" pitchFamily="49" charset="0"/>
              </a:rPr>
              <a:t>modelIt’s</a:t>
            </a:r>
            <a:r>
              <a:rPr lang="en-AU" sz="1001" dirty="0">
                <a:cs typeface="Courier New" panose="02070309020205020404" pitchFamily="49" charset="0"/>
              </a:rPr>
              <a:t> first field is autogenerated (as indicated by the ‘AUTOINCREMENT’ statement) by Django and SQLite as the ‘id’ field.  This is found within each of the tables as the primary key. The “</a:t>
            </a:r>
            <a:r>
              <a:rPr lang="en-AU" sz="1001" dirty="0" err="1">
                <a:cs typeface="Courier New" panose="02070309020205020404" pitchFamily="49" charset="0"/>
              </a:rPr>
              <a:t>user_id</a:t>
            </a:r>
            <a:r>
              <a:rPr lang="en-AU" sz="1001" dirty="0">
                <a:cs typeface="Courier New" panose="02070309020205020404" pitchFamily="49" charset="0"/>
              </a:rPr>
              <a:t>” in addition to being ‘NOT NULL’ is registered as ‘UNIQUE REFERENCES’ indicated this field is referenced within other models. This referencing is integral to formation of foreign keys and is unique in Django as the convenience for creation of foreign keys is notable.</a:t>
            </a:r>
            <a:endParaRPr lang="en-AU" sz="1001" dirty="0">
              <a:latin typeface="Courier New" panose="02070309020205020404" pitchFamily="49" charset="0"/>
              <a:cs typeface="Courier New" panose="02070309020205020404" pitchFamily="49" charset="0"/>
            </a:endParaRPr>
          </a:p>
        </p:txBody>
      </p:sp>
      <p:cxnSp>
        <p:nvCxnSpPr>
          <p:cNvPr id="16" name="Straight Arrow Connector 15">
            <a:extLst>
              <a:ext uri="{FF2B5EF4-FFF2-40B4-BE49-F238E27FC236}">
                <a16:creationId xmlns:a16="http://schemas.microsoft.com/office/drawing/2014/main" id="{9FB0F372-5DEF-4304-8B01-2A73029B5782}"/>
              </a:ext>
            </a:extLst>
          </p:cNvPr>
          <p:cNvCxnSpPr>
            <a:cxnSpLocks/>
          </p:cNvCxnSpPr>
          <p:nvPr/>
        </p:nvCxnSpPr>
        <p:spPr>
          <a:xfrm flipH="1">
            <a:off x="7312177" y="595558"/>
            <a:ext cx="635680" cy="0"/>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7" name="TextBox 16">
            <a:extLst>
              <a:ext uri="{FF2B5EF4-FFF2-40B4-BE49-F238E27FC236}">
                <a16:creationId xmlns:a16="http://schemas.microsoft.com/office/drawing/2014/main" id="{B3B3540F-DA0E-445C-B839-FC03A23B51BB}"/>
              </a:ext>
            </a:extLst>
          </p:cNvPr>
          <p:cNvSpPr txBox="1"/>
          <p:nvPr/>
        </p:nvSpPr>
        <p:spPr>
          <a:xfrm>
            <a:off x="7947858" y="3168040"/>
            <a:ext cx="4129646" cy="1324465"/>
          </a:xfrm>
          <a:prstGeom prst="rect">
            <a:avLst/>
          </a:prstGeom>
          <a:solidFill>
            <a:schemeClr val="bg1"/>
          </a:solidFill>
          <a:ln>
            <a:solidFill>
              <a:srgbClr val="00B050"/>
            </a:solidFill>
          </a:ln>
        </p:spPr>
        <p:txBody>
          <a:bodyPr wrap="square" rtlCol="0">
            <a:spAutoFit/>
          </a:bodyPr>
          <a:lstStyle/>
          <a:p>
            <a:r>
              <a:rPr lang="en-AU" sz="1001" dirty="0">
                <a:cs typeface="Courier New" panose="02070309020205020404" pitchFamily="49" charset="0"/>
              </a:rPr>
              <a:t>In serving a similar purpose to the ‘thread’ model in the paradigm of the web app, the ‘comment’ model subsequently has a similar data store. It retains most of the same fields as ‘</a:t>
            </a:r>
            <a:r>
              <a:rPr lang="en-AU" sz="1001" dirty="0" err="1">
                <a:cs typeface="Courier New" panose="02070309020205020404" pitchFamily="49" charset="0"/>
              </a:rPr>
              <a:t>main_thread</a:t>
            </a:r>
            <a:r>
              <a:rPr lang="en-AU" sz="1001" dirty="0">
                <a:cs typeface="Courier New" panose="02070309020205020404" pitchFamily="49" charset="0"/>
              </a:rPr>
              <a:t>’ despite not having a title, however ‘</a:t>
            </a:r>
            <a:r>
              <a:rPr lang="en-AU" sz="1001" dirty="0" err="1">
                <a:cs typeface="Courier New" panose="02070309020205020404" pitchFamily="49" charset="0"/>
              </a:rPr>
              <a:t>main_comment</a:t>
            </a:r>
            <a:r>
              <a:rPr lang="en-AU" sz="1001" dirty="0">
                <a:cs typeface="Courier New" panose="02070309020205020404" pitchFamily="49" charset="0"/>
              </a:rPr>
              <a:t>’ links to the thread itself as a foreign key. Similar to how ‘</a:t>
            </a:r>
            <a:r>
              <a:rPr lang="en-AU" sz="1001" dirty="0" err="1">
                <a:cs typeface="Courier New" panose="02070309020205020404" pitchFamily="49" charset="0"/>
              </a:rPr>
              <a:t>main_thread</a:t>
            </a:r>
            <a:r>
              <a:rPr lang="en-AU" sz="1001" dirty="0">
                <a:cs typeface="Courier New" panose="02070309020205020404" pitchFamily="49" charset="0"/>
              </a:rPr>
              <a:t>’ links to the ‘User’ model via the ‘</a:t>
            </a:r>
            <a:r>
              <a:rPr lang="en-AU" sz="1001" dirty="0" err="1">
                <a:cs typeface="Courier New" panose="02070309020205020404" pitchFamily="49" charset="0"/>
              </a:rPr>
              <a:t>user_id</a:t>
            </a:r>
            <a:r>
              <a:rPr lang="en-AU" sz="1001" dirty="0">
                <a:cs typeface="Courier New" panose="02070309020205020404" pitchFamily="49" charset="0"/>
              </a:rPr>
              <a:t>’ and it’s table ‘</a:t>
            </a:r>
            <a:r>
              <a:rPr lang="en-AU" sz="1001" dirty="0" err="1">
                <a:cs typeface="Courier New" panose="02070309020205020404" pitchFamily="49" charset="0"/>
              </a:rPr>
              <a:t>auth_user</a:t>
            </a:r>
            <a:r>
              <a:rPr lang="en-AU" sz="1001" dirty="0">
                <a:cs typeface="Courier New" panose="02070309020205020404" pitchFamily="49" charset="0"/>
              </a:rPr>
              <a:t>’, ‘</a:t>
            </a:r>
            <a:r>
              <a:rPr lang="en-AU" sz="1001" dirty="0" err="1">
                <a:cs typeface="Courier New" panose="02070309020205020404" pitchFamily="49" charset="0"/>
              </a:rPr>
              <a:t>main_comment</a:t>
            </a:r>
            <a:r>
              <a:rPr lang="en-AU" sz="1001" dirty="0">
                <a:cs typeface="Courier New" panose="02070309020205020404" pitchFamily="49" charset="0"/>
              </a:rPr>
              <a:t>’ links to the ‘Thread’ model via the ‘</a:t>
            </a:r>
            <a:r>
              <a:rPr lang="en-AU" sz="1001" dirty="0" err="1">
                <a:cs typeface="Courier New" panose="02070309020205020404" pitchFamily="49" charset="0"/>
              </a:rPr>
              <a:t>thread_id</a:t>
            </a:r>
            <a:r>
              <a:rPr lang="en-AU" sz="1001" dirty="0">
                <a:cs typeface="Courier New" panose="02070309020205020404" pitchFamily="49" charset="0"/>
              </a:rPr>
              <a:t>’ and it’s table ‘</a:t>
            </a:r>
            <a:r>
              <a:rPr lang="en-AU" sz="1001" dirty="0" err="1">
                <a:cs typeface="Courier New" panose="02070309020205020404" pitchFamily="49" charset="0"/>
              </a:rPr>
              <a:t>main_thread</a:t>
            </a:r>
            <a:r>
              <a:rPr lang="en-AU" sz="1001" dirty="0">
                <a:cs typeface="Courier New" panose="02070309020205020404" pitchFamily="49" charset="0"/>
              </a:rPr>
              <a:t>’. It also links back to the user, allowing users to upvote and create threads and comments alike.</a:t>
            </a:r>
          </a:p>
        </p:txBody>
      </p:sp>
      <p:cxnSp>
        <p:nvCxnSpPr>
          <p:cNvPr id="18" name="Straight Arrow Connector 17">
            <a:extLst>
              <a:ext uri="{FF2B5EF4-FFF2-40B4-BE49-F238E27FC236}">
                <a16:creationId xmlns:a16="http://schemas.microsoft.com/office/drawing/2014/main" id="{7A9EFA50-1E11-4217-9B7D-CFCD2CAD2550}"/>
              </a:ext>
            </a:extLst>
          </p:cNvPr>
          <p:cNvCxnSpPr>
            <a:cxnSpLocks/>
          </p:cNvCxnSpPr>
          <p:nvPr/>
        </p:nvCxnSpPr>
        <p:spPr>
          <a:xfrm flipH="1">
            <a:off x="7312177" y="3718514"/>
            <a:ext cx="635680" cy="0"/>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9" name="TextBox 18">
            <a:extLst>
              <a:ext uri="{FF2B5EF4-FFF2-40B4-BE49-F238E27FC236}">
                <a16:creationId xmlns:a16="http://schemas.microsoft.com/office/drawing/2014/main" id="{1BEF28A6-0325-4B2E-BE10-589CD4EE81BA}"/>
              </a:ext>
            </a:extLst>
          </p:cNvPr>
          <p:cNvSpPr txBox="1"/>
          <p:nvPr/>
        </p:nvSpPr>
        <p:spPr>
          <a:xfrm>
            <a:off x="59604" y="2660208"/>
            <a:ext cx="2679668" cy="1170449"/>
          </a:xfrm>
          <a:prstGeom prst="rect">
            <a:avLst/>
          </a:prstGeom>
          <a:solidFill>
            <a:schemeClr val="bg1"/>
          </a:solidFill>
          <a:ln>
            <a:solidFill>
              <a:srgbClr val="00B050"/>
            </a:solidFill>
          </a:ln>
        </p:spPr>
        <p:txBody>
          <a:bodyPr wrap="square" rtlCol="0">
            <a:spAutoFit/>
          </a:bodyPr>
          <a:lstStyle/>
          <a:p>
            <a:r>
              <a:rPr lang="en-AU" sz="1001" dirty="0"/>
              <a:t>The below ER Diagram describes the logical flow of various systems within the Bundaberg FIFA eSports Web app in particular the Forum system. Through decisions on events such as creation of threads and comments can different events be fired and tracked to internal storages and eventually the SQLite server</a:t>
            </a:r>
            <a:endParaRPr lang="en-AU" sz="1001" dirty="0">
              <a:latin typeface="Courier New" panose="02070309020205020404" pitchFamily="49" charset="0"/>
              <a:cs typeface="Courier New" panose="02070309020205020404" pitchFamily="49" charset="0"/>
            </a:endParaRPr>
          </a:p>
        </p:txBody>
      </p:sp>
      <p:sp>
        <p:nvSpPr>
          <p:cNvPr id="20" name="TextBox 19">
            <a:extLst>
              <a:ext uri="{FF2B5EF4-FFF2-40B4-BE49-F238E27FC236}">
                <a16:creationId xmlns:a16="http://schemas.microsoft.com/office/drawing/2014/main" id="{6FFC18B0-DDC8-4F95-83BB-45B803E3114F}"/>
              </a:ext>
            </a:extLst>
          </p:cNvPr>
          <p:cNvSpPr txBox="1"/>
          <p:nvPr/>
        </p:nvSpPr>
        <p:spPr>
          <a:xfrm>
            <a:off x="2849417" y="197997"/>
            <a:ext cx="1762633" cy="3634713"/>
          </a:xfrm>
          <a:prstGeom prst="rect">
            <a:avLst/>
          </a:prstGeom>
          <a:solidFill>
            <a:schemeClr val="bg1"/>
          </a:solidFill>
          <a:ln>
            <a:solidFill>
              <a:srgbClr val="00B050"/>
            </a:solidFill>
          </a:ln>
        </p:spPr>
        <p:txBody>
          <a:bodyPr wrap="square" rtlCol="0">
            <a:spAutoFit/>
          </a:bodyPr>
          <a:lstStyle/>
          <a:p>
            <a:r>
              <a:rPr lang="en-AU" sz="1001" dirty="0">
                <a:latin typeface="Courier New" panose="02070309020205020404" pitchFamily="49" charset="0"/>
                <a:cs typeface="Courier New" panose="02070309020205020404" pitchFamily="49" charset="0"/>
              </a:rPr>
              <a:t>ALTER TABLE </a:t>
            </a:r>
            <a:r>
              <a:rPr lang="en-AU" sz="1001" dirty="0" err="1">
                <a:latin typeface="Courier New" panose="02070309020205020404" pitchFamily="49" charset="0"/>
                <a:cs typeface="Courier New" panose="02070309020205020404" pitchFamily="49" charset="0"/>
              </a:rPr>
              <a:t>main_additionaluserinfo</a:t>
            </a:r>
            <a:r>
              <a:rPr lang="en-AU" sz="1001" dirty="0">
                <a:latin typeface="Courier New" panose="02070309020205020404" pitchFamily="49" charset="0"/>
                <a:cs typeface="Courier New" panose="02070309020205020404" pitchFamily="49" charset="0"/>
              </a:rPr>
              <a:t> {</a:t>
            </a:r>
          </a:p>
          <a:p>
            <a:r>
              <a:rPr lang="en-AU" sz="1001" dirty="0">
                <a:latin typeface="Courier New" panose="02070309020205020404" pitchFamily="49" charset="0"/>
                <a:cs typeface="Courier New" panose="02070309020205020404" pitchFamily="49" charset="0"/>
              </a:rPr>
              <a:t>“</a:t>
            </a:r>
            <a:r>
              <a:rPr lang="en-AU" sz="1001" dirty="0" err="1">
                <a:latin typeface="Courier New" panose="02070309020205020404" pitchFamily="49" charset="0"/>
                <a:cs typeface="Courier New" panose="02070309020205020404" pitchFamily="49" charset="0"/>
              </a:rPr>
              <a:t>FifaGoals</a:t>
            </a:r>
            <a:r>
              <a:rPr lang="en-AU" sz="1001" dirty="0">
                <a:latin typeface="Courier New" panose="02070309020205020404" pitchFamily="49" charset="0"/>
                <a:cs typeface="Courier New" panose="02070309020205020404" pitchFamily="49" charset="0"/>
              </a:rPr>
              <a:t>” integer DEFAULT = “0”,</a:t>
            </a:r>
          </a:p>
          <a:p>
            <a:r>
              <a:rPr lang="en-AU" sz="1001" dirty="0">
                <a:latin typeface="Courier New" panose="02070309020205020404" pitchFamily="49" charset="0"/>
                <a:cs typeface="Courier New" panose="02070309020205020404" pitchFamily="49" charset="0"/>
              </a:rPr>
              <a:t>“</a:t>
            </a:r>
            <a:r>
              <a:rPr lang="en-AU" sz="1001" dirty="0" err="1">
                <a:latin typeface="Courier New" panose="02070309020205020404" pitchFamily="49" charset="0"/>
                <a:cs typeface="Courier New" panose="02070309020205020404" pitchFamily="49" charset="0"/>
              </a:rPr>
              <a:t>FifaYellowCards</a:t>
            </a:r>
            <a:r>
              <a:rPr lang="en-AU" sz="1001" dirty="0">
                <a:latin typeface="Courier New" panose="02070309020205020404" pitchFamily="49" charset="0"/>
                <a:cs typeface="Courier New" panose="02070309020205020404" pitchFamily="49" charset="0"/>
              </a:rPr>
              <a:t>” integer,</a:t>
            </a:r>
          </a:p>
          <a:p>
            <a:r>
              <a:rPr lang="en-AU" sz="1001" dirty="0">
                <a:latin typeface="Courier New" panose="02070309020205020404" pitchFamily="49" charset="0"/>
                <a:cs typeface="Courier New" panose="02070309020205020404" pitchFamily="49" charset="0"/>
              </a:rPr>
              <a:t>“</a:t>
            </a:r>
            <a:r>
              <a:rPr lang="en-AU" sz="1001" dirty="0" err="1">
                <a:latin typeface="Courier New" panose="02070309020205020404" pitchFamily="49" charset="0"/>
                <a:cs typeface="Courier New" panose="02070309020205020404" pitchFamily="49" charset="0"/>
              </a:rPr>
              <a:t>FifaRedCards</a:t>
            </a:r>
            <a:r>
              <a:rPr lang="en-AU" sz="1001" dirty="0">
                <a:latin typeface="Courier New" panose="02070309020205020404" pitchFamily="49" charset="0"/>
                <a:cs typeface="Courier New" panose="02070309020205020404" pitchFamily="49" charset="0"/>
              </a:rPr>
              <a:t>” integer,</a:t>
            </a:r>
          </a:p>
          <a:p>
            <a:r>
              <a:rPr lang="en-AU" sz="1001" dirty="0">
                <a:latin typeface="Courier New" panose="02070309020205020404" pitchFamily="49" charset="0"/>
                <a:cs typeface="Courier New" panose="02070309020205020404" pitchFamily="49" charset="0"/>
              </a:rPr>
              <a:t>“</a:t>
            </a:r>
            <a:r>
              <a:rPr lang="en-AU" sz="1001" dirty="0" err="1">
                <a:latin typeface="Courier New" panose="02070309020205020404" pitchFamily="49" charset="0"/>
                <a:cs typeface="Courier New" panose="02070309020205020404" pitchFamily="49" charset="0"/>
              </a:rPr>
              <a:t>FifaLeaguesWon</a:t>
            </a:r>
            <a:r>
              <a:rPr lang="en-AU" sz="1001" dirty="0">
                <a:latin typeface="Courier New" panose="02070309020205020404" pitchFamily="49" charset="0"/>
                <a:cs typeface="Courier New" panose="02070309020205020404" pitchFamily="49" charset="0"/>
              </a:rPr>
              <a:t>” integer};</a:t>
            </a:r>
          </a:p>
          <a:p>
            <a:endParaRPr lang="en-AU" sz="1001" dirty="0">
              <a:latin typeface="Courier New" panose="02070309020205020404" pitchFamily="49" charset="0"/>
              <a:cs typeface="Courier New" panose="02070309020205020404" pitchFamily="49" charset="0"/>
            </a:endParaRPr>
          </a:p>
          <a:p>
            <a:r>
              <a:rPr lang="en-AU" sz="1001" dirty="0">
                <a:latin typeface="Courier New" panose="02070309020205020404" pitchFamily="49" charset="0"/>
                <a:cs typeface="Courier New" panose="02070309020205020404" pitchFamily="49" charset="0"/>
              </a:rPr>
              <a:t>INSERT INTO TABLE </a:t>
            </a:r>
            <a:r>
              <a:rPr lang="en-AU" sz="1001" dirty="0" err="1">
                <a:latin typeface="Courier New" panose="02070309020205020404" pitchFamily="49" charset="0"/>
                <a:cs typeface="Courier New" panose="02070309020205020404" pitchFamily="49" charset="0"/>
              </a:rPr>
              <a:t>main_additionaluserinfo</a:t>
            </a:r>
            <a:r>
              <a:rPr lang="en-AU" sz="1001" dirty="0">
                <a:latin typeface="Courier New" panose="02070309020205020404" pitchFamily="49" charset="0"/>
                <a:cs typeface="Courier New" panose="02070309020205020404" pitchFamily="49" charset="0"/>
              </a:rPr>
              <a:t> </a:t>
            </a:r>
          </a:p>
          <a:p>
            <a:r>
              <a:rPr lang="en-AU" sz="1001" dirty="0">
                <a:latin typeface="Courier New" panose="02070309020205020404" pitchFamily="49" charset="0"/>
                <a:cs typeface="Courier New" panose="02070309020205020404" pitchFamily="49" charset="0"/>
              </a:rPr>
              <a:t>VALUES {‘5’,</a:t>
            </a:r>
          </a:p>
          <a:p>
            <a:r>
              <a:rPr lang="en-AU" sz="1001" dirty="0">
                <a:latin typeface="Courier New" panose="02070309020205020404" pitchFamily="49" charset="0"/>
                <a:cs typeface="Courier New" panose="02070309020205020404" pitchFamily="49" charset="0"/>
              </a:rPr>
              <a:t>’</a:t>
            </a:r>
            <a:r>
              <a:rPr lang="en-AU" sz="1001" dirty="0" err="1">
                <a:latin typeface="Courier New" panose="02070309020205020404" pitchFamily="49" charset="0"/>
                <a:cs typeface="Courier New" panose="02070309020205020404" pitchFamily="49" charset="0"/>
              </a:rPr>
              <a:t>UltimateTeam</a:t>
            </a:r>
            <a:r>
              <a:rPr lang="en-AU" sz="1001" dirty="0">
                <a:latin typeface="Courier New" panose="02070309020205020404" pitchFamily="49" charset="0"/>
                <a:cs typeface="Courier New" panose="02070309020205020404" pitchFamily="49" charset="0"/>
              </a:rPr>
              <a:t>’,</a:t>
            </a:r>
          </a:p>
          <a:p>
            <a:r>
              <a:rPr lang="en-AU" sz="1001" dirty="0">
                <a:latin typeface="Courier New" panose="02070309020205020404" pitchFamily="49" charset="0"/>
                <a:cs typeface="Courier New" panose="02070309020205020404" pitchFamily="49" charset="0"/>
              </a:rPr>
              <a:t>’2’,</a:t>
            </a:r>
          </a:p>
          <a:p>
            <a:r>
              <a:rPr lang="en-AU" sz="1001" dirty="0">
                <a:latin typeface="Courier New" panose="02070309020205020404" pitchFamily="49" charset="0"/>
                <a:cs typeface="Courier New" panose="02070309020205020404" pitchFamily="49" charset="0"/>
              </a:rPr>
              <a:t>’[Image]’,</a:t>
            </a:r>
          </a:p>
          <a:p>
            <a:r>
              <a:rPr lang="en-AU" sz="1001" dirty="0">
                <a:latin typeface="Courier New" panose="02070309020205020404" pitchFamily="49" charset="0"/>
                <a:cs typeface="Courier New" panose="02070309020205020404" pitchFamily="49" charset="0"/>
              </a:rPr>
              <a:t>’23’,</a:t>
            </a:r>
          </a:p>
          <a:p>
            <a:r>
              <a:rPr lang="en-AU" sz="1001" dirty="0">
                <a:latin typeface="Courier New" panose="02070309020205020404" pitchFamily="49" charset="0"/>
                <a:cs typeface="Courier New" panose="02070309020205020404" pitchFamily="49" charset="0"/>
              </a:rPr>
              <a:t>’50’,</a:t>
            </a:r>
          </a:p>
          <a:p>
            <a:r>
              <a:rPr lang="en-AU" sz="1001" dirty="0">
                <a:latin typeface="Courier New" panose="02070309020205020404" pitchFamily="49" charset="0"/>
                <a:cs typeface="Courier New" panose="02070309020205020404" pitchFamily="49" charset="0"/>
              </a:rPr>
              <a:t>’2’,</a:t>
            </a:r>
          </a:p>
          <a:p>
            <a:r>
              <a:rPr lang="en-AU" sz="1001" dirty="0">
                <a:latin typeface="Courier New" panose="02070309020205020404" pitchFamily="49" charset="0"/>
                <a:cs typeface="Courier New" panose="02070309020205020404" pitchFamily="49" charset="0"/>
              </a:rPr>
              <a:t>’6’};</a:t>
            </a:r>
          </a:p>
        </p:txBody>
      </p:sp>
      <p:sp>
        <p:nvSpPr>
          <p:cNvPr id="21" name="TextBox 20">
            <a:extLst>
              <a:ext uri="{FF2B5EF4-FFF2-40B4-BE49-F238E27FC236}">
                <a16:creationId xmlns:a16="http://schemas.microsoft.com/office/drawing/2014/main" id="{8782B94C-1D16-4036-9E59-5923B9B3F53F}"/>
              </a:ext>
            </a:extLst>
          </p:cNvPr>
          <p:cNvSpPr txBox="1"/>
          <p:nvPr/>
        </p:nvSpPr>
        <p:spPr>
          <a:xfrm>
            <a:off x="826631" y="613733"/>
            <a:ext cx="1912645" cy="400366"/>
          </a:xfrm>
          <a:prstGeom prst="rect">
            <a:avLst/>
          </a:prstGeom>
          <a:solidFill>
            <a:schemeClr val="bg1"/>
          </a:solidFill>
          <a:ln>
            <a:solidFill>
              <a:srgbClr val="00B050"/>
            </a:solidFill>
          </a:ln>
        </p:spPr>
        <p:txBody>
          <a:bodyPr wrap="square" rtlCol="0">
            <a:spAutoFit/>
          </a:bodyPr>
          <a:lstStyle/>
          <a:p>
            <a:r>
              <a:rPr lang="en-AU" sz="1001" dirty="0">
                <a:latin typeface="Courier New" panose="02070309020205020404" pitchFamily="49" charset="0"/>
                <a:cs typeface="Courier New" panose="02070309020205020404" pitchFamily="49" charset="0"/>
              </a:rPr>
              <a:t>Create database “</a:t>
            </a:r>
            <a:r>
              <a:rPr lang="en-AU" sz="1001" dirty="0" err="1">
                <a:latin typeface="Courier New" panose="02070309020205020404" pitchFamily="49" charset="0"/>
                <a:cs typeface="Courier New" panose="02070309020205020404" pitchFamily="49" charset="0"/>
              </a:rPr>
              <a:t>BundabergFIFAeSports</a:t>
            </a:r>
            <a:r>
              <a:rPr lang="en-AU" sz="1001" dirty="0">
                <a:latin typeface="Courier New" panose="02070309020205020404" pitchFamily="49" charset="0"/>
                <a:cs typeface="Courier New" panose="02070309020205020404" pitchFamily="49" charset="0"/>
              </a:rPr>
              <a:t>”</a:t>
            </a:r>
          </a:p>
        </p:txBody>
      </p:sp>
      <p:sp>
        <p:nvSpPr>
          <p:cNvPr id="22" name="TextBox 21">
            <a:extLst>
              <a:ext uri="{FF2B5EF4-FFF2-40B4-BE49-F238E27FC236}">
                <a16:creationId xmlns:a16="http://schemas.microsoft.com/office/drawing/2014/main" id="{45991408-F9E8-4DBC-858B-43BDB82DAEB8}"/>
              </a:ext>
            </a:extLst>
          </p:cNvPr>
          <p:cNvSpPr txBox="1"/>
          <p:nvPr/>
        </p:nvSpPr>
        <p:spPr>
          <a:xfrm>
            <a:off x="58495" y="717762"/>
            <a:ext cx="713058" cy="1786515"/>
          </a:xfrm>
          <a:prstGeom prst="rect">
            <a:avLst/>
          </a:prstGeom>
          <a:solidFill>
            <a:schemeClr val="bg1"/>
          </a:solidFill>
          <a:ln>
            <a:solidFill>
              <a:srgbClr val="00B050"/>
            </a:solidFill>
          </a:ln>
        </p:spPr>
        <p:txBody>
          <a:bodyPr wrap="square" rtlCol="0">
            <a:spAutoFit/>
          </a:bodyPr>
          <a:lstStyle/>
          <a:p>
            <a:r>
              <a:rPr lang="en-AU" sz="1001" dirty="0"/>
              <a:t>A pivotal SQL command is the creation of the app through the ‘Create database’ command </a:t>
            </a:r>
            <a:endParaRPr lang="en-AU" sz="1001" dirty="0">
              <a:latin typeface="Courier New" panose="02070309020205020404" pitchFamily="49" charset="0"/>
              <a:cs typeface="Courier New" panose="02070309020205020404" pitchFamily="49" charset="0"/>
            </a:endParaRPr>
          </a:p>
        </p:txBody>
      </p:sp>
      <p:cxnSp>
        <p:nvCxnSpPr>
          <p:cNvPr id="23" name="Straight Arrow Connector 22">
            <a:extLst>
              <a:ext uri="{FF2B5EF4-FFF2-40B4-BE49-F238E27FC236}">
                <a16:creationId xmlns:a16="http://schemas.microsoft.com/office/drawing/2014/main" id="{F6F1563B-4050-49EA-ACD8-8E8139B4E77D}"/>
              </a:ext>
            </a:extLst>
          </p:cNvPr>
          <p:cNvCxnSpPr>
            <a:cxnSpLocks/>
          </p:cNvCxnSpPr>
          <p:nvPr/>
        </p:nvCxnSpPr>
        <p:spPr>
          <a:xfrm>
            <a:off x="2849419" y="1992638"/>
            <a:ext cx="311797" cy="0"/>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25" name="Straight Arrow Connector 24">
            <a:extLst>
              <a:ext uri="{FF2B5EF4-FFF2-40B4-BE49-F238E27FC236}">
                <a16:creationId xmlns:a16="http://schemas.microsoft.com/office/drawing/2014/main" id="{AAD1BF46-CC63-472B-BFAE-69FF365A79E7}"/>
              </a:ext>
            </a:extLst>
          </p:cNvPr>
          <p:cNvCxnSpPr>
            <a:cxnSpLocks/>
          </p:cNvCxnSpPr>
          <p:nvPr/>
        </p:nvCxnSpPr>
        <p:spPr>
          <a:xfrm>
            <a:off x="2427474" y="3829755"/>
            <a:ext cx="0" cy="363422"/>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27" name="Straight Arrow Connector 26">
            <a:extLst>
              <a:ext uri="{FF2B5EF4-FFF2-40B4-BE49-F238E27FC236}">
                <a16:creationId xmlns:a16="http://schemas.microsoft.com/office/drawing/2014/main" id="{8F68ADB8-C51E-434F-8588-442D270A222F}"/>
              </a:ext>
            </a:extLst>
          </p:cNvPr>
          <p:cNvCxnSpPr>
            <a:cxnSpLocks/>
          </p:cNvCxnSpPr>
          <p:nvPr/>
        </p:nvCxnSpPr>
        <p:spPr>
          <a:xfrm flipV="1">
            <a:off x="771554" y="813792"/>
            <a:ext cx="273476" cy="72569"/>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5683067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290944"/>
            <a:ext cx="3355902" cy="1180878"/>
          </a:xfrm>
        </p:spPr>
        <p:txBody>
          <a:bodyPr>
            <a:normAutofit/>
          </a:bodyPr>
          <a:lstStyle/>
          <a:p>
            <a:r>
              <a:rPr lang="en-AU" sz="2400" b="1" dirty="0"/>
              <a:t>Development- Algorithms</a:t>
            </a:r>
          </a:p>
        </p:txBody>
      </p:sp>
      <p:sp>
        <p:nvSpPr>
          <p:cNvPr id="3" name="TextBox 2"/>
          <p:cNvSpPr txBox="1"/>
          <p:nvPr/>
        </p:nvSpPr>
        <p:spPr>
          <a:xfrm>
            <a:off x="181818" y="653955"/>
            <a:ext cx="3355902" cy="5843779"/>
          </a:xfrm>
          <a:prstGeom prst="rect">
            <a:avLst/>
          </a:prstGeom>
          <a:solidFill>
            <a:schemeClr val="bg1"/>
          </a:solidFill>
          <a:ln>
            <a:solidFill>
              <a:srgbClr val="00B050"/>
            </a:solidFill>
          </a:ln>
        </p:spPr>
        <p:txBody>
          <a:bodyPr wrap="square" rtlCol="0">
            <a:spAutoFit/>
          </a:bodyPr>
          <a:lstStyle/>
          <a:p>
            <a:r>
              <a:rPr lang="en-AU" sz="1200" dirty="0"/>
              <a:t>Algorithm for processing Threads</a:t>
            </a:r>
            <a:endParaRPr lang="en-AU" sz="1001" dirty="0"/>
          </a:p>
          <a:p>
            <a:pPr>
              <a:lnSpc>
                <a:spcPct val="150000"/>
              </a:lnSpc>
            </a:pPr>
            <a:r>
              <a:rPr lang="en-AU" sz="1001" dirty="0"/>
              <a:t>SELECT FROM TABLE ‘</a:t>
            </a:r>
            <a:r>
              <a:rPr lang="en-AU" sz="1001" dirty="0" err="1"/>
              <a:t>main.threads</a:t>
            </a:r>
            <a:r>
              <a:rPr lang="en-AU" sz="1001" dirty="0"/>
              <a:t>’</a:t>
            </a:r>
          </a:p>
          <a:p>
            <a:pPr>
              <a:lnSpc>
                <a:spcPct val="150000"/>
              </a:lnSpc>
            </a:pPr>
            <a:r>
              <a:rPr lang="en-AU" sz="1001" dirty="0"/>
              <a:t>FOR EACH thread;</a:t>
            </a:r>
          </a:p>
          <a:p>
            <a:pPr>
              <a:lnSpc>
                <a:spcPct val="150000"/>
              </a:lnSpc>
            </a:pPr>
            <a:r>
              <a:rPr lang="en-AU" sz="1001" dirty="0"/>
              <a:t>  IF ‘</a:t>
            </a:r>
            <a:r>
              <a:rPr lang="en-AU" sz="1001" dirty="0" err="1"/>
              <a:t>thread.user</a:t>
            </a:r>
            <a:r>
              <a:rPr lang="en-AU" sz="1001" dirty="0"/>
              <a:t>’ banned THEN</a:t>
            </a:r>
          </a:p>
          <a:p>
            <a:pPr>
              <a:lnSpc>
                <a:spcPct val="150000"/>
              </a:lnSpc>
            </a:pPr>
            <a:r>
              <a:rPr lang="en-AU" sz="1001" dirty="0"/>
              <a:t>    NOT display thread</a:t>
            </a:r>
          </a:p>
          <a:p>
            <a:pPr>
              <a:lnSpc>
                <a:spcPct val="150000"/>
              </a:lnSpc>
            </a:pPr>
            <a:r>
              <a:rPr lang="en-AU" sz="1001" dirty="0"/>
              <a:t>  ELSE IF ‘</a:t>
            </a:r>
            <a:r>
              <a:rPr lang="en-AU" sz="1001" dirty="0" err="1"/>
              <a:t>thread.title</a:t>
            </a:r>
            <a:r>
              <a:rPr lang="en-AU" sz="1001" dirty="0"/>
              <a:t>’ NOT appropriate THEN</a:t>
            </a:r>
          </a:p>
          <a:p>
            <a:pPr>
              <a:lnSpc>
                <a:spcPct val="150000"/>
              </a:lnSpc>
            </a:pPr>
            <a:r>
              <a:rPr lang="en-AU" sz="1001" dirty="0"/>
              <a:t>               NOT display thread</a:t>
            </a:r>
          </a:p>
          <a:p>
            <a:pPr lvl="1">
              <a:lnSpc>
                <a:spcPct val="150000"/>
              </a:lnSpc>
            </a:pPr>
            <a:r>
              <a:rPr lang="en-AU" sz="1001" dirty="0"/>
              <a:t>ELSE IF ‘</a:t>
            </a:r>
            <a:r>
              <a:rPr lang="en-AU" sz="1001" dirty="0" err="1"/>
              <a:t>thread.text</a:t>
            </a:r>
            <a:r>
              <a:rPr lang="en-AU" sz="1001" dirty="0"/>
              <a:t>’ NOT appropriate THEN</a:t>
            </a:r>
          </a:p>
          <a:p>
            <a:pPr lvl="1">
              <a:lnSpc>
                <a:spcPct val="150000"/>
              </a:lnSpc>
            </a:pPr>
            <a:r>
              <a:rPr lang="en-AU" sz="1001" dirty="0"/>
              <a:t>               NOT display thread</a:t>
            </a:r>
          </a:p>
          <a:p>
            <a:pPr>
              <a:lnSpc>
                <a:spcPct val="150000"/>
              </a:lnSpc>
            </a:pPr>
            <a:r>
              <a:rPr lang="en-AU" sz="1001" dirty="0"/>
              <a:t>                                ELSE  </a:t>
            </a:r>
            <a:r>
              <a:rPr lang="en-AU" sz="1001" dirty="0" err="1"/>
              <a:t>display.thread</a:t>
            </a:r>
            <a:endParaRPr lang="en-AU" sz="1001" dirty="0"/>
          </a:p>
          <a:p>
            <a:pPr>
              <a:lnSpc>
                <a:spcPct val="150000"/>
              </a:lnSpc>
            </a:pPr>
            <a:endParaRPr lang="en-AU" sz="1001" dirty="0"/>
          </a:p>
          <a:p>
            <a:pPr>
              <a:lnSpc>
                <a:spcPct val="150000"/>
              </a:lnSpc>
            </a:pPr>
            <a:r>
              <a:rPr lang="en-AU" sz="1200" dirty="0"/>
              <a:t>Algorithm for triggering Alerts</a:t>
            </a:r>
          </a:p>
          <a:p>
            <a:pPr>
              <a:lnSpc>
                <a:spcPct val="150000"/>
              </a:lnSpc>
            </a:pPr>
            <a:r>
              <a:rPr lang="en-AU" sz="1001" dirty="0"/>
              <a:t>Create list of events within FIFA Web app that has cause to trigger a user;</a:t>
            </a:r>
          </a:p>
          <a:p>
            <a:pPr>
              <a:lnSpc>
                <a:spcPct val="150000"/>
              </a:lnSpc>
            </a:pPr>
            <a:r>
              <a:rPr lang="en-AU" sz="1001" dirty="0"/>
              <a:t>LIST : [</a:t>
            </a:r>
            <a:r>
              <a:rPr lang="en-AU" sz="1001" dirty="0" err="1"/>
              <a:t>New_FIFA_Update</a:t>
            </a:r>
            <a:r>
              <a:rPr lang="en-AU" sz="1001" dirty="0"/>
              <a:t>, </a:t>
            </a:r>
            <a:r>
              <a:rPr lang="en-AU" sz="1001" dirty="0" err="1"/>
              <a:t>FIFA_Web_App_Update</a:t>
            </a:r>
            <a:r>
              <a:rPr lang="en-AU" sz="1001" dirty="0"/>
              <a:t>, </a:t>
            </a:r>
            <a:r>
              <a:rPr lang="en-AU" sz="1001" dirty="0" err="1"/>
              <a:t>Force_Update</a:t>
            </a:r>
            <a:r>
              <a:rPr lang="en-AU" sz="1001" dirty="0"/>
              <a:t>, </a:t>
            </a:r>
            <a:r>
              <a:rPr lang="en-AU" sz="1001" dirty="0" err="1"/>
              <a:t>User_Banned_or_Suspended</a:t>
            </a:r>
            <a:r>
              <a:rPr lang="en-AU" sz="1001" dirty="0"/>
              <a:t>]</a:t>
            </a:r>
          </a:p>
          <a:p>
            <a:pPr>
              <a:lnSpc>
                <a:spcPct val="150000"/>
              </a:lnSpc>
            </a:pPr>
            <a:endParaRPr lang="en-AU" sz="1001" dirty="0"/>
          </a:p>
          <a:p>
            <a:pPr>
              <a:lnSpc>
                <a:spcPct val="150000"/>
              </a:lnSpc>
            </a:pPr>
            <a:r>
              <a:rPr lang="en-AU" sz="1001" dirty="0"/>
              <a:t>Check if a given event is within the list</a:t>
            </a:r>
          </a:p>
          <a:p>
            <a:pPr>
              <a:lnSpc>
                <a:spcPct val="150000"/>
              </a:lnSpc>
            </a:pPr>
            <a:r>
              <a:rPr lang="en-AU" sz="1001" dirty="0"/>
              <a:t>IF event IN LIST THEN</a:t>
            </a:r>
          </a:p>
          <a:p>
            <a:pPr>
              <a:lnSpc>
                <a:spcPct val="150000"/>
              </a:lnSpc>
            </a:pPr>
            <a:r>
              <a:rPr lang="en-AU" sz="1001" dirty="0"/>
              <a:t>     CREATE </a:t>
            </a:r>
            <a:r>
              <a:rPr lang="en-AU" sz="1001" dirty="0" err="1"/>
              <a:t>NewAlert</a:t>
            </a:r>
            <a:r>
              <a:rPr lang="en-AU" sz="1001" dirty="0"/>
              <a:t> </a:t>
            </a:r>
          </a:p>
          <a:p>
            <a:pPr>
              <a:lnSpc>
                <a:spcPct val="150000"/>
              </a:lnSpc>
            </a:pPr>
            <a:r>
              <a:rPr lang="en-AU" sz="1001" dirty="0"/>
              <a:t>     IF event = {</a:t>
            </a:r>
            <a:r>
              <a:rPr lang="en-AU" sz="1001" dirty="0" err="1"/>
              <a:t>New_FIFA_Update</a:t>
            </a:r>
            <a:r>
              <a:rPr lang="en-AU" sz="1001" dirty="0"/>
              <a:t>} SET warning LOW</a:t>
            </a:r>
          </a:p>
          <a:p>
            <a:pPr>
              <a:lnSpc>
                <a:spcPct val="150000"/>
              </a:lnSpc>
            </a:pPr>
            <a:r>
              <a:rPr lang="en-AU" sz="1001" dirty="0"/>
              <a:t>     ELISEIF event = {</a:t>
            </a:r>
            <a:r>
              <a:rPr lang="en-AU" sz="1001" dirty="0" err="1"/>
              <a:t>FIFA_Web_App_Update</a:t>
            </a:r>
            <a:r>
              <a:rPr lang="en-AU" sz="1001" dirty="0"/>
              <a:t>} SET warning MEDIUM</a:t>
            </a:r>
          </a:p>
          <a:p>
            <a:pPr>
              <a:lnSpc>
                <a:spcPct val="150000"/>
              </a:lnSpc>
            </a:pPr>
            <a:r>
              <a:rPr lang="en-AU" sz="1001" dirty="0"/>
              <a:t>     ELSEIF event = {</a:t>
            </a:r>
            <a:r>
              <a:rPr lang="en-AU" sz="1001" dirty="0" err="1"/>
              <a:t>Force_Update</a:t>
            </a:r>
            <a:r>
              <a:rPr lang="en-AU" sz="1001" dirty="0"/>
              <a:t>, </a:t>
            </a:r>
            <a:r>
              <a:rPr lang="en-AU" sz="1001" dirty="0" err="1"/>
              <a:t>User_Banned_or_Suspended</a:t>
            </a:r>
            <a:r>
              <a:rPr lang="en-AU" sz="1001" dirty="0"/>
              <a:t>} SET warning HIGH</a:t>
            </a:r>
          </a:p>
        </p:txBody>
      </p:sp>
      <p:sp>
        <p:nvSpPr>
          <p:cNvPr id="4" name="TextBox 3">
            <a:extLst>
              <a:ext uri="{FF2B5EF4-FFF2-40B4-BE49-F238E27FC236}">
                <a16:creationId xmlns:a16="http://schemas.microsoft.com/office/drawing/2014/main" id="{466C8F6B-5F19-421B-9353-621AEFFB101C}"/>
              </a:ext>
            </a:extLst>
          </p:cNvPr>
          <p:cNvSpPr txBox="1"/>
          <p:nvPr/>
        </p:nvSpPr>
        <p:spPr>
          <a:xfrm>
            <a:off x="5788336" y="134000"/>
            <a:ext cx="3355902" cy="6730432"/>
          </a:xfrm>
          <a:prstGeom prst="rect">
            <a:avLst/>
          </a:prstGeom>
          <a:solidFill>
            <a:schemeClr val="bg1"/>
          </a:solidFill>
          <a:ln>
            <a:solidFill>
              <a:srgbClr val="00B050"/>
            </a:solidFill>
          </a:ln>
        </p:spPr>
        <p:txBody>
          <a:bodyPr wrap="square" rtlCol="0">
            <a:spAutoFit/>
          </a:bodyPr>
          <a:lstStyle/>
          <a:p>
            <a:r>
              <a:rPr lang="en-AU" sz="1200" dirty="0"/>
              <a:t>Algorithm for registration (Add Users)</a:t>
            </a:r>
          </a:p>
          <a:p>
            <a:pPr>
              <a:lnSpc>
                <a:spcPct val="150000"/>
              </a:lnSpc>
            </a:pPr>
            <a:r>
              <a:rPr lang="en-AU" sz="1001" dirty="0"/>
              <a:t>GET * FROM </a:t>
            </a:r>
            <a:r>
              <a:rPr lang="en-AU" sz="1001" dirty="0" err="1"/>
              <a:t>UserForm</a:t>
            </a:r>
            <a:endParaRPr lang="en-AU" sz="1001" dirty="0"/>
          </a:p>
          <a:p>
            <a:pPr>
              <a:lnSpc>
                <a:spcPct val="150000"/>
              </a:lnSpc>
            </a:pPr>
            <a:r>
              <a:rPr lang="en-AU" sz="1001" dirty="0"/>
              <a:t>IF username IN TABLE Users</a:t>
            </a:r>
          </a:p>
          <a:p>
            <a:pPr lvl="1">
              <a:lnSpc>
                <a:spcPct val="150000"/>
              </a:lnSpc>
            </a:pPr>
            <a:r>
              <a:rPr lang="en-AU" sz="1001" dirty="0"/>
              <a:t>THEN Redirect</a:t>
            </a:r>
          </a:p>
          <a:p>
            <a:pPr>
              <a:lnSpc>
                <a:spcPct val="150000"/>
              </a:lnSpc>
            </a:pPr>
            <a:r>
              <a:rPr lang="en-AU" sz="1001" dirty="0"/>
              <a:t>ELSE </a:t>
            </a:r>
          </a:p>
          <a:p>
            <a:pPr lvl="1">
              <a:lnSpc>
                <a:spcPct val="150000"/>
              </a:lnSpc>
            </a:pPr>
            <a:r>
              <a:rPr lang="en-AU" sz="1001" dirty="0"/>
              <a:t>INPUT INTO TABLE Users { username, password, email, </a:t>
            </a:r>
            <a:r>
              <a:rPr lang="en-AU" sz="1001" dirty="0" err="1"/>
              <a:t>first_name</a:t>
            </a:r>
            <a:r>
              <a:rPr lang="en-AU" sz="1001" dirty="0"/>
              <a:t>, </a:t>
            </a:r>
            <a:r>
              <a:rPr lang="en-AU" sz="1001" dirty="0" err="1"/>
              <a:t>last_name</a:t>
            </a:r>
            <a:r>
              <a:rPr lang="en-AU" sz="1001" dirty="0"/>
              <a:t> } </a:t>
            </a:r>
          </a:p>
          <a:p>
            <a:pPr lvl="1">
              <a:lnSpc>
                <a:spcPct val="150000"/>
              </a:lnSpc>
            </a:pPr>
            <a:r>
              <a:rPr lang="en-AU" sz="1001" dirty="0"/>
              <a:t>LOGIN USER</a:t>
            </a:r>
          </a:p>
          <a:p>
            <a:pPr lvl="1">
              <a:lnSpc>
                <a:spcPct val="150000"/>
              </a:lnSpc>
            </a:pPr>
            <a:r>
              <a:rPr lang="en-AU" sz="1001" dirty="0"/>
              <a:t>Redirect</a:t>
            </a:r>
          </a:p>
          <a:p>
            <a:endParaRPr lang="en-AU" sz="1001" dirty="0"/>
          </a:p>
          <a:p>
            <a:endParaRPr lang="en-AU" sz="1001" dirty="0"/>
          </a:p>
          <a:p>
            <a:r>
              <a:rPr lang="en-AU" sz="1200" dirty="0"/>
              <a:t>Algorithm for processing Comments</a:t>
            </a:r>
            <a:endParaRPr lang="en-AU" sz="1001" dirty="0"/>
          </a:p>
          <a:p>
            <a:pPr>
              <a:lnSpc>
                <a:spcPct val="150000"/>
              </a:lnSpc>
            </a:pPr>
            <a:r>
              <a:rPr lang="en-AU" sz="1200" dirty="0"/>
              <a:t> </a:t>
            </a:r>
            <a:r>
              <a:rPr lang="en-AU" sz="1001" dirty="0"/>
              <a:t>SELECT FROM TABLE ‘</a:t>
            </a:r>
            <a:r>
              <a:rPr lang="en-AU" sz="1001" dirty="0" err="1"/>
              <a:t>main.comments</a:t>
            </a:r>
            <a:r>
              <a:rPr lang="en-AU" sz="1001" dirty="0"/>
              <a:t>’</a:t>
            </a:r>
          </a:p>
          <a:p>
            <a:pPr>
              <a:lnSpc>
                <a:spcPct val="150000"/>
              </a:lnSpc>
            </a:pPr>
            <a:r>
              <a:rPr lang="en-AU" sz="1001" dirty="0"/>
              <a:t>FOR </a:t>
            </a:r>
          </a:p>
          <a:p>
            <a:pPr>
              <a:lnSpc>
                <a:spcPct val="150000"/>
              </a:lnSpc>
            </a:pPr>
            <a:endParaRPr lang="en-AU" sz="1001" dirty="0"/>
          </a:p>
          <a:p>
            <a:pPr>
              <a:lnSpc>
                <a:spcPct val="150000"/>
              </a:lnSpc>
            </a:pPr>
            <a:r>
              <a:rPr lang="en-AU" sz="1001" dirty="0"/>
              <a:t>FOR EACH thread;</a:t>
            </a:r>
          </a:p>
          <a:p>
            <a:pPr>
              <a:lnSpc>
                <a:spcPct val="150000"/>
              </a:lnSpc>
            </a:pPr>
            <a:r>
              <a:rPr lang="en-AU" sz="1001" dirty="0"/>
              <a:t>  IF ‘</a:t>
            </a:r>
            <a:r>
              <a:rPr lang="en-AU" sz="1001" dirty="0" err="1"/>
              <a:t>comment.user</a:t>
            </a:r>
            <a:r>
              <a:rPr lang="en-AU" sz="1001" dirty="0"/>
              <a:t>’ banned THEN</a:t>
            </a:r>
          </a:p>
          <a:p>
            <a:pPr>
              <a:lnSpc>
                <a:spcPct val="150000"/>
              </a:lnSpc>
            </a:pPr>
            <a:r>
              <a:rPr lang="en-AU" sz="1001" dirty="0"/>
              <a:t>    NOT display thread</a:t>
            </a:r>
          </a:p>
          <a:p>
            <a:pPr>
              <a:lnSpc>
                <a:spcPct val="150000"/>
              </a:lnSpc>
            </a:pPr>
            <a:r>
              <a:rPr lang="en-AU" sz="1001" dirty="0"/>
              <a:t>  ELSE IF ‘</a:t>
            </a:r>
            <a:r>
              <a:rPr lang="en-AU" sz="1001" dirty="0" err="1"/>
              <a:t>comment.image</a:t>
            </a:r>
            <a:r>
              <a:rPr lang="en-AU" sz="1001" dirty="0"/>
              <a:t>’ NOT appropriate THEN</a:t>
            </a:r>
          </a:p>
          <a:p>
            <a:pPr>
              <a:lnSpc>
                <a:spcPct val="150000"/>
              </a:lnSpc>
            </a:pPr>
            <a:r>
              <a:rPr lang="en-AU" sz="1001" dirty="0"/>
              <a:t>               NOT display thread</a:t>
            </a:r>
          </a:p>
          <a:p>
            <a:pPr lvl="1">
              <a:lnSpc>
                <a:spcPct val="150000"/>
              </a:lnSpc>
            </a:pPr>
            <a:r>
              <a:rPr lang="en-AU" sz="1001" dirty="0"/>
              <a:t>ELSE IF ‘</a:t>
            </a:r>
            <a:r>
              <a:rPr lang="en-AU" sz="1001" dirty="0" err="1"/>
              <a:t>comment.text</a:t>
            </a:r>
            <a:r>
              <a:rPr lang="en-AU" sz="1001" dirty="0"/>
              <a:t>’ NOT appropriate THEN</a:t>
            </a:r>
          </a:p>
          <a:p>
            <a:pPr lvl="1">
              <a:lnSpc>
                <a:spcPct val="150000"/>
              </a:lnSpc>
            </a:pPr>
            <a:r>
              <a:rPr lang="en-AU" sz="1001" dirty="0"/>
              <a:t>               NOT display thread</a:t>
            </a:r>
          </a:p>
          <a:p>
            <a:pPr>
              <a:lnSpc>
                <a:spcPct val="150000"/>
              </a:lnSpc>
            </a:pPr>
            <a:r>
              <a:rPr lang="en-AU" sz="1001" dirty="0"/>
              <a:t>                                ELSE  </a:t>
            </a:r>
            <a:r>
              <a:rPr lang="en-AU" sz="1001" dirty="0" err="1"/>
              <a:t>display.thread</a:t>
            </a:r>
            <a:endParaRPr lang="en-AU" sz="1001" dirty="0"/>
          </a:p>
          <a:p>
            <a:pPr>
              <a:lnSpc>
                <a:spcPct val="150000"/>
              </a:lnSpc>
            </a:pPr>
            <a:endParaRPr lang="en-AU" sz="1001" dirty="0"/>
          </a:p>
          <a:p>
            <a:pPr>
              <a:lnSpc>
                <a:spcPct val="150000"/>
              </a:lnSpc>
            </a:pPr>
            <a:r>
              <a:rPr lang="en-AU" sz="1200" dirty="0"/>
              <a:t>Algorithm for FIFA ranking</a:t>
            </a:r>
          </a:p>
          <a:p>
            <a:pPr>
              <a:lnSpc>
                <a:spcPct val="150000"/>
              </a:lnSpc>
            </a:pPr>
            <a:r>
              <a:rPr lang="en-AU" sz="900" dirty="0"/>
              <a:t>IF </a:t>
            </a:r>
            <a:r>
              <a:rPr lang="en-AU" sz="900" dirty="0" err="1"/>
              <a:t>User.Goals</a:t>
            </a:r>
            <a:r>
              <a:rPr lang="en-AU" sz="900" dirty="0"/>
              <a:t> &lt;10 THEN Rank = ‘Bronze’</a:t>
            </a:r>
          </a:p>
          <a:p>
            <a:pPr>
              <a:lnSpc>
                <a:spcPct val="150000"/>
              </a:lnSpc>
            </a:pPr>
            <a:r>
              <a:rPr lang="en-AU" sz="900" dirty="0"/>
              <a:t>ELSEIF </a:t>
            </a:r>
            <a:r>
              <a:rPr lang="en-AU" sz="900" dirty="0" err="1"/>
              <a:t>User.Goals</a:t>
            </a:r>
            <a:r>
              <a:rPr lang="en-AU" sz="900" dirty="0"/>
              <a:t> &lt;50 THEN Rank = ‘Silver’</a:t>
            </a:r>
          </a:p>
          <a:p>
            <a:pPr>
              <a:lnSpc>
                <a:spcPct val="150000"/>
              </a:lnSpc>
            </a:pPr>
            <a:r>
              <a:rPr lang="en-AU" sz="900" dirty="0"/>
              <a:t>ELSEIF </a:t>
            </a:r>
            <a:r>
              <a:rPr lang="en-AU" sz="900" dirty="0" err="1"/>
              <a:t>User.Goals</a:t>
            </a:r>
            <a:r>
              <a:rPr lang="en-AU" sz="900" dirty="0"/>
              <a:t> &lt;200 THEN Rank = ‘Gold’</a:t>
            </a:r>
          </a:p>
          <a:p>
            <a:pPr>
              <a:lnSpc>
                <a:spcPct val="150000"/>
              </a:lnSpc>
            </a:pPr>
            <a:r>
              <a:rPr lang="en-AU" sz="900" dirty="0"/>
              <a:t>ELSEIF </a:t>
            </a:r>
            <a:r>
              <a:rPr lang="en-AU" sz="900" dirty="0" err="1"/>
              <a:t>User.Goals</a:t>
            </a:r>
            <a:r>
              <a:rPr lang="en-AU" sz="900" dirty="0"/>
              <a:t> &lt;500 THEN Rank = ‘</a:t>
            </a:r>
            <a:r>
              <a:rPr lang="en-AU" sz="900" dirty="0" err="1"/>
              <a:t>Platnium</a:t>
            </a:r>
            <a:r>
              <a:rPr lang="en-AU" sz="900" dirty="0"/>
              <a:t>’</a:t>
            </a:r>
          </a:p>
          <a:p>
            <a:pPr>
              <a:lnSpc>
                <a:spcPct val="150000"/>
              </a:lnSpc>
            </a:pPr>
            <a:r>
              <a:rPr lang="en-AU" sz="900" dirty="0"/>
              <a:t>ELSEIF </a:t>
            </a:r>
            <a:r>
              <a:rPr lang="en-AU" sz="900" dirty="0" err="1"/>
              <a:t>User.Goals</a:t>
            </a:r>
            <a:r>
              <a:rPr lang="en-AU" sz="900" dirty="0"/>
              <a:t> &gt;500 THEN Rank = ‘Masters’</a:t>
            </a:r>
          </a:p>
        </p:txBody>
      </p:sp>
      <p:sp>
        <p:nvSpPr>
          <p:cNvPr id="5" name="TextBox 4">
            <a:extLst>
              <a:ext uri="{FF2B5EF4-FFF2-40B4-BE49-F238E27FC236}">
                <a16:creationId xmlns:a16="http://schemas.microsoft.com/office/drawing/2014/main" id="{C1C37EAE-0FFA-4E24-BAE8-FF29DAB06765}"/>
              </a:ext>
            </a:extLst>
          </p:cNvPr>
          <p:cNvSpPr txBox="1"/>
          <p:nvPr/>
        </p:nvSpPr>
        <p:spPr>
          <a:xfrm>
            <a:off x="3680708" y="1750653"/>
            <a:ext cx="1960826" cy="1478482"/>
          </a:xfrm>
          <a:prstGeom prst="rect">
            <a:avLst/>
          </a:prstGeom>
          <a:solidFill>
            <a:schemeClr val="bg1"/>
          </a:solidFill>
          <a:ln>
            <a:solidFill>
              <a:srgbClr val="00B050"/>
            </a:solidFill>
          </a:ln>
        </p:spPr>
        <p:txBody>
          <a:bodyPr wrap="square" rtlCol="0">
            <a:spAutoFit/>
          </a:bodyPr>
          <a:lstStyle/>
          <a:p>
            <a:r>
              <a:rPr lang="en-AU" sz="1001" dirty="0"/>
              <a:t>This algorithm processes the creation and the validation of the ‘Thread’ model, that is the key model for the discussion forums Within this pseudocode algorithm, conditional statements ‘if’ and ‘then’ check if the user is banned or if the content they have provided is appropriate </a:t>
            </a:r>
            <a:endParaRPr lang="en-AU" sz="1001" dirty="0">
              <a:latin typeface="Courier New" panose="02070309020205020404" pitchFamily="49" charset="0"/>
              <a:cs typeface="Courier New" panose="02070309020205020404" pitchFamily="49" charset="0"/>
            </a:endParaRPr>
          </a:p>
        </p:txBody>
      </p:sp>
      <p:cxnSp>
        <p:nvCxnSpPr>
          <p:cNvPr id="7" name="Straight Arrow Connector 6">
            <a:extLst>
              <a:ext uri="{FF2B5EF4-FFF2-40B4-BE49-F238E27FC236}">
                <a16:creationId xmlns:a16="http://schemas.microsoft.com/office/drawing/2014/main" id="{5AADEEAB-4F30-46E9-BB71-12425947184D}"/>
              </a:ext>
            </a:extLst>
          </p:cNvPr>
          <p:cNvCxnSpPr>
            <a:cxnSpLocks/>
          </p:cNvCxnSpPr>
          <p:nvPr/>
        </p:nvCxnSpPr>
        <p:spPr>
          <a:xfrm flipH="1">
            <a:off x="3045028" y="2367258"/>
            <a:ext cx="635680" cy="0"/>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8" name="TextBox 7">
            <a:extLst>
              <a:ext uri="{FF2B5EF4-FFF2-40B4-BE49-F238E27FC236}">
                <a16:creationId xmlns:a16="http://schemas.microsoft.com/office/drawing/2014/main" id="{13DC9141-E66A-4960-872A-335806CE5D54}"/>
              </a:ext>
            </a:extLst>
          </p:cNvPr>
          <p:cNvSpPr txBox="1"/>
          <p:nvPr/>
        </p:nvSpPr>
        <p:spPr>
          <a:xfrm>
            <a:off x="3682616" y="4879976"/>
            <a:ext cx="1960826" cy="1786515"/>
          </a:xfrm>
          <a:prstGeom prst="rect">
            <a:avLst/>
          </a:prstGeom>
          <a:solidFill>
            <a:schemeClr val="bg1"/>
          </a:solidFill>
          <a:ln>
            <a:solidFill>
              <a:srgbClr val="00B050"/>
            </a:solidFill>
          </a:ln>
        </p:spPr>
        <p:txBody>
          <a:bodyPr wrap="square" rtlCol="0">
            <a:spAutoFit/>
          </a:bodyPr>
          <a:lstStyle/>
          <a:p>
            <a:r>
              <a:rPr lang="en-US" sz="1001" dirty="0">
                <a:cs typeface="Courier New" panose="02070309020205020404" pitchFamily="49" charset="0"/>
              </a:rPr>
              <a:t>The FIFA Web app employs an alert system. Using a list of possible events that warrant an alert, the algorithm deciphers whether the event permit an alert using a conditional statement. An alert is created with varying levels of significance, represented by warning level, depending on which event is inputted to the algorithm. </a:t>
            </a:r>
            <a:endParaRPr lang="en-AU" sz="1001" dirty="0">
              <a:cs typeface="Courier New" panose="02070309020205020404" pitchFamily="49" charset="0"/>
            </a:endParaRPr>
          </a:p>
        </p:txBody>
      </p:sp>
      <p:cxnSp>
        <p:nvCxnSpPr>
          <p:cNvPr id="10" name="Straight Arrow Connector 9">
            <a:extLst>
              <a:ext uri="{FF2B5EF4-FFF2-40B4-BE49-F238E27FC236}">
                <a16:creationId xmlns:a16="http://schemas.microsoft.com/office/drawing/2014/main" id="{36B48CBD-5777-48AE-91DE-0B4B34C26DF3}"/>
              </a:ext>
            </a:extLst>
          </p:cNvPr>
          <p:cNvCxnSpPr>
            <a:cxnSpLocks/>
          </p:cNvCxnSpPr>
          <p:nvPr/>
        </p:nvCxnSpPr>
        <p:spPr>
          <a:xfrm flipH="1">
            <a:off x="2814968" y="5832531"/>
            <a:ext cx="865740" cy="0"/>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2" name="TextBox 11">
            <a:extLst>
              <a:ext uri="{FF2B5EF4-FFF2-40B4-BE49-F238E27FC236}">
                <a16:creationId xmlns:a16="http://schemas.microsoft.com/office/drawing/2014/main" id="{2A5887C8-04F5-469E-9458-AA9D0FFDEE05}"/>
              </a:ext>
            </a:extLst>
          </p:cNvPr>
          <p:cNvSpPr txBox="1"/>
          <p:nvPr/>
        </p:nvSpPr>
        <p:spPr>
          <a:xfrm>
            <a:off x="3680708" y="256392"/>
            <a:ext cx="1960826" cy="1324465"/>
          </a:xfrm>
          <a:prstGeom prst="rect">
            <a:avLst/>
          </a:prstGeom>
          <a:solidFill>
            <a:schemeClr val="bg1"/>
          </a:solidFill>
          <a:ln>
            <a:solidFill>
              <a:srgbClr val="00B050"/>
            </a:solidFill>
          </a:ln>
        </p:spPr>
        <p:txBody>
          <a:bodyPr wrap="square" rtlCol="0">
            <a:spAutoFit/>
          </a:bodyPr>
          <a:lstStyle/>
          <a:p>
            <a:r>
              <a:rPr lang="en-AU" sz="1001" dirty="0"/>
              <a:t>The registration algorithm begins by gathering the data from the </a:t>
            </a:r>
            <a:r>
              <a:rPr lang="en-AU" sz="1001" dirty="0" err="1"/>
              <a:t>UserForm</a:t>
            </a:r>
            <a:r>
              <a:rPr lang="en-AU" sz="1001" dirty="0"/>
              <a:t>. The algorithm goes on to check whether this data is double data (already within database) and inputs to the database if it tests negative to already being in the database.</a:t>
            </a:r>
            <a:endParaRPr lang="en-AU" sz="1001" dirty="0">
              <a:latin typeface="Courier New" panose="02070309020205020404" pitchFamily="49" charset="0"/>
              <a:cs typeface="Courier New" panose="02070309020205020404" pitchFamily="49" charset="0"/>
            </a:endParaRPr>
          </a:p>
        </p:txBody>
      </p:sp>
      <p:sp>
        <p:nvSpPr>
          <p:cNvPr id="13" name="TextBox 12">
            <a:extLst>
              <a:ext uri="{FF2B5EF4-FFF2-40B4-BE49-F238E27FC236}">
                <a16:creationId xmlns:a16="http://schemas.microsoft.com/office/drawing/2014/main" id="{6D7FB534-9D92-4050-9140-8851CED0F9CF}"/>
              </a:ext>
            </a:extLst>
          </p:cNvPr>
          <p:cNvSpPr txBox="1"/>
          <p:nvPr/>
        </p:nvSpPr>
        <p:spPr>
          <a:xfrm>
            <a:off x="3680708" y="3385713"/>
            <a:ext cx="1960826" cy="1324465"/>
          </a:xfrm>
          <a:prstGeom prst="rect">
            <a:avLst/>
          </a:prstGeom>
          <a:solidFill>
            <a:schemeClr val="bg1"/>
          </a:solidFill>
          <a:ln>
            <a:solidFill>
              <a:srgbClr val="00B050"/>
            </a:solidFill>
          </a:ln>
        </p:spPr>
        <p:txBody>
          <a:bodyPr wrap="square" rtlCol="0">
            <a:spAutoFit/>
          </a:bodyPr>
          <a:lstStyle/>
          <a:p>
            <a:r>
              <a:rPr lang="en-AU" sz="1001" dirty="0"/>
              <a:t>The FIFA Web app comment algorithm is similar to the thread algorithm, checking if the user is banned and if the comment’s data (text and image) is appropriate. In the case the data is appropriate and the user is not banned, the comment is outputted.</a:t>
            </a:r>
            <a:endParaRPr lang="en-AU" sz="1001" dirty="0">
              <a:latin typeface="Courier New" panose="02070309020205020404" pitchFamily="49" charset="0"/>
              <a:cs typeface="Courier New" panose="02070309020205020404" pitchFamily="49" charset="0"/>
            </a:endParaRPr>
          </a:p>
        </p:txBody>
      </p:sp>
      <p:cxnSp>
        <p:nvCxnSpPr>
          <p:cNvPr id="14" name="Straight Arrow Connector 13">
            <a:extLst>
              <a:ext uri="{FF2B5EF4-FFF2-40B4-BE49-F238E27FC236}">
                <a16:creationId xmlns:a16="http://schemas.microsoft.com/office/drawing/2014/main" id="{4C6049B3-12D2-4EFC-947E-51B182DB61FD}"/>
              </a:ext>
            </a:extLst>
          </p:cNvPr>
          <p:cNvCxnSpPr>
            <a:cxnSpLocks/>
          </p:cNvCxnSpPr>
          <p:nvPr/>
        </p:nvCxnSpPr>
        <p:spPr>
          <a:xfrm>
            <a:off x="5643446" y="1388725"/>
            <a:ext cx="452559" cy="239870"/>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8" name="Straight Arrow Connector 17">
            <a:extLst>
              <a:ext uri="{FF2B5EF4-FFF2-40B4-BE49-F238E27FC236}">
                <a16:creationId xmlns:a16="http://schemas.microsoft.com/office/drawing/2014/main" id="{1368AFF2-EDB2-43E6-810C-E9217209F3A5}"/>
              </a:ext>
            </a:extLst>
          </p:cNvPr>
          <p:cNvCxnSpPr>
            <a:cxnSpLocks/>
          </p:cNvCxnSpPr>
          <p:nvPr/>
        </p:nvCxnSpPr>
        <p:spPr>
          <a:xfrm>
            <a:off x="5641534" y="4437529"/>
            <a:ext cx="454466" cy="0"/>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21" name="TextBox 20">
            <a:extLst>
              <a:ext uri="{FF2B5EF4-FFF2-40B4-BE49-F238E27FC236}">
                <a16:creationId xmlns:a16="http://schemas.microsoft.com/office/drawing/2014/main" id="{1542715E-2F41-48A8-A528-5BE104C8B850}"/>
              </a:ext>
            </a:extLst>
          </p:cNvPr>
          <p:cNvSpPr txBox="1"/>
          <p:nvPr/>
        </p:nvSpPr>
        <p:spPr>
          <a:xfrm>
            <a:off x="9289137" y="1854915"/>
            <a:ext cx="2717477" cy="1616596"/>
          </a:xfrm>
          <a:prstGeom prst="rect">
            <a:avLst/>
          </a:prstGeom>
          <a:solidFill>
            <a:schemeClr val="bg1"/>
          </a:solidFill>
          <a:ln>
            <a:solidFill>
              <a:srgbClr val="00B050"/>
            </a:solidFill>
          </a:ln>
        </p:spPr>
        <p:txBody>
          <a:bodyPr wrap="square" rtlCol="0">
            <a:spAutoFit/>
          </a:bodyPr>
          <a:lstStyle/>
          <a:p>
            <a:r>
              <a:rPr lang="en-AU" sz="1200" dirty="0"/>
              <a:t>Algorithm for matching interests</a:t>
            </a:r>
          </a:p>
          <a:p>
            <a:pPr>
              <a:lnSpc>
                <a:spcPct val="150000"/>
              </a:lnSpc>
            </a:pPr>
            <a:r>
              <a:rPr lang="en-AU" sz="1200" dirty="0"/>
              <a:t> </a:t>
            </a:r>
            <a:r>
              <a:rPr lang="en-AU" sz="1001" dirty="0"/>
              <a:t>GET * FROM User TABLE</a:t>
            </a:r>
          </a:p>
          <a:p>
            <a:pPr lvl="1">
              <a:lnSpc>
                <a:spcPct val="150000"/>
              </a:lnSpc>
            </a:pPr>
            <a:r>
              <a:rPr lang="en-AU" sz="1001" dirty="0"/>
              <a:t>FOR user in User TABLE:</a:t>
            </a:r>
          </a:p>
          <a:p>
            <a:pPr lvl="1">
              <a:lnSpc>
                <a:spcPct val="150000"/>
              </a:lnSpc>
            </a:pPr>
            <a:r>
              <a:rPr lang="en-AU" sz="1001" dirty="0"/>
              <a:t>GET ‘</a:t>
            </a:r>
            <a:r>
              <a:rPr lang="en-AU" sz="1001" dirty="0" err="1"/>
              <a:t>favourite_team</a:t>
            </a:r>
            <a:r>
              <a:rPr lang="en-AU" sz="1001" dirty="0"/>
              <a:t>’ from user</a:t>
            </a:r>
          </a:p>
          <a:p>
            <a:pPr lvl="1">
              <a:lnSpc>
                <a:spcPct val="150000"/>
              </a:lnSpc>
            </a:pPr>
            <a:r>
              <a:rPr lang="en-AU" sz="1001" dirty="0"/>
              <a:t>	INPUT user INTO {‘</a:t>
            </a:r>
            <a:r>
              <a:rPr lang="en-AU" sz="1001" dirty="0" err="1"/>
              <a:t>favourite_team</a:t>
            </a:r>
            <a:r>
              <a:rPr lang="en-AU" sz="1001" dirty="0"/>
              <a:t>’} TABLE</a:t>
            </a:r>
          </a:p>
          <a:p>
            <a:endParaRPr lang="en-AU" sz="900" dirty="0"/>
          </a:p>
        </p:txBody>
      </p:sp>
      <p:sp>
        <p:nvSpPr>
          <p:cNvPr id="22" name="TextBox 21">
            <a:extLst>
              <a:ext uri="{FF2B5EF4-FFF2-40B4-BE49-F238E27FC236}">
                <a16:creationId xmlns:a16="http://schemas.microsoft.com/office/drawing/2014/main" id="{75F77B9A-D7ED-40FD-AD08-B2F22719D4FE}"/>
              </a:ext>
            </a:extLst>
          </p:cNvPr>
          <p:cNvSpPr txBox="1"/>
          <p:nvPr/>
        </p:nvSpPr>
        <p:spPr>
          <a:xfrm>
            <a:off x="9289134" y="133997"/>
            <a:ext cx="2717476" cy="1632498"/>
          </a:xfrm>
          <a:prstGeom prst="rect">
            <a:avLst/>
          </a:prstGeom>
          <a:solidFill>
            <a:schemeClr val="bg1"/>
          </a:solidFill>
          <a:ln>
            <a:solidFill>
              <a:srgbClr val="00B050"/>
            </a:solidFill>
          </a:ln>
        </p:spPr>
        <p:txBody>
          <a:bodyPr wrap="square" rtlCol="0">
            <a:spAutoFit/>
          </a:bodyPr>
          <a:lstStyle/>
          <a:p>
            <a:r>
              <a:rPr lang="en-US" sz="1001" dirty="0">
                <a:cs typeface="Courier New" panose="02070309020205020404" pitchFamily="49" charset="0"/>
              </a:rPr>
              <a:t>Through the submission of information by the user such as their </a:t>
            </a:r>
            <a:r>
              <a:rPr lang="en-US" sz="1001" dirty="0" err="1">
                <a:cs typeface="Courier New" panose="02070309020205020404" pitchFamily="49" charset="0"/>
              </a:rPr>
              <a:t>favourite</a:t>
            </a:r>
            <a:r>
              <a:rPr lang="en-US" sz="1001" dirty="0">
                <a:cs typeface="Courier New" panose="02070309020205020404" pitchFamily="49" charset="0"/>
              </a:rPr>
              <a:t> Football/ Soccer Team, algorithms such as this match these users to other users of the same </a:t>
            </a:r>
            <a:r>
              <a:rPr lang="en-US" sz="1001" dirty="0" err="1">
                <a:cs typeface="Courier New" panose="02070309020205020404" pitchFamily="49" charset="0"/>
              </a:rPr>
              <a:t>favourite</a:t>
            </a:r>
            <a:r>
              <a:rPr lang="en-US" sz="1001" dirty="0">
                <a:cs typeface="Courier New" panose="02070309020205020404" pitchFamily="49" charset="0"/>
              </a:rPr>
              <a:t> team, thus they will find the site more user-friendly to their interests. This algorithm iterates through users and inputs them into tables characterized by their </a:t>
            </a:r>
            <a:r>
              <a:rPr lang="en-US" sz="1001" dirty="0" err="1">
                <a:cs typeface="Courier New" panose="02070309020205020404" pitchFamily="49" charset="0"/>
              </a:rPr>
              <a:t>favourite</a:t>
            </a:r>
            <a:r>
              <a:rPr lang="en-US" sz="1001" dirty="0">
                <a:cs typeface="Courier New" panose="02070309020205020404" pitchFamily="49" charset="0"/>
              </a:rPr>
              <a:t> team. More algorithms could be used to use this data to increase the probability of users in each table to interact with </a:t>
            </a:r>
            <a:r>
              <a:rPr lang="en-US" sz="1001" dirty="0" err="1">
                <a:cs typeface="Courier New" panose="02070309020205020404" pitchFamily="49" charset="0"/>
              </a:rPr>
              <a:t>eachother</a:t>
            </a:r>
            <a:r>
              <a:rPr lang="en-US" sz="1001" dirty="0">
                <a:cs typeface="Courier New" panose="02070309020205020404" pitchFamily="49" charset="0"/>
              </a:rPr>
              <a:t>.</a:t>
            </a:r>
            <a:endParaRPr lang="en-AU" sz="1001" dirty="0">
              <a:cs typeface="Courier New" panose="02070309020205020404" pitchFamily="49" charset="0"/>
            </a:endParaRPr>
          </a:p>
        </p:txBody>
      </p:sp>
      <p:cxnSp>
        <p:nvCxnSpPr>
          <p:cNvPr id="23" name="Straight Arrow Connector 22">
            <a:extLst>
              <a:ext uri="{FF2B5EF4-FFF2-40B4-BE49-F238E27FC236}">
                <a16:creationId xmlns:a16="http://schemas.microsoft.com/office/drawing/2014/main" id="{26B61DA2-DB84-41B8-8147-9845F3788FEC}"/>
              </a:ext>
            </a:extLst>
          </p:cNvPr>
          <p:cNvCxnSpPr>
            <a:cxnSpLocks/>
          </p:cNvCxnSpPr>
          <p:nvPr/>
        </p:nvCxnSpPr>
        <p:spPr>
          <a:xfrm>
            <a:off x="11576672" y="1750653"/>
            <a:ext cx="0" cy="495006"/>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26" name="TextBox 25">
            <a:extLst>
              <a:ext uri="{FF2B5EF4-FFF2-40B4-BE49-F238E27FC236}">
                <a16:creationId xmlns:a16="http://schemas.microsoft.com/office/drawing/2014/main" id="{38F53D16-69F8-404B-9355-2D60FAB566C2}"/>
              </a:ext>
            </a:extLst>
          </p:cNvPr>
          <p:cNvSpPr txBox="1"/>
          <p:nvPr/>
        </p:nvSpPr>
        <p:spPr>
          <a:xfrm>
            <a:off x="9289133" y="5495531"/>
            <a:ext cx="2717476" cy="1170449"/>
          </a:xfrm>
          <a:prstGeom prst="rect">
            <a:avLst/>
          </a:prstGeom>
          <a:solidFill>
            <a:schemeClr val="bg1"/>
          </a:solidFill>
          <a:ln>
            <a:solidFill>
              <a:srgbClr val="00B050"/>
            </a:solidFill>
          </a:ln>
        </p:spPr>
        <p:txBody>
          <a:bodyPr wrap="square" rtlCol="0">
            <a:spAutoFit/>
          </a:bodyPr>
          <a:lstStyle/>
          <a:p>
            <a:r>
              <a:rPr lang="en-US" sz="1001" dirty="0">
                <a:cs typeface="Courier New" panose="02070309020205020404" pitchFamily="49" charset="0"/>
              </a:rPr>
              <a:t>Similar to matching interests, users can also be categorized by their skill in FIFA, in this case being determined by the amount of career goals scored. This algorithm retrieves the user’s amount of goals and sets a list of goal requirement for different ranks varying from ‘Bronze’ to ‘Masters’.</a:t>
            </a:r>
            <a:endParaRPr lang="en-AU" sz="1001" dirty="0">
              <a:cs typeface="Courier New" panose="02070309020205020404" pitchFamily="49" charset="0"/>
            </a:endParaRPr>
          </a:p>
        </p:txBody>
      </p:sp>
      <p:cxnSp>
        <p:nvCxnSpPr>
          <p:cNvPr id="27" name="Straight Arrow Connector 26">
            <a:extLst>
              <a:ext uri="{FF2B5EF4-FFF2-40B4-BE49-F238E27FC236}">
                <a16:creationId xmlns:a16="http://schemas.microsoft.com/office/drawing/2014/main" id="{3DBE1ADD-14D1-41A9-B361-5DF5602A1617}"/>
              </a:ext>
            </a:extLst>
          </p:cNvPr>
          <p:cNvCxnSpPr>
            <a:cxnSpLocks/>
          </p:cNvCxnSpPr>
          <p:nvPr/>
        </p:nvCxnSpPr>
        <p:spPr>
          <a:xfrm flipH="1">
            <a:off x="8713695" y="6139226"/>
            <a:ext cx="575438" cy="0"/>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29" name="TextBox 28">
            <a:extLst>
              <a:ext uri="{FF2B5EF4-FFF2-40B4-BE49-F238E27FC236}">
                <a16:creationId xmlns:a16="http://schemas.microsoft.com/office/drawing/2014/main" id="{874E8C68-3943-4FDA-A7FE-D05EC44A886F}"/>
              </a:ext>
            </a:extLst>
          </p:cNvPr>
          <p:cNvSpPr txBox="1"/>
          <p:nvPr/>
        </p:nvSpPr>
        <p:spPr>
          <a:xfrm>
            <a:off x="9289137" y="3560440"/>
            <a:ext cx="2717477" cy="1177310"/>
          </a:xfrm>
          <a:prstGeom prst="rect">
            <a:avLst/>
          </a:prstGeom>
          <a:solidFill>
            <a:schemeClr val="bg1"/>
          </a:solidFill>
          <a:ln>
            <a:solidFill>
              <a:srgbClr val="00B050"/>
            </a:solidFill>
          </a:ln>
        </p:spPr>
        <p:txBody>
          <a:bodyPr wrap="square" rtlCol="0">
            <a:spAutoFit/>
          </a:bodyPr>
          <a:lstStyle/>
          <a:p>
            <a:r>
              <a:rPr lang="en-AU" sz="1200" dirty="0"/>
              <a:t>Algorithm for validating email</a:t>
            </a:r>
          </a:p>
          <a:p>
            <a:pPr>
              <a:lnSpc>
                <a:spcPct val="150000"/>
              </a:lnSpc>
            </a:pPr>
            <a:r>
              <a:rPr lang="en-AU" sz="1001" dirty="0"/>
              <a:t>IF </a:t>
            </a:r>
            <a:r>
              <a:rPr lang="en-AU" sz="1001" dirty="0" err="1"/>
              <a:t>User.Registered</a:t>
            </a:r>
            <a:r>
              <a:rPr lang="en-AU" sz="1001" dirty="0"/>
              <a:t> = True</a:t>
            </a:r>
          </a:p>
          <a:p>
            <a:pPr>
              <a:lnSpc>
                <a:spcPct val="150000"/>
              </a:lnSpc>
            </a:pPr>
            <a:r>
              <a:rPr lang="en-AU" sz="1001" dirty="0"/>
              <a:t>GET FROM User TABLE </a:t>
            </a:r>
            <a:r>
              <a:rPr lang="en-AU" sz="1001" dirty="0" err="1"/>
              <a:t>User.Email</a:t>
            </a:r>
            <a:endParaRPr lang="en-AU" sz="1001" dirty="0"/>
          </a:p>
          <a:p>
            <a:pPr>
              <a:lnSpc>
                <a:spcPct val="150000"/>
              </a:lnSpc>
            </a:pPr>
            <a:r>
              <a:rPr lang="en-AU" sz="1001" dirty="0"/>
              <a:t>	SEND </a:t>
            </a:r>
            <a:r>
              <a:rPr lang="en-AU" sz="1001" dirty="0" err="1"/>
              <a:t>Verification_Email</a:t>
            </a:r>
            <a:r>
              <a:rPr lang="en-AU" sz="1001" dirty="0"/>
              <a:t> 	to User .Email</a:t>
            </a:r>
          </a:p>
        </p:txBody>
      </p:sp>
      <p:sp>
        <p:nvSpPr>
          <p:cNvPr id="30" name="TextBox 29">
            <a:extLst>
              <a:ext uri="{FF2B5EF4-FFF2-40B4-BE49-F238E27FC236}">
                <a16:creationId xmlns:a16="http://schemas.microsoft.com/office/drawing/2014/main" id="{09F86AAF-B921-498C-880C-C32BAAFDDB7F}"/>
              </a:ext>
            </a:extLst>
          </p:cNvPr>
          <p:cNvSpPr txBox="1"/>
          <p:nvPr/>
        </p:nvSpPr>
        <p:spPr>
          <a:xfrm>
            <a:off x="9289133" y="4824406"/>
            <a:ext cx="2717476" cy="554383"/>
          </a:xfrm>
          <a:prstGeom prst="rect">
            <a:avLst/>
          </a:prstGeom>
          <a:solidFill>
            <a:schemeClr val="bg1"/>
          </a:solidFill>
          <a:ln>
            <a:solidFill>
              <a:srgbClr val="00B050"/>
            </a:solidFill>
          </a:ln>
        </p:spPr>
        <p:txBody>
          <a:bodyPr wrap="square" rtlCol="0">
            <a:spAutoFit/>
          </a:bodyPr>
          <a:lstStyle/>
          <a:p>
            <a:r>
              <a:rPr lang="en-US" sz="1001" dirty="0">
                <a:cs typeface="Courier New" panose="02070309020205020404" pitchFamily="49" charset="0"/>
              </a:rPr>
              <a:t>Within the FIFA eSports Web app, emails will be sent in order to test the validity of the email inputted by a user registering in the </a:t>
            </a:r>
            <a:r>
              <a:rPr lang="en-US" sz="1001" dirty="0" err="1">
                <a:cs typeface="Courier New" panose="02070309020205020404" pitchFamily="49" charset="0"/>
              </a:rPr>
              <a:t>UserForm</a:t>
            </a:r>
            <a:r>
              <a:rPr lang="en-US" sz="1001" dirty="0">
                <a:cs typeface="Courier New" panose="02070309020205020404" pitchFamily="49" charset="0"/>
              </a:rPr>
              <a:t>.</a:t>
            </a:r>
            <a:endParaRPr lang="en-AU" sz="1001" dirty="0">
              <a:cs typeface="Courier New" panose="02070309020205020404" pitchFamily="49" charset="0"/>
            </a:endParaRPr>
          </a:p>
        </p:txBody>
      </p:sp>
      <p:cxnSp>
        <p:nvCxnSpPr>
          <p:cNvPr id="31" name="Straight Arrow Connector 30">
            <a:extLst>
              <a:ext uri="{FF2B5EF4-FFF2-40B4-BE49-F238E27FC236}">
                <a16:creationId xmlns:a16="http://schemas.microsoft.com/office/drawing/2014/main" id="{A6E83E73-1418-4401-8998-926A1CE9EB62}"/>
              </a:ext>
            </a:extLst>
          </p:cNvPr>
          <p:cNvCxnSpPr>
            <a:cxnSpLocks/>
          </p:cNvCxnSpPr>
          <p:nvPr/>
        </p:nvCxnSpPr>
        <p:spPr>
          <a:xfrm flipH="1" flipV="1">
            <a:off x="11712393" y="4381959"/>
            <a:ext cx="1" cy="442444"/>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656737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3" y="-64910"/>
            <a:ext cx="4911634" cy="807246"/>
          </a:xfrm>
        </p:spPr>
        <p:txBody>
          <a:bodyPr>
            <a:normAutofit/>
          </a:bodyPr>
          <a:lstStyle/>
          <a:p>
            <a:r>
              <a:rPr lang="en-AU" sz="2400" b="1" dirty="0"/>
              <a:t>Generate- User interface (HTML code)</a:t>
            </a:r>
          </a:p>
        </p:txBody>
      </p:sp>
      <p:pic>
        <p:nvPicPr>
          <p:cNvPr id="4" name="Picture 3">
            <a:extLst>
              <a:ext uri="{FF2B5EF4-FFF2-40B4-BE49-F238E27FC236}">
                <a16:creationId xmlns:a16="http://schemas.microsoft.com/office/drawing/2014/main" id="{58438999-3AC0-4F69-933E-0BBE1BB3C22F}"/>
              </a:ext>
            </a:extLst>
          </p:cNvPr>
          <p:cNvPicPr>
            <a:picLocks noChangeAspect="1"/>
          </p:cNvPicPr>
          <p:nvPr/>
        </p:nvPicPr>
        <p:blipFill>
          <a:blip r:embed="rId2"/>
          <a:stretch>
            <a:fillRect/>
          </a:stretch>
        </p:blipFill>
        <p:spPr>
          <a:xfrm>
            <a:off x="315044" y="708968"/>
            <a:ext cx="4281546" cy="3238258"/>
          </a:xfrm>
          <a:prstGeom prst="rect">
            <a:avLst/>
          </a:prstGeom>
          <a:ln>
            <a:solidFill>
              <a:srgbClr val="00B050"/>
            </a:solidFill>
          </a:ln>
        </p:spPr>
      </p:pic>
      <p:pic>
        <p:nvPicPr>
          <p:cNvPr id="5" name="Picture 4">
            <a:extLst>
              <a:ext uri="{FF2B5EF4-FFF2-40B4-BE49-F238E27FC236}">
                <a16:creationId xmlns:a16="http://schemas.microsoft.com/office/drawing/2014/main" id="{8DED5743-84F5-4668-A468-C04CDB9AC66A}"/>
              </a:ext>
            </a:extLst>
          </p:cNvPr>
          <p:cNvPicPr>
            <a:picLocks noChangeAspect="1"/>
          </p:cNvPicPr>
          <p:nvPr/>
        </p:nvPicPr>
        <p:blipFill>
          <a:blip r:embed="rId3"/>
          <a:stretch>
            <a:fillRect/>
          </a:stretch>
        </p:blipFill>
        <p:spPr>
          <a:xfrm>
            <a:off x="4911635" y="338714"/>
            <a:ext cx="4317678" cy="3238258"/>
          </a:xfrm>
          <a:prstGeom prst="rect">
            <a:avLst/>
          </a:prstGeom>
          <a:ln>
            <a:solidFill>
              <a:srgbClr val="00B050"/>
            </a:solidFill>
          </a:ln>
        </p:spPr>
      </p:pic>
      <p:pic>
        <p:nvPicPr>
          <p:cNvPr id="7" name="Picture 6">
            <a:extLst>
              <a:ext uri="{FF2B5EF4-FFF2-40B4-BE49-F238E27FC236}">
                <a16:creationId xmlns:a16="http://schemas.microsoft.com/office/drawing/2014/main" id="{A89E2A10-8559-486D-BBFB-6EDB36059E3B}"/>
              </a:ext>
            </a:extLst>
          </p:cNvPr>
          <p:cNvPicPr>
            <a:picLocks noChangeAspect="1"/>
          </p:cNvPicPr>
          <p:nvPr/>
        </p:nvPicPr>
        <p:blipFill>
          <a:blip r:embed="rId4"/>
          <a:stretch>
            <a:fillRect/>
          </a:stretch>
        </p:blipFill>
        <p:spPr>
          <a:xfrm>
            <a:off x="4714054" y="4203071"/>
            <a:ext cx="3265167" cy="2456601"/>
          </a:xfrm>
          <a:prstGeom prst="rect">
            <a:avLst/>
          </a:prstGeom>
          <a:ln>
            <a:solidFill>
              <a:srgbClr val="00B050"/>
            </a:solidFill>
          </a:ln>
        </p:spPr>
      </p:pic>
      <p:pic>
        <p:nvPicPr>
          <p:cNvPr id="8" name="Picture 7">
            <a:extLst>
              <a:ext uri="{FF2B5EF4-FFF2-40B4-BE49-F238E27FC236}">
                <a16:creationId xmlns:a16="http://schemas.microsoft.com/office/drawing/2014/main" id="{D312F098-2281-4B3E-B77A-6754F16CEA9C}"/>
              </a:ext>
            </a:extLst>
          </p:cNvPr>
          <p:cNvPicPr>
            <a:picLocks noChangeAspect="1"/>
          </p:cNvPicPr>
          <p:nvPr/>
        </p:nvPicPr>
        <p:blipFill>
          <a:blip r:embed="rId5"/>
          <a:stretch>
            <a:fillRect/>
          </a:stretch>
        </p:blipFill>
        <p:spPr>
          <a:xfrm>
            <a:off x="8155818" y="3696821"/>
            <a:ext cx="3933872" cy="2962853"/>
          </a:xfrm>
          <a:prstGeom prst="rect">
            <a:avLst/>
          </a:prstGeom>
          <a:ln>
            <a:solidFill>
              <a:srgbClr val="00B050"/>
            </a:solidFill>
          </a:ln>
        </p:spPr>
      </p:pic>
      <p:sp>
        <p:nvSpPr>
          <p:cNvPr id="9" name="TextBox 8">
            <a:extLst>
              <a:ext uri="{FF2B5EF4-FFF2-40B4-BE49-F238E27FC236}">
                <a16:creationId xmlns:a16="http://schemas.microsoft.com/office/drawing/2014/main" id="{E0AA1197-B89A-482F-BB37-0C46FD5398AB}"/>
              </a:ext>
            </a:extLst>
          </p:cNvPr>
          <p:cNvSpPr txBox="1"/>
          <p:nvPr/>
        </p:nvSpPr>
        <p:spPr>
          <a:xfrm>
            <a:off x="2844421" y="478140"/>
            <a:ext cx="1759177" cy="461665"/>
          </a:xfrm>
          <a:prstGeom prst="rect">
            <a:avLst/>
          </a:prstGeom>
          <a:solidFill>
            <a:schemeClr val="bg1"/>
          </a:solidFill>
          <a:ln>
            <a:solidFill>
              <a:srgbClr val="00B050"/>
            </a:solidFill>
          </a:ln>
        </p:spPr>
        <p:txBody>
          <a:bodyPr wrap="square" rtlCol="0">
            <a:spAutoFit/>
          </a:bodyPr>
          <a:lstStyle/>
          <a:p>
            <a:r>
              <a:rPr lang="en-AU" sz="1200" b="1" dirty="0"/>
              <a:t>/threads/Sample_ thread_1.html</a:t>
            </a:r>
            <a:endParaRPr lang="en-AU" sz="900" b="1" dirty="0"/>
          </a:p>
        </p:txBody>
      </p:sp>
      <p:pic>
        <p:nvPicPr>
          <p:cNvPr id="10" name="Picture 9">
            <a:extLst>
              <a:ext uri="{FF2B5EF4-FFF2-40B4-BE49-F238E27FC236}">
                <a16:creationId xmlns:a16="http://schemas.microsoft.com/office/drawing/2014/main" id="{376A75F5-3BAC-4B16-9951-A63282F0B99D}"/>
              </a:ext>
            </a:extLst>
          </p:cNvPr>
          <p:cNvPicPr>
            <a:picLocks noChangeAspect="1"/>
          </p:cNvPicPr>
          <p:nvPr/>
        </p:nvPicPr>
        <p:blipFill rotWithShape="1">
          <a:blip r:embed="rId3"/>
          <a:srcRect b="75071"/>
          <a:stretch/>
        </p:blipFill>
        <p:spPr>
          <a:xfrm>
            <a:off x="263280" y="5914226"/>
            <a:ext cx="4317678" cy="807246"/>
          </a:xfrm>
          <a:prstGeom prst="rect">
            <a:avLst/>
          </a:prstGeom>
          <a:ln>
            <a:solidFill>
              <a:srgbClr val="00B050"/>
            </a:solidFill>
          </a:ln>
        </p:spPr>
      </p:pic>
      <p:sp>
        <p:nvSpPr>
          <p:cNvPr id="11" name="TextBox 10">
            <a:extLst>
              <a:ext uri="{FF2B5EF4-FFF2-40B4-BE49-F238E27FC236}">
                <a16:creationId xmlns:a16="http://schemas.microsoft.com/office/drawing/2014/main" id="{8F648C84-A680-4D6C-A209-2E71D7408F29}"/>
              </a:ext>
            </a:extLst>
          </p:cNvPr>
          <p:cNvSpPr txBox="1"/>
          <p:nvPr/>
        </p:nvSpPr>
        <p:spPr>
          <a:xfrm>
            <a:off x="267446" y="4035996"/>
            <a:ext cx="4245366" cy="862416"/>
          </a:xfrm>
          <a:prstGeom prst="rect">
            <a:avLst/>
          </a:prstGeom>
          <a:solidFill>
            <a:schemeClr val="bg1"/>
          </a:solidFill>
          <a:ln>
            <a:solidFill>
              <a:srgbClr val="00B050"/>
            </a:solidFill>
          </a:ln>
        </p:spPr>
        <p:txBody>
          <a:bodyPr wrap="square" rtlCol="0">
            <a:spAutoFit/>
          </a:bodyPr>
          <a:lstStyle/>
          <a:p>
            <a:r>
              <a:rPr lang="en-AU" sz="1001" dirty="0"/>
              <a:t>This HTML page demonstrates the view inside one of the threads. As seen here the ‘</a:t>
            </a:r>
            <a:r>
              <a:rPr lang="en-AU" sz="1001" dirty="0" err="1"/>
              <a:t>thread_title</a:t>
            </a:r>
            <a:r>
              <a:rPr lang="en-AU" sz="1001" dirty="0"/>
              <a:t>’ and ‘</a:t>
            </a:r>
            <a:r>
              <a:rPr lang="en-AU" sz="1001" dirty="0" err="1"/>
              <a:t>thread_text</a:t>
            </a:r>
            <a:r>
              <a:rPr lang="en-AU" sz="1001" dirty="0"/>
              <a:t>’ seen in the URLS ‘/threads’ and ‘/threads/CreateThread.html’ are at the top of the page. Below this are comments, with their respective comment texts and the user linked. A reply to a comment can also be seen within the first sample comment.</a:t>
            </a:r>
            <a:endParaRPr lang="en-AU" sz="1001" dirty="0">
              <a:latin typeface="Courier New" panose="02070309020205020404" pitchFamily="49" charset="0"/>
              <a:cs typeface="Courier New" panose="02070309020205020404" pitchFamily="49" charset="0"/>
            </a:endParaRPr>
          </a:p>
        </p:txBody>
      </p:sp>
      <p:sp>
        <p:nvSpPr>
          <p:cNvPr id="12" name="TextBox 11">
            <a:extLst>
              <a:ext uri="{FF2B5EF4-FFF2-40B4-BE49-F238E27FC236}">
                <a16:creationId xmlns:a16="http://schemas.microsoft.com/office/drawing/2014/main" id="{7256F2F0-7D6F-4219-9C8C-844F22262F8D}"/>
              </a:ext>
            </a:extLst>
          </p:cNvPr>
          <p:cNvSpPr txBox="1"/>
          <p:nvPr/>
        </p:nvSpPr>
        <p:spPr>
          <a:xfrm>
            <a:off x="267446" y="4984614"/>
            <a:ext cx="4245366" cy="862416"/>
          </a:xfrm>
          <a:prstGeom prst="rect">
            <a:avLst/>
          </a:prstGeom>
          <a:solidFill>
            <a:schemeClr val="bg1"/>
          </a:solidFill>
          <a:ln>
            <a:solidFill>
              <a:srgbClr val="00B050"/>
            </a:solidFill>
          </a:ln>
        </p:spPr>
        <p:txBody>
          <a:bodyPr wrap="square" rtlCol="0">
            <a:spAutoFit/>
          </a:bodyPr>
          <a:lstStyle/>
          <a:p>
            <a:r>
              <a:rPr lang="en-AU" sz="1001" dirty="0"/>
              <a:t>The navigation bar is integral for the useability and learnability of the web app. The leftmost of the navigation shows the FIFA 20 Logo and the Bundaberg eSports logo. To the right of this are the relevant main pages with a backdrop of a FIFA image. The translucent backdrops of the texts and logos make the text readable without obstructing on the image. </a:t>
            </a:r>
            <a:endParaRPr lang="en-AU" sz="1001" dirty="0">
              <a:latin typeface="Courier New" panose="02070309020205020404" pitchFamily="49" charset="0"/>
              <a:cs typeface="Courier New" panose="02070309020205020404" pitchFamily="49" charset="0"/>
            </a:endParaRPr>
          </a:p>
        </p:txBody>
      </p:sp>
      <p:sp>
        <p:nvSpPr>
          <p:cNvPr id="13" name="TextBox 12">
            <a:extLst>
              <a:ext uri="{FF2B5EF4-FFF2-40B4-BE49-F238E27FC236}">
                <a16:creationId xmlns:a16="http://schemas.microsoft.com/office/drawing/2014/main" id="{F5BDE73E-FD0C-4C17-B5AE-580383951237}"/>
              </a:ext>
            </a:extLst>
          </p:cNvPr>
          <p:cNvSpPr txBox="1"/>
          <p:nvPr/>
        </p:nvSpPr>
        <p:spPr>
          <a:xfrm>
            <a:off x="4773196" y="3679327"/>
            <a:ext cx="3206023" cy="400366"/>
          </a:xfrm>
          <a:prstGeom prst="rect">
            <a:avLst/>
          </a:prstGeom>
          <a:solidFill>
            <a:schemeClr val="bg1"/>
          </a:solidFill>
          <a:ln>
            <a:solidFill>
              <a:srgbClr val="00B050"/>
            </a:solidFill>
          </a:ln>
        </p:spPr>
        <p:txBody>
          <a:bodyPr wrap="square" rtlCol="0">
            <a:spAutoFit/>
          </a:bodyPr>
          <a:lstStyle/>
          <a:p>
            <a:r>
              <a:rPr lang="en-AU" sz="1001" dirty="0"/>
              <a:t>The thread creation form uses alignment for fields combined with a captcha for data security.</a:t>
            </a:r>
            <a:endParaRPr lang="en-AU" sz="1001" dirty="0">
              <a:latin typeface="Courier New" panose="02070309020205020404" pitchFamily="49" charset="0"/>
              <a:cs typeface="Courier New" panose="02070309020205020404" pitchFamily="49" charset="0"/>
            </a:endParaRPr>
          </a:p>
        </p:txBody>
      </p:sp>
      <p:sp>
        <p:nvSpPr>
          <p:cNvPr id="14" name="TextBox 13">
            <a:extLst>
              <a:ext uri="{FF2B5EF4-FFF2-40B4-BE49-F238E27FC236}">
                <a16:creationId xmlns:a16="http://schemas.microsoft.com/office/drawing/2014/main" id="{8E2390DE-BCAA-4B00-A40F-B91E3BAF8955}"/>
              </a:ext>
            </a:extLst>
          </p:cNvPr>
          <p:cNvSpPr txBox="1"/>
          <p:nvPr/>
        </p:nvSpPr>
        <p:spPr>
          <a:xfrm>
            <a:off x="9347585" y="68646"/>
            <a:ext cx="2758066" cy="2248564"/>
          </a:xfrm>
          <a:prstGeom prst="rect">
            <a:avLst/>
          </a:prstGeom>
          <a:solidFill>
            <a:schemeClr val="bg1"/>
          </a:solidFill>
          <a:ln>
            <a:solidFill>
              <a:srgbClr val="00B050"/>
            </a:solidFill>
          </a:ln>
        </p:spPr>
        <p:txBody>
          <a:bodyPr wrap="square" rtlCol="0">
            <a:spAutoFit/>
          </a:bodyPr>
          <a:lstStyle/>
          <a:p>
            <a:r>
              <a:rPr lang="en-AU" sz="1001" dirty="0"/>
              <a:t>The ‘/threads’ page is the basis of the Bundaberg FIFA eSports web app forum which consequently has mass social, economic and personal impact on the Bundaberg FIFA community.  A title followed by a description is listed at the top in black to contrast the orange and white gradient background. Following this, thread models are displayed via boxes with the blue thread titles indicating links. Alongside this is the thread description and the user whom created the thread, which also has a link. The thread page also has an option to create a thread which will link to the </a:t>
            </a:r>
            <a:r>
              <a:rPr lang="en-AU" sz="1001" dirty="0" err="1"/>
              <a:t>ThreadForm</a:t>
            </a:r>
            <a:r>
              <a:rPr lang="en-AU" sz="1001" dirty="0"/>
              <a:t> through the URL ‘/threads/CreateThread.html’</a:t>
            </a:r>
            <a:endParaRPr lang="en-AU" sz="1001" dirty="0">
              <a:latin typeface="Courier New" panose="02070309020205020404" pitchFamily="49" charset="0"/>
              <a:cs typeface="Courier New" panose="02070309020205020404" pitchFamily="49" charset="0"/>
            </a:endParaRPr>
          </a:p>
        </p:txBody>
      </p:sp>
      <p:sp>
        <p:nvSpPr>
          <p:cNvPr id="15" name="TextBox 14">
            <a:extLst>
              <a:ext uri="{FF2B5EF4-FFF2-40B4-BE49-F238E27FC236}">
                <a16:creationId xmlns:a16="http://schemas.microsoft.com/office/drawing/2014/main" id="{834B8AE9-08F1-42DE-98C4-FD797D4ACE98}"/>
              </a:ext>
            </a:extLst>
          </p:cNvPr>
          <p:cNvSpPr txBox="1"/>
          <p:nvPr/>
        </p:nvSpPr>
        <p:spPr>
          <a:xfrm>
            <a:off x="9331627" y="2406334"/>
            <a:ext cx="2758066" cy="1170449"/>
          </a:xfrm>
          <a:prstGeom prst="rect">
            <a:avLst/>
          </a:prstGeom>
          <a:solidFill>
            <a:schemeClr val="bg1"/>
          </a:solidFill>
          <a:ln>
            <a:solidFill>
              <a:srgbClr val="00B050"/>
            </a:solidFill>
          </a:ln>
        </p:spPr>
        <p:txBody>
          <a:bodyPr wrap="square" rtlCol="0">
            <a:spAutoFit/>
          </a:bodyPr>
          <a:lstStyle/>
          <a:p>
            <a:r>
              <a:rPr lang="en-AU" sz="1001" dirty="0">
                <a:cs typeface="Courier New" panose="02070309020205020404" pitchFamily="49" charset="0"/>
              </a:rPr>
              <a:t>The data upload is important for collecting FIFA data and thus making the site better for this. A captcha is used to prevent mass botting of data upload. The data is accepted at the bottom through .csv files. A disclaimer is also given stating moderators will check data before officially uploading it to the main database.</a:t>
            </a:r>
          </a:p>
        </p:txBody>
      </p:sp>
      <p:sp>
        <p:nvSpPr>
          <p:cNvPr id="16" name="TextBox 15">
            <a:extLst>
              <a:ext uri="{FF2B5EF4-FFF2-40B4-BE49-F238E27FC236}">
                <a16:creationId xmlns:a16="http://schemas.microsoft.com/office/drawing/2014/main" id="{78AFE0C1-2002-4F93-880F-746612B83B71}"/>
              </a:ext>
            </a:extLst>
          </p:cNvPr>
          <p:cNvSpPr txBox="1"/>
          <p:nvPr/>
        </p:nvSpPr>
        <p:spPr>
          <a:xfrm>
            <a:off x="8399511" y="149138"/>
            <a:ext cx="829802" cy="276999"/>
          </a:xfrm>
          <a:prstGeom prst="rect">
            <a:avLst/>
          </a:prstGeom>
          <a:solidFill>
            <a:schemeClr val="bg1"/>
          </a:solidFill>
          <a:ln>
            <a:solidFill>
              <a:srgbClr val="00B050"/>
            </a:solidFill>
          </a:ln>
        </p:spPr>
        <p:txBody>
          <a:bodyPr wrap="square" rtlCol="0">
            <a:spAutoFit/>
          </a:bodyPr>
          <a:lstStyle/>
          <a:p>
            <a:r>
              <a:rPr lang="en-AU" sz="1200" b="1" dirty="0"/>
              <a:t>/threads</a:t>
            </a:r>
            <a:endParaRPr lang="en-AU" sz="900" b="1" dirty="0"/>
          </a:p>
        </p:txBody>
      </p:sp>
      <p:sp>
        <p:nvSpPr>
          <p:cNvPr id="17" name="TextBox 16">
            <a:extLst>
              <a:ext uri="{FF2B5EF4-FFF2-40B4-BE49-F238E27FC236}">
                <a16:creationId xmlns:a16="http://schemas.microsoft.com/office/drawing/2014/main" id="{3311019F-C63D-44DA-BE7A-FF711C152410}"/>
              </a:ext>
            </a:extLst>
          </p:cNvPr>
          <p:cNvSpPr txBox="1"/>
          <p:nvPr/>
        </p:nvSpPr>
        <p:spPr>
          <a:xfrm>
            <a:off x="6480422" y="6317853"/>
            <a:ext cx="1759177" cy="461665"/>
          </a:xfrm>
          <a:prstGeom prst="rect">
            <a:avLst/>
          </a:prstGeom>
          <a:solidFill>
            <a:schemeClr val="bg1"/>
          </a:solidFill>
          <a:ln>
            <a:solidFill>
              <a:srgbClr val="00B050"/>
            </a:solidFill>
          </a:ln>
        </p:spPr>
        <p:txBody>
          <a:bodyPr wrap="square" rtlCol="0">
            <a:spAutoFit/>
          </a:bodyPr>
          <a:lstStyle/>
          <a:p>
            <a:r>
              <a:rPr lang="en-AU" sz="1200" b="1" dirty="0"/>
              <a:t>/threads/CreateThread.html</a:t>
            </a:r>
            <a:endParaRPr lang="en-AU" sz="900" b="1" dirty="0"/>
          </a:p>
        </p:txBody>
      </p:sp>
      <p:sp>
        <p:nvSpPr>
          <p:cNvPr id="18" name="TextBox 17">
            <a:extLst>
              <a:ext uri="{FF2B5EF4-FFF2-40B4-BE49-F238E27FC236}">
                <a16:creationId xmlns:a16="http://schemas.microsoft.com/office/drawing/2014/main" id="{6A2B11B8-10E3-4139-984B-14BE162D4ED6}"/>
              </a:ext>
            </a:extLst>
          </p:cNvPr>
          <p:cNvSpPr txBox="1"/>
          <p:nvPr/>
        </p:nvSpPr>
        <p:spPr>
          <a:xfrm>
            <a:off x="10470932" y="6087021"/>
            <a:ext cx="1759177" cy="461665"/>
          </a:xfrm>
          <a:prstGeom prst="rect">
            <a:avLst/>
          </a:prstGeom>
          <a:solidFill>
            <a:schemeClr val="bg1"/>
          </a:solidFill>
          <a:ln>
            <a:solidFill>
              <a:srgbClr val="00B050"/>
            </a:solidFill>
          </a:ln>
        </p:spPr>
        <p:txBody>
          <a:bodyPr wrap="square" rtlCol="0">
            <a:spAutoFit/>
          </a:bodyPr>
          <a:lstStyle/>
          <a:p>
            <a:r>
              <a:rPr lang="en-AU" sz="1200" b="1" dirty="0"/>
              <a:t>/users/</a:t>
            </a:r>
            <a:r>
              <a:rPr lang="en-AU" sz="1200" b="1" dirty="0" err="1"/>
              <a:t>UserInput</a:t>
            </a:r>
            <a:r>
              <a:rPr lang="en-AU" sz="1200" b="1" dirty="0"/>
              <a:t>/DataUpload.html</a:t>
            </a:r>
            <a:endParaRPr lang="en-AU" sz="900" b="1" dirty="0"/>
          </a:p>
        </p:txBody>
      </p:sp>
      <p:cxnSp>
        <p:nvCxnSpPr>
          <p:cNvPr id="19" name="Straight Arrow Connector 18">
            <a:extLst>
              <a:ext uri="{FF2B5EF4-FFF2-40B4-BE49-F238E27FC236}">
                <a16:creationId xmlns:a16="http://schemas.microsoft.com/office/drawing/2014/main" id="{EC903A2A-E7E8-4662-A5B5-4839B935A529}"/>
              </a:ext>
            </a:extLst>
          </p:cNvPr>
          <p:cNvCxnSpPr>
            <a:cxnSpLocks/>
            <a:endCxn id="9" idx="3"/>
          </p:cNvCxnSpPr>
          <p:nvPr/>
        </p:nvCxnSpPr>
        <p:spPr>
          <a:xfrm flipH="1">
            <a:off x="4603598" y="338716"/>
            <a:ext cx="3795915" cy="370257"/>
          </a:xfrm>
          <a:prstGeom prst="straightConnector1">
            <a:avLst/>
          </a:prstGeom>
          <a:ln w="63500">
            <a:solidFill>
              <a:srgbClr val="FF0000">
                <a:alpha val="60000"/>
              </a:srgbClr>
            </a:solidFill>
            <a:tailEnd type="triangle"/>
          </a:ln>
        </p:spPr>
        <p:style>
          <a:lnRef idx="1">
            <a:schemeClr val="accent2"/>
          </a:lnRef>
          <a:fillRef idx="0">
            <a:schemeClr val="accent2"/>
          </a:fillRef>
          <a:effectRef idx="0">
            <a:schemeClr val="accent2"/>
          </a:effectRef>
          <a:fontRef idx="minor">
            <a:schemeClr val="tx1"/>
          </a:fontRef>
        </p:style>
      </p:cxnSp>
      <p:cxnSp>
        <p:nvCxnSpPr>
          <p:cNvPr id="20" name="Straight Arrow Connector 19">
            <a:extLst>
              <a:ext uri="{FF2B5EF4-FFF2-40B4-BE49-F238E27FC236}">
                <a16:creationId xmlns:a16="http://schemas.microsoft.com/office/drawing/2014/main" id="{5469216C-3468-490B-934A-D0C6647D7471}"/>
              </a:ext>
            </a:extLst>
          </p:cNvPr>
          <p:cNvCxnSpPr>
            <a:cxnSpLocks/>
            <a:stCxn id="16" idx="2"/>
          </p:cNvCxnSpPr>
          <p:nvPr/>
        </p:nvCxnSpPr>
        <p:spPr>
          <a:xfrm flipH="1">
            <a:off x="7979223" y="426137"/>
            <a:ext cx="835191" cy="5891717"/>
          </a:xfrm>
          <a:prstGeom prst="straightConnector1">
            <a:avLst/>
          </a:prstGeom>
          <a:ln w="63500">
            <a:solidFill>
              <a:srgbClr val="FF0000">
                <a:alpha val="60000"/>
              </a:srgbClr>
            </a:solidFill>
            <a:tailEnd type="triangle"/>
          </a:ln>
        </p:spPr>
        <p:style>
          <a:lnRef idx="1">
            <a:schemeClr val="accent2"/>
          </a:lnRef>
          <a:fillRef idx="0">
            <a:schemeClr val="accent2"/>
          </a:fillRef>
          <a:effectRef idx="0">
            <a:schemeClr val="accent2"/>
          </a:effectRef>
          <a:fontRef idx="minor">
            <a:schemeClr val="tx1"/>
          </a:fontRef>
        </p:style>
      </p:cxnSp>
      <p:cxnSp>
        <p:nvCxnSpPr>
          <p:cNvPr id="23" name="Straight Arrow Connector 22">
            <a:extLst>
              <a:ext uri="{FF2B5EF4-FFF2-40B4-BE49-F238E27FC236}">
                <a16:creationId xmlns:a16="http://schemas.microsoft.com/office/drawing/2014/main" id="{09EAC7AD-EE6A-4C83-80E9-871F3EB536AB}"/>
              </a:ext>
            </a:extLst>
          </p:cNvPr>
          <p:cNvCxnSpPr>
            <a:cxnSpLocks/>
          </p:cNvCxnSpPr>
          <p:nvPr/>
        </p:nvCxnSpPr>
        <p:spPr>
          <a:xfrm flipV="1">
            <a:off x="2844418" y="3576975"/>
            <a:ext cx="0" cy="459025"/>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26" name="Straight Arrow Connector 25">
            <a:extLst>
              <a:ext uri="{FF2B5EF4-FFF2-40B4-BE49-F238E27FC236}">
                <a16:creationId xmlns:a16="http://schemas.microsoft.com/office/drawing/2014/main" id="{AE026451-114E-4CC2-B565-7CEBD74DECF9}"/>
              </a:ext>
            </a:extLst>
          </p:cNvPr>
          <p:cNvCxnSpPr>
            <a:cxnSpLocks/>
          </p:cNvCxnSpPr>
          <p:nvPr/>
        </p:nvCxnSpPr>
        <p:spPr>
          <a:xfrm>
            <a:off x="2996818" y="5846393"/>
            <a:ext cx="0" cy="471461"/>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29" name="Straight Arrow Connector 28">
            <a:extLst>
              <a:ext uri="{FF2B5EF4-FFF2-40B4-BE49-F238E27FC236}">
                <a16:creationId xmlns:a16="http://schemas.microsoft.com/office/drawing/2014/main" id="{B44A3B8F-530C-4E04-8BEC-483FDD7F8874}"/>
              </a:ext>
            </a:extLst>
          </p:cNvPr>
          <p:cNvCxnSpPr>
            <a:cxnSpLocks/>
          </p:cNvCxnSpPr>
          <p:nvPr/>
        </p:nvCxnSpPr>
        <p:spPr>
          <a:xfrm>
            <a:off x="5593481" y="4079440"/>
            <a:ext cx="0" cy="471461"/>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30" name="Straight Arrow Connector 29">
            <a:extLst>
              <a:ext uri="{FF2B5EF4-FFF2-40B4-BE49-F238E27FC236}">
                <a16:creationId xmlns:a16="http://schemas.microsoft.com/office/drawing/2014/main" id="{CAE180C9-CB54-4A17-BBEB-ADB291470E57}"/>
              </a:ext>
            </a:extLst>
          </p:cNvPr>
          <p:cNvCxnSpPr>
            <a:cxnSpLocks/>
          </p:cNvCxnSpPr>
          <p:nvPr/>
        </p:nvCxnSpPr>
        <p:spPr>
          <a:xfrm flipH="1">
            <a:off x="8968157" y="1347959"/>
            <a:ext cx="379426" cy="0"/>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32" name="Straight Arrow Connector 31">
            <a:extLst>
              <a:ext uri="{FF2B5EF4-FFF2-40B4-BE49-F238E27FC236}">
                <a16:creationId xmlns:a16="http://schemas.microsoft.com/office/drawing/2014/main" id="{D5495F89-EB65-47CD-8FDD-DDF4545E4705}"/>
              </a:ext>
            </a:extLst>
          </p:cNvPr>
          <p:cNvCxnSpPr>
            <a:cxnSpLocks/>
          </p:cNvCxnSpPr>
          <p:nvPr/>
        </p:nvCxnSpPr>
        <p:spPr>
          <a:xfrm flipH="1">
            <a:off x="9869263" y="3575880"/>
            <a:ext cx="1" cy="460116"/>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4767774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p:cNvGrpSpPr/>
          <p:nvPr/>
        </p:nvGrpSpPr>
        <p:grpSpPr>
          <a:xfrm>
            <a:off x="246744" y="580571"/>
            <a:ext cx="5631545" cy="6117772"/>
            <a:chOff x="-1" y="0"/>
            <a:chExt cx="5675092" cy="6553199"/>
          </a:xfrm>
        </p:grpSpPr>
        <p:pic>
          <p:nvPicPr>
            <p:cNvPr id="4" name="Picture 3"/>
            <p:cNvPicPr>
              <a:picLocks noChangeAspect="1"/>
            </p:cNvPicPr>
            <p:nvPr/>
          </p:nvPicPr>
          <p:blipFill>
            <a:blip r:embed="rId2"/>
            <a:stretch>
              <a:fillRect/>
            </a:stretch>
          </p:blipFill>
          <p:spPr>
            <a:xfrm>
              <a:off x="0" y="0"/>
              <a:ext cx="5675091" cy="3893127"/>
            </a:xfrm>
            <a:prstGeom prst="rect">
              <a:avLst/>
            </a:prstGeom>
          </p:spPr>
        </p:pic>
        <p:pic>
          <p:nvPicPr>
            <p:cNvPr id="5" name="Picture 4"/>
            <p:cNvPicPr>
              <a:picLocks noChangeAspect="1"/>
            </p:cNvPicPr>
            <p:nvPr/>
          </p:nvPicPr>
          <p:blipFill>
            <a:blip r:embed="rId3"/>
            <a:stretch>
              <a:fillRect/>
            </a:stretch>
          </p:blipFill>
          <p:spPr>
            <a:xfrm>
              <a:off x="-1" y="3893126"/>
              <a:ext cx="5648197" cy="2660073"/>
            </a:xfrm>
            <a:prstGeom prst="rect">
              <a:avLst/>
            </a:prstGeom>
          </p:spPr>
        </p:pic>
      </p:grpSp>
      <p:grpSp>
        <p:nvGrpSpPr>
          <p:cNvPr id="7" name="Group 6"/>
          <p:cNvGrpSpPr/>
          <p:nvPr/>
        </p:nvGrpSpPr>
        <p:grpSpPr>
          <a:xfrm>
            <a:off x="6081487" y="101603"/>
            <a:ext cx="5921828" cy="6760169"/>
            <a:chOff x="6421441" y="1"/>
            <a:chExt cx="5770559" cy="6760168"/>
          </a:xfrm>
        </p:grpSpPr>
        <p:pic>
          <p:nvPicPr>
            <p:cNvPr id="2" name="Picture 1"/>
            <p:cNvPicPr>
              <a:picLocks noChangeAspect="1"/>
            </p:cNvPicPr>
            <p:nvPr/>
          </p:nvPicPr>
          <p:blipFill>
            <a:blip r:embed="rId4"/>
            <a:stretch>
              <a:fillRect/>
            </a:stretch>
          </p:blipFill>
          <p:spPr>
            <a:xfrm>
              <a:off x="6421441" y="1"/>
              <a:ext cx="5770559" cy="3893126"/>
            </a:xfrm>
            <a:prstGeom prst="rect">
              <a:avLst/>
            </a:prstGeom>
          </p:spPr>
        </p:pic>
        <p:pic>
          <p:nvPicPr>
            <p:cNvPr id="3" name="Picture 2"/>
            <p:cNvPicPr>
              <a:picLocks noChangeAspect="1"/>
            </p:cNvPicPr>
            <p:nvPr/>
          </p:nvPicPr>
          <p:blipFill>
            <a:blip r:embed="rId5"/>
            <a:stretch>
              <a:fillRect/>
            </a:stretch>
          </p:blipFill>
          <p:spPr>
            <a:xfrm>
              <a:off x="6421441" y="3893127"/>
              <a:ext cx="5770559" cy="2867042"/>
            </a:xfrm>
            <a:prstGeom prst="rect">
              <a:avLst/>
            </a:prstGeom>
          </p:spPr>
        </p:pic>
      </p:grpSp>
      <p:sp>
        <p:nvSpPr>
          <p:cNvPr id="8" name="Title 1"/>
          <p:cNvSpPr>
            <a:spLocks noGrp="1"/>
          </p:cNvSpPr>
          <p:nvPr>
            <p:ph type="title"/>
          </p:nvPr>
        </p:nvSpPr>
        <p:spPr>
          <a:xfrm>
            <a:off x="1" y="-290944"/>
            <a:ext cx="10515600" cy="1325563"/>
          </a:xfrm>
        </p:spPr>
        <p:txBody>
          <a:bodyPr>
            <a:normAutofit/>
          </a:bodyPr>
          <a:lstStyle/>
          <a:p>
            <a:r>
              <a:rPr lang="en-AU" sz="2400" b="1" dirty="0"/>
              <a:t>Generate- Code</a:t>
            </a:r>
          </a:p>
        </p:txBody>
      </p:sp>
      <p:cxnSp>
        <p:nvCxnSpPr>
          <p:cNvPr id="9" name="Straight Connector 8"/>
          <p:cNvCxnSpPr/>
          <p:nvPr/>
        </p:nvCxnSpPr>
        <p:spPr>
          <a:xfrm flipV="1">
            <a:off x="5947196" y="194891"/>
            <a:ext cx="8681" cy="6394596"/>
          </a:xfrm>
          <a:prstGeom prst="line">
            <a:avLst/>
          </a:prstGeom>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20503682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p:cNvGrpSpPr/>
          <p:nvPr/>
        </p:nvGrpSpPr>
        <p:grpSpPr>
          <a:xfrm>
            <a:off x="27960" y="667661"/>
            <a:ext cx="5182670" cy="6190343"/>
            <a:chOff x="0" y="0"/>
            <a:chExt cx="5043555" cy="6790692"/>
          </a:xfrm>
        </p:grpSpPr>
        <p:pic>
          <p:nvPicPr>
            <p:cNvPr id="4" name="Picture 3"/>
            <p:cNvPicPr>
              <a:picLocks noChangeAspect="1"/>
            </p:cNvPicPr>
            <p:nvPr/>
          </p:nvPicPr>
          <p:blipFill>
            <a:blip r:embed="rId2"/>
            <a:stretch>
              <a:fillRect/>
            </a:stretch>
          </p:blipFill>
          <p:spPr>
            <a:xfrm>
              <a:off x="0" y="0"/>
              <a:ext cx="5043555" cy="3519055"/>
            </a:xfrm>
            <a:prstGeom prst="rect">
              <a:avLst/>
            </a:prstGeom>
          </p:spPr>
        </p:pic>
        <p:pic>
          <p:nvPicPr>
            <p:cNvPr id="5" name="Picture 4"/>
            <p:cNvPicPr>
              <a:picLocks noChangeAspect="1"/>
            </p:cNvPicPr>
            <p:nvPr/>
          </p:nvPicPr>
          <p:blipFill rotWithShape="1">
            <a:blip r:embed="rId3"/>
            <a:srcRect t="2575"/>
            <a:stretch/>
          </p:blipFill>
          <p:spPr>
            <a:xfrm>
              <a:off x="0" y="3519055"/>
              <a:ext cx="5043555" cy="3271637"/>
            </a:xfrm>
            <a:prstGeom prst="rect">
              <a:avLst/>
            </a:prstGeom>
          </p:spPr>
        </p:pic>
      </p:grpSp>
      <p:pic>
        <p:nvPicPr>
          <p:cNvPr id="6" name="Picture 5"/>
          <p:cNvPicPr>
            <a:picLocks noChangeAspect="1"/>
          </p:cNvPicPr>
          <p:nvPr/>
        </p:nvPicPr>
        <p:blipFill>
          <a:blip r:embed="rId4"/>
          <a:stretch>
            <a:fillRect/>
          </a:stretch>
        </p:blipFill>
        <p:spPr>
          <a:xfrm>
            <a:off x="5527968" y="514468"/>
            <a:ext cx="6653029" cy="4530436"/>
          </a:xfrm>
          <a:prstGeom prst="rect">
            <a:avLst/>
          </a:prstGeom>
        </p:spPr>
      </p:pic>
      <p:pic>
        <p:nvPicPr>
          <p:cNvPr id="7" name="Picture 6"/>
          <p:cNvPicPr>
            <a:picLocks noChangeAspect="1"/>
          </p:cNvPicPr>
          <p:nvPr/>
        </p:nvPicPr>
        <p:blipFill>
          <a:blip r:embed="rId5"/>
          <a:stretch>
            <a:fillRect/>
          </a:stretch>
        </p:blipFill>
        <p:spPr>
          <a:xfrm>
            <a:off x="5527963" y="4947926"/>
            <a:ext cx="6518198" cy="1536609"/>
          </a:xfrm>
          <a:prstGeom prst="rect">
            <a:avLst/>
          </a:prstGeom>
        </p:spPr>
      </p:pic>
      <p:sp>
        <p:nvSpPr>
          <p:cNvPr id="8" name="Title 1"/>
          <p:cNvSpPr>
            <a:spLocks noGrp="1"/>
          </p:cNvSpPr>
          <p:nvPr>
            <p:ph type="title"/>
          </p:nvPr>
        </p:nvSpPr>
        <p:spPr>
          <a:xfrm>
            <a:off x="111497" y="-329468"/>
            <a:ext cx="10515600" cy="1325563"/>
          </a:xfrm>
        </p:spPr>
        <p:txBody>
          <a:bodyPr>
            <a:normAutofit/>
          </a:bodyPr>
          <a:lstStyle/>
          <a:p>
            <a:r>
              <a:rPr lang="en-AU" sz="2400" b="1" dirty="0"/>
              <a:t>Generate- Code</a:t>
            </a:r>
          </a:p>
        </p:txBody>
      </p:sp>
      <p:cxnSp>
        <p:nvCxnSpPr>
          <p:cNvPr id="10" name="Straight Connector 9"/>
          <p:cNvCxnSpPr/>
          <p:nvPr/>
        </p:nvCxnSpPr>
        <p:spPr>
          <a:xfrm flipV="1">
            <a:off x="5393135" y="209404"/>
            <a:ext cx="8681" cy="6394596"/>
          </a:xfrm>
          <a:prstGeom prst="line">
            <a:avLst/>
          </a:prstGeom>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11161015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p:cNvGrpSpPr/>
          <p:nvPr/>
        </p:nvGrpSpPr>
        <p:grpSpPr>
          <a:xfrm>
            <a:off x="-673840" y="536120"/>
            <a:ext cx="7373257" cy="6191251"/>
            <a:chOff x="-529936" y="0"/>
            <a:chExt cx="7543800" cy="6496050"/>
          </a:xfrm>
        </p:grpSpPr>
        <p:pic>
          <p:nvPicPr>
            <p:cNvPr id="4" name="Picture 3"/>
            <p:cNvPicPr>
              <a:picLocks noChangeAspect="1"/>
            </p:cNvPicPr>
            <p:nvPr/>
          </p:nvPicPr>
          <p:blipFill>
            <a:blip r:embed="rId2"/>
            <a:stretch>
              <a:fillRect/>
            </a:stretch>
          </p:blipFill>
          <p:spPr>
            <a:xfrm>
              <a:off x="-529936" y="0"/>
              <a:ext cx="7543800" cy="5257800"/>
            </a:xfrm>
            <a:prstGeom prst="rect">
              <a:avLst/>
            </a:prstGeom>
          </p:spPr>
        </p:pic>
        <p:pic>
          <p:nvPicPr>
            <p:cNvPr id="5" name="Picture 4"/>
            <p:cNvPicPr>
              <a:picLocks noChangeAspect="1"/>
            </p:cNvPicPr>
            <p:nvPr/>
          </p:nvPicPr>
          <p:blipFill>
            <a:blip r:embed="rId3"/>
            <a:stretch>
              <a:fillRect/>
            </a:stretch>
          </p:blipFill>
          <p:spPr>
            <a:xfrm>
              <a:off x="-515649" y="5257800"/>
              <a:ext cx="7515225" cy="1238250"/>
            </a:xfrm>
            <a:prstGeom prst="rect">
              <a:avLst/>
            </a:prstGeom>
          </p:spPr>
        </p:pic>
      </p:grpSp>
      <p:sp>
        <p:nvSpPr>
          <p:cNvPr id="7" name="Title 1"/>
          <p:cNvSpPr>
            <a:spLocks noGrp="1"/>
          </p:cNvSpPr>
          <p:nvPr>
            <p:ph type="title"/>
          </p:nvPr>
        </p:nvSpPr>
        <p:spPr>
          <a:xfrm>
            <a:off x="116115" y="-285926"/>
            <a:ext cx="10515600" cy="1325563"/>
          </a:xfrm>
        </p:spPr>
        <p:txBody>
          <a:bodyPr>
            <a:normAutofit/>
          </a:bodyPr>
          <a:lstStyle/>
          <a:p>
            <a:r>
              <a:rPr lang="en-AU" sz="2400" b="1" dirty="0"/>
              <a:t>Generate- Code</a:t>
            </a:r>
          </a:p>
        </p:txBody>
      </p:sp>
      <p:cxnSp>
        <p:nvCxnSpPr>
          <p:cNvPr id="8" name="Straight Connector 7"/>
          <p:cNvCxnSpPr/>
          <p:nvPr/>
        </p:nvCxnSpPr>
        <p:spPr>
          <a:xfrm flipV="1">
            <a:off x="6873591" y="161446"/>
            <a:ext cx="8681" cy="6394596"/>
          </a:xfrm>
          <a:prstGeom prst="line">
            <a:avLst/>
          </a:prstGeom>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35111477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 y="-290944"/>
            <a:ext cx="10515600" cy="1325563"/>
          </a:xfrm>
        </p:spPr>
        <p:txBody>
          <a:bodyPr>
            <a:normAutofit/>
          </a:bodyPr>
          <a:lstStyle/>
          <a:p>
            <a:r>
              <a:rPr lang="en-AU" sz="2400" b="1" dirty="0"/>
              <a:t>Evaluation and References- Impacts</a:t>
            </a:r>
          </a:p>
        </p:txBody>
      </p:sp>
      <p:sp>
        <p:nvSpPr>
          <p:cNvPr id="3" name="TextBox 2">
            <a:extLst>
              <a:ext uri="{FF2B5EF4-FFF2-40B4-BE49-F238E27FC236}">
                <a16:creationId xmlns:a16="http://schemas.microsoft.com/office/drawing/2014/main" id="{F373DB4E-EBBB-433F-8757-C8F34C092FBE}"/>
              </a:ext>
            </a:extLst>
          </p:cNvPr>
          <p:cNvSpPr txBox="1"/>
          <p:nvPr/>
        </p:nvSpPr>
        <p:spPr>
          <a:xfrm>
            <a:off x="4523879" y="134000"/>
            <a:ext cx="7482735" cy="2279214"/>
          </a:xfrm>
          <a:prstGeom prst="rect">
            <a:avLst/>
          </a:prstGeom>
          <a:solidFill>
            <a:schemeClr val="bg1"/>
          </a:solidFill>
          <a:ln>
            <a:solidFill>
              <a:srgbClr val="00B050"/>
            </a:solidFill>
          </a:ln>
        </p:spPr>
        <p:txBody>
          <a:bodyPr wrap="square" rtlCol="0">
            <a:spAutoFit/>
          </a:bodyPr>
          <a:lstStyle/>
          <a:p>
            <a:r>
              <a:rPr lang="en-AU" sz="1200" dirty="0"/>
              <a:t>References</a:t>
            </a:r>
          </a:p>
          <a:p>
            <a:endParaRPr lang="en-AU" sz="1001" dirty="0"/>
          </a:p>
          <a:p>
            <a:r>
              <a:rPr lang="en-AU" sz="1001" dirty="0"/>
              <a:t>Djangoproject.com. 2020. </a:t>
            </a:r>
            <a:r>
              <a:rPr lang="en-AU" sz="1001" i="1" dirty="0"/>
              <a:t>The Web Framework For Perfectionists With Deadlines | Django</a:t>
            </a:r>
            <a:r>
              <a:rPr lang="en-AU" sz="1001" dirty="0"/>
              <a:t>. [online] Available at: &lt;https://www.djangoproject.com/&gt; [Accessed 4 June 2020].</a:t>
            </a:r>
          </a:p>
          <a:p>
            <a:endParaRPr lang="en-AU" sz="1001" dirty="0"/>
          </a:p>
          <a:p>
            <a:r>
              <a:rPr lang="en-AU" sz="1001" dirty="0"/>
              <a:t>Lucidchart.com. 2020. Lucid Chart. [online] Available at: &lt;https://www.lucidchart.com/pages/&gt; [Accessed 4 June 2020].</a:t>
            </a:r>
          </a:p>
          <a:p>
            <a:endParaRPr lang="en-AU" sz="1001" dirty="0"/>
          </a:p>
          <a:p>
            <a:r>
              <a:rPr lang="en-AU" sz="1001" dirty="0"/>
              <a:t>Professional forms solutions for you by </a:t>
            </a:r>
            <a:r>
              <a:rPr lang="en-AU" sz="1001" dirty="0" err="1"/>
              <a:t>Zigaform</a:t>
            </a:r>
            <a:r>
              <a:rPr lang="en-AU" sz="1001" dirty="0"/>
              <a:t>. 2020. </a:t>
            </a:r>
            <a:r>
              <a:rPr lang="en-AU" sz="1001" i="1" dirty="0"/>
              <a:t>Portfolio - Professional Forms Solutions For You By </a:t>
            </a:r>
            <a:r>
              <a:rPr lang="en-AU" sz="1001" i="1" dirty="0" err="1"/>
              <a:t>Zigaform</a:t>
            </a:r>
            <a:r>
              <a:rPr lang="en-AU" sz="1001" dirty="0"/>
              <a:t>. [online] Available at: &lt;https://zigaform.com/&gt; [Accessed 4 June 2020].</a:t>
            </a:r>
          </a:p>
          <a:p>
            <a:endParaRPr lang="en-AU" sz="1001" dirty="0"/>
          </a:p>
          <a:p>
            <a:r>
              <a:rPr lang="en-AU" sz="1001" dirty="0"/>
              <a:t>W3schools.com. 2020. </a:t>
            </a:r>
            <a:r>
              <a:rPr lang="en-AU" sz="1001" i="1" dirty="0"/>
              <a:t>W3schools Online Web Tutorials</a:t>
            </a:r>
            <a:r>
              <a:rPr lang="en-AU" sz="1001" dirty="0"/>
              <a:t>. [online] Available at: &lt;https://www.w3schools.com/&gt; [Accessed 4 June 2020].</a:t>
            </a:r>
          </a:p>
          <a:p>
            <a:endParaRPr lang="en-AU" sz="1001" dirty="0"/>
          </a:p>
          <a:p>
            <a:r>
              <a:rPr lang="en-AU" sz="1001" dirty="0"/>
              <a:t>Wufoo. 2020. </a:t>
            </a:r>
            <a:r>
              <a:rPr lang="en-AU" sz="1001" i="1" dirty="0"/>
              <a:t>Online Form Builder With Cloud Storage Database | Wufoo</a:t>
            </a:r>
            <a:r>
              <a:rPr lang="en-AU" sz="1001" dirty="0"/>
              <a:t>. [online] Available at: &lt;https://www.wufoo.com/&gt; [Accessed 4 June 2020].</a:t>
            </a:r>
          </a:p>
        </p:txBody>
      </p:sp>
      <p:sp>
        <p:nvSpPr>
          <p:cNvPr id="4" name="TextBox 3">
            <a:extLst>
              <a:ext uri="{FF2B5EF4-FFF2-40B4-BE49-F238E27FC236}">
                <a16:creationId xmlns:a16="http://schemas.microsoft.com/office/drawing/2014/main" id="{754297D7-6C24-4EE9-9A56-1B53CAA9B540}"/>
              </a:ext>
            </a:extLst>
          </p:cNvPr>
          <p:cNvSpPr txBox="1"/>
          <p:nvPr/>
        </p:nvSpPr>
        <p:spPr>
          <a:xfrm>
            <a:off x="4523879" y="2481294"/>
            <a:ext cx="7482735" cy="2925929"/>
          </a:xfrm>
          <a:prstGeom prst="rect">
            <a:avLst/>
          </a:prstGeom>
          <a:solidFill>
            <a:schemeClr val="bg1"/>
          </a:solidFill>
          <a:ln>
            <a:solidFill>
              <a:srgbClr val="00B050"/>
            </a:solidFill>
          </a:ln>
        </p:spPr>
        <p:txBody>
          <a:bodyPr wrap="square" rtlCol="0">
            <a:spAutoFit/>
          </a:bodyPr>
          <a:lstStyle/>
          <a:p>
            <a:r>
              <a:rPr lang="en-AU" sz="1200" dirty="0"/>
              <a:t>Prescribed Criteria (PC) and Self-Prescribed Criteria (SC) Checklist</a:t>
            </a:r>
          </a:p>
          <a:p>
            <a:pPr marL="171454" indent="-171454">
              <a:buFontTx/>
              <a:buChar char="-"/>
            </a:pPr>
            <a:r>
              <a:rPr lang="en-AU" sz="1001" dirty="0"/>
              <a:t>Must have 7 days of FIFA related data such as player goals, assists, wins, losses, penalties (SC1)</a:t>
            </a:r>
          </a:p>
          <a:p>
            <a:pPr marL="171454" indent="-171454">
              <a:buFontTx/>
              <a:buChar char="-"/>
            </a:pPr>
            <a:r>
              <a:rPr lang="en-AU" sz="1001" dirty="0"/>
              <a:t>Must have 7 days of Web app related data such as forum data (threads and comments), user details, images (SC1)</a:t>
            </a:r>
          </a:p>
          <a:p>
            <a:pPr marL="171454" indent="-171454">
              <a:buFontTx/>
              <a:buChar char="-"/>
            </a:pPr>
            <a:r>
              <a:rPr lang="en-AU" sz="1001" dirty="0"/>
              <a:t>A data upload system for .csv and other files storing masses of data (SC1, PC5)</a:t>
            </a:r>
          </a:p>
          <a:p>
            <a:pPr marL="171454" indent="-171454">
              <a:buFontTx/>
              <a:buChar char="-"/>
            </a:pPr>
            <a:r>
              <a:rPr lang="en-AU" sz="1001" dirty="0"/>
              <a:t>An alert system that sends notification sufficient to the magnitude of the event warranting an alert (SC6)</a:t>
            </a:r>
          </a:p>
          <a:p>
            <a:pPr marL="171454" indent="-171454">
              <a:buFontTx/>
              <a:buChar char="-"/>
            </a:pPr>
            <a:r>
              <a:rPr lang="en-AU" sz="1001" dirty="0"/>
              <a:t>Clear site navigation system for easy access and learnability (PC1, PC2)</a:t>
            </a:r>
          </a:p>
          <a:p>
            <a:pPr marL="171454" indent="-171454">
              <a:buFontTx/>
              <a:buChar char="-"/>
            </a:pPr>
            <a:r>
              <a:rPr lang="en-AU" sz="1001" dirty="0"/>
              <a:t>Construction of website through the use of data to gain information on the social and economic requirement and wants of the target audience for the Bundaberg FIFA eSports web app (PC8, SC2)</a:t>
            </a:r>
          </a:p>
          <a:p>
            <a:pPr marL="171454" indent="-171454">
              <a:buFontTx/>
              <a:buChar char="-"/>
            </a:pPr>
            <a:r>
              <a:rPr lang="en-AU" sz="1001" dirty="0"/>
              <a:t>Efficient and learnable code  that implements complex functions yet necessary for the Bundaberg FIFA eSports web app (PC7, SC3, SC4)</a:t>
            </a:r>
          </a:p>
          <a:p>
            <a:pPr marL="171454" indent="-171454">
              <a:buFontTx/>
              <a:buChar char="-"/>
            </a:pPr>
            <a:r>
              <a:rPr lang="en-AU" sz="1001" dirty="0"/>
              <a:t>Allowance of users to upload data and share data such as comments, threads and images (SC1)</a:t>
            </a:r>
          </a:p>
          <a:p>
            <a:pPr marL="171454" indent="-171454">
              <a:buFontTx/>
              <a:buChar char="-"/>
            </a:pPr>
            <a:r>
              <a:rPr lang="en-AU" sz="1001" dirty="0"/>
              <a:t>Visual communication elements and principles displayed within constructed of Bundaberg FIFA eSports web app UI (PC1, PC6, SC3)</a:t>
            </a:r>
          </a:p>
          <a:p>
            <a:pPr marL="171454" indent="-171454">
              <a:buFontTx/>
              <a:buChar char="-"/>
            </a:pPr>
            <a:r>
              <a:rPr lang="en-AU" sz="1001" dirty="0"/>
              <a:t>Create appropriate diagrams such as DFDs, ER Diagrams and prototype UI designs to help in development stage (PC2, PC5, PC6)</a:t>
            </a:r>
          </a:p>
          <a:p>
            <a:endParaRPr lang="en-AU" sz="1001" dirty="0"/>
          </a:p>
          <a:p>
            <a:r>
              <a:rPr lang="en-AU" sz="1200" dirty="0"/>
              <a:t>Constraints</a:t>
            </a:r>
          </a:p>
          <a:p>
            <a:pPr marL="171454" indent="-171454">
              <a:buFontTx/>
              <a:buChar char="-"/>
            </a:pPr>
            <a:r>
              <a:rPr lang="en-AU" sz="1001" dirty="0"/>
              <a:t>Assignment finished within time frame and considering restraints such as Coronavirus and separate outside disruptions</a:t>
            </a:r>
          </a:p>
          <a:p>
            <a:pPr marL="171454" indent="-171454">
              <a:buFontTx/>
              <a:buChar char="-"/>
            </a:pPr>
            <a:r>
              <a:rPr lang="en-AU" sz="1001" dirty="0"/>
              <a:t>Assessed many accessibility standards and criteria through all stages of the EDGE process within developing the prototype Bundaberg FIFA web app (Explore, develop, generate, evaluate)</a:t>
            </a:r>
          </a:p>
          <a:p>
            <a:pPr marL="171454" indent="-171454">
              <a:buFontTx/>
              <a:buChar char="-"/>
            </a:pPr>
            <a:r>
              <a:rPr lang="en-AU" sz="1001" dirty="0"/>
              <a:t>All data used and uploaded was within legal limits and was done within fair use policies</a:t>
            </a:r>
          </a:p>
        </p:txBody>
      </p:sp>
      <p:sp>
        <p:nvSpPr>
          <p:cNvPr id="9" name="TextBox 8">
            <a:extLst>
              <a:ext uri="{FF2B5EF4-FFF2-40B4-BE49-F238E27FC236}">
                <a16:creationId xmlns:a16="http://schemas.microsoft.com/office/drawing/2014/main" id="{90ADB407-CE1B-44EE-A563-099AE54B1AC7}"/>
              </a:ext>
            </a:extLst>
          </p:cNvPr>
          <p:cNvSpPr txBox="1"/>
          <p:nvPr/>
        </p:nvSpPr>
        <p:spPr>
          <a:xfrm>
            <a:off x="92701" y="742232"/>
            <a:ext cx="4338482" cy="5759269"/>
          </a:xfrm>
          <a:prstGeom prst="rect">
            <a:avLst/>
          </a:prstGeom>
          <a:solidFill>
            <a:schemeClr val="bg1"/>
          </a:solidFill>
          <a:ln>
            <a:solidFill>
              <a:srgbClr val="00B050"/>
            </a:solidFill>
          </a:ln>
        </p:spPr>
        <p:txBody>
          <a:bodyPr wrap="square" rtlCol="0">
            <a:spAutoFit/>
          </a:bodyPr>
          <a:lstStyle/>
          <a:p>
            <a:r>
              <a:rPr lang="en-AU" sz="1200" dirty="0"/>
              <a:t>Social, Personal, Economic and Legal Impacts (PC4)</a:t>
            </a:r>
          </a:p>
          <a:p>
            <a:endParaRPr lang="en-AU" sz="1200" dirty="0"/>
          </a:p>
          <a:p>
            <a:r>
              <a:rPr lang="en-AU" sz="1100" u="sng" dirty="0"/>
              <a:t>Social</a:t>
            </a:r>
          </a:p>
          <a:p>
            <a:r>
              <a:rPr lang="en-AU" sz="1001" dirty="0"/>
              <a:t>The Bundaberg FIFA eSports web app was designed for the purpose of the uniting the FIFA eSports community and thus the social aspect of the app is integral to it’s function. Features such as the forum are designed entirely for social purposes, encouraging users to discuss FIFA related topics through thread and comments. Profiles are made for users to express themselves and interact with other user’s profiles. This will be suitable for personas such as Penny who enjoys eSport discussion and competitions. Thus this site can be deemed to be socially adequate.</a:t>
            </a:r>
          </a:p>
          <a:p>
            <a:endParaRPr lang="en-AU" sz="1001" dirty="0"/>
          </a:p>
          <a:p>
            <a:r>
              <a:rPr lang="en-AU" sz="1100" u="sng" dirty="0"/>
              <a:t>Personal</a:t>
            </a:r>
          </a:p>
          <a:p>
            <a:r>
              <a:rPr lang="en-AU" sz="1001" dirty="0"/>
              <a:t>Within all stages of the EDGE process (explore, develop, generate and evaluate) in creation of the web app, UI and the user experience was considered. Knowledge on visual communication elements and principles attributed to the accessibility, useability and learnability of the site. The features that users were given access to also attribute to the site’s appeal. With personas such as Mitch and Mandy being able to find interest in the data sets created through such feature as the forum or the data upload. Within data upload, there are algorithms and built in functions to store data in a safe way that respects the privacy of the user, using such Django functions as ‘</a:t>
            </a:r>
            <a:r>
              <a:rPr lang="en-AU" sz="1001" dirty="0" err="1"/>
              <a:t>cleaned_data</a:t>
            </a:r>
            <a:r>
              <a:rPr lang="en-AU" sz="1001" dirty="0"/>
              <a:t>’. </a:t>
            </a:r>
          </a:p>
          <a:p>
            <a:endParaRPr lang="en-AU" sz="1001" dirty="0"/>
          </a:p>
          <a:p>
            <a:r>
              <a:rPr lang="en-AU" sz="1100" u="sng" dirty="0"/>
              <a:t>Economic</a:t>
            </a:r>
          </a:p>
          <a:p>
            <a:r>
              <a:rPr lang="en-AU" sz="1001" dirty="0"/>
              <a:t>With the rise of eSports as entertainment, it comes with larger prize money and larger potential for business ventures. Businesses increasing more often have been seen to take interest in eSports such as FIFA with the introduction of FIFA Leagues and the FIFA World Cup. Thus the Bundaberg FIFA Web App can serve as a platform for Bundaberg eSports and the business potential that comes with it. Through player profiles, data upload and team schedules, the Bundaberg FIFA Web app is adept for major business potential.</a:t>
            </a:r>
          </a:p>
          <a:p>
            <a:endParaRPr lang="en-AU" sz="1001" dirty="0"/>
          </a:p>
          <a:p>
            <a:r>
              <a:rPr lang="en-AU" sz="1100" u="sng" dirty="0"/>
              <a:t>Legal</a:t>
            </a:r>
          </a:p>
          <a:p>
            <a:r>
              <a:rPr lang="en-AU" sz="1001" dirty="0"/>
              <a:t>The data used within the Bundaberg FIFA Web App was open and public data, and the modules and necessary external components used to create the prototype was open source.</a:t>
            </a:r>
          </a:p>
        </p:txBody>
      </p:sp>
      <p:pic>
        <p:nvPicPr>
          <p:cNvPr id="1026" name="Picture 2" descr="Check, circle, correct, mark, success, tick, yes icon">
            <a:extLst>
              <a:ext uri="{FF2B5EF4-FFF2-40B4-BE49-F238E27FC236}">
                <a16:creationId xmlns:a16="http://schemas.microsoft.com/office/drawing/2014/main" id="{C598A1C6-880C-463C-97F7-1FC4AB8914F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696692" y="2664818"/>
            <a:ext cx="214388" cy="27789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Check, circle, correct, mark, success, tick, yes icon">
            <a:extLst>
              <a:ext uri="{FF2B5EF4-FFF2-40B4-BE49-F238E27FC236}">
                <a16:creationId xmlns:a16="http://schemas.microsoft.com/office/drawing/2014/main" id="{AC74B8EF-5E02-47A8-8F3C-D16541D81B2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66341" y="2798476"/>
            <a:ext cx="214388" cy="27789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Check, circle, correct, mark, success, tick, yes icon">
            <a:extLst>
              <a:ext uri="{FF2B5EF4-FFF2-40B4-BE49-F238E27FC236}">
                <a16:creationId xmlns:a16="http://schemas.microsoft.com/office/drawing/2014/main" id="{CA201737-F23C-499C-8E56-0CC07F99810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820557" y="2951675"/>
            <a:ext cx="214388" cy="27789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Check, circle, correct, mark, success, tick, yes icon">
            <a:extLst>
              <a:ext uri="{FF2B5EF4-FFF2-40B4-BE49-F238E27FC236}">
                <a16:creationId xmlns:a16="http://schemas.microsoft.com/office/drawing/2014/main" id="{6EB0226F-F3BB-4388-9E9B-AD5F39797D7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94018" y="3113933"/>
            <a:ext cx="214388" cy="27789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Check, circle, correct, mark, success, tick, yes icon">
            <a:extLst>
              <a:ext uri="{FF2B5EF4-FFF2-40B4-BE49-F238E27FC236}">
                <a16:creationId xmlns:a16="http://schemas.microsoft.com/office/drawing/2014/main" id="{5B8FB527-8DB9-424E-8740-BF511A57BDB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437073" y="3252878"/>
            <a:ext cx="214388" cy="27789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Check, circle, correct, mark, success, tick, yes icon">
            <a:extLst>
              <a:ext uri="{FF2B5EF4-FFF2-40B4-BE49-F238E27FC236}">
                <a16:creationId xmlns:a16="http://schemas.microsoft.com/office/drawing/2014/main" id="{0443A65D-6017-45F7-A4A3-019B137AC27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1452" y="3571639"/>
            <a:ext cx="214388" cy="27789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Check, circle, correct, mark, success, tick, yes icon">
            <a:extLst>
              <a:ext uri="{FF2B5EF4-FFF2-40B4-BE49-F238E27FC236}">
                <a16:creationId xmlns:a16="http://schemas.microsoft.com/office/drawing/2014/main" id="{F3606789-7970-4526-BBB9-26BB5629801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789679" y="3712155"/>
            <a:ext cx="214388" cy="27789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Check, circle, correct, mark, success, tick, yes icon">
            <a:extLst>
              <a:ext uri="{FF2B5EF4-FFF2-40B4-BE49-F238E27FC236}">
                <a16:creationId xmlns:a16="http://schemas.microsoft.com/office/drawing/2014/main" id="{91C0A26A-7029-4547-BA1A-ECE84123DD8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696692" y="3851100"/>
            <a:ext cx="214388" cy="27789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Check, circle, correct, mark, success, tick, yes icon">
            <a:extLst>
              <a:ext uri="{FF2B5EF4-FFF2-40B4-BE49-F238E27FC236}">
                <a16:creationId xmlns:a16="http://schemas.microsoft.com/office/drawing/2014/main" id="{75076132-A1C9-46A9-9ADD-D8F2F9BDB1F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528943" y="3990045"/>
            <a:ext cx="214388" cy="27789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Check, circle, correct, mark, success, tick, yes icon">
            <a:extLst>
              <a:ext uri="{FF2B5EF4-FFF2-40B4-BE49-F238E27FC236}">
                <a16:creationId xmlns:a16="http://schemas.microsoft.com/office/drawing/2014/main" id="{D2D29360-7648-4118-BA7E-C120110D215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375402" y="4198734"/>
            <a:ext cx="214388" cy="277890"/>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Check, circle, correct, mark, success, tick, yes icon">
            <a:extLst>
              <a:ext uri="{FF2B5EF4-FFF2-40B4-BE49-F238E27FC236}">
                <a16:creationId xmlns:a16="http://schemas.microsoft.com/office/drawing/2014/main" id="{0509222B-CFBB-4DE1-A6A3-AC5FABBE97F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923533" y="4677145"/>
            <a:ext cx="214388" cy="277890"/>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Check, circle, correct, mark, success, tick, yes icon">
            <a:extLst>
              <a:ext uri="{FF2B5EF4-FFF2-40B4-BE49-F238E27FC236}">
                <a16:creationId xmlns:a16="http://schemas.microsoft.com/office/drawing/2014/main" id="{5A51B58A-E0E1-47B9-AFD3-58D056D6B1E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85938" y="4955036"/>
            <a:ext cx="214388" cy="27789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descr="Check, circle, correct, mark, success, tick, yes icon">
            <a:extLst>
              <a:ext uri="{FF2B5EF4-FFF2-40B4-BE49-F238E27FC236}">
                <a16:creationId xmlns:a16="http://schemas.microsoft.com/office/drawing/2014/main" id="{502B1290-C78D-42DD-B681-716B41158E0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290920" y="5127276"/>
            <a:ext cx="214388" cy="27789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5459B3A-4EBE-4ED4-B030-C1B3EA5E3E4F}"/>
              </a:ext>
            </a:extLst>
          </p:cNvPr>
          <p:cNvSpPr txBox="1"/>
          <p:nvPr/>
        </p:nvSpPr>
        <p:spPr>
          <a:xfrm>
            <a:off x="4504273" y="5474913"/>
            <a:ext cx="4147193" cy="1201098"/>
          </a:xfrm>
          <a:prstGeom prst="rect">
            <a:avLst/>
          </a:prstGeom>
          <a:solidFill>
            <a:schemeClr val="bg1"/>
          </a:solidFill>
          <a:ln>
            <a:solidFill>
              <a:srgbClr val="00B050"/>
            </a:solidFill>
          </a:ln>
        </p:spPr>
        <p:txBody>
          <a:bodyPr wrap="square" rtlCol="0">
            <a:spAutoFit/>
          </a:bodyPr>
          <a:lstStyle/>
          <a:p>
            <a:r>
              <a:rPr lang="en-AU" sz="1200" dirty="0"/>
              <a:t>Completion Criteria (To-do list)</a:t>
            </a:r>
          </a:p>
          <a:p>
            <a:pPr marL="171454" indent="-171454">
              <a:buFontTx/>
              <a:buChar char="-"/>
            </a:pPr>
            <a:r>
              <a:rPr lang="en-AU" sz="1001" dirty="0"/>
              <a:t>Create Thread and comment construction; eSports discussion forum</a:t>
            </a:r>
          </a:p>
          <a:p>
            <a:pPr marL="171454" indent="-171454">
              <a:buFontTx/>
              <a:buChar char="-"/>
            </a:pPr>
            <a:r>
              <a:rPr lang="en-AU" sz="1001" dirty="0"/>
              <a:t>Use Relevant modules used for Bundaberg FIFA audience</a:t>
            </a:r>
          </a:p>
          <a:p>
            <a:pPr marL="171454" indent="-171454">
              <a:buFontTx/>
              <a:buChar char="-"/>
            </a:pPr>
            <a:r>
              <a:rPr lang="en-AU" sz="1001" dirty="0"/>
              <a:t>Create Admin/ Superuser field for testing and easy access to update</a:t>
            </a:r>
          </a:p>
          <a:p>
            <a:pPr marL="171454" indent="-171454">
              <a:buFontTx/>
              <a:buChar char="-"/>
            </a:pPr>
            <a:r>
              <a:rPr lang="en-AU" sz="1001" dirty="0"/>
              <a:t>Use FIFA eSport related data, fields for input and data upload</a:t>
            </a:r>
          </a:p>
          <a:p>
            <a:pPr marL="171454" indent="-171454">
              <a:buFontTx/>
              <a:buChar char="-"/>
            </a:pPr>
            <a:r>
              <a:rPr lang="en-AU" sz="1001" dirty="0"/>
              <a:t>Use the Django-exclusive features that minimise development</a:t>
            </a:r>
          </a:p>
          <a:p>
            <a:pPr marL="171454" indent="-171454">
              <a:buFontTx/>
              <a:buChar char="-"/>
            </a:pPr>
            <a:r>
              <a:rPr lang="en-AU" sz="1001" dirty="0"/>
              <a:t>Create UI’s considering accessibility, useability and learnability</a:t>
            </a:r>
          </a:p>
        </p:txBody>
      </p:sp>
      <p:sp>
        <p:nvSpPr>
          <p:cNvPr id="22" name="TextBox 21">
            <a:extLst>
              <a:ext uri="{FF2B5EF4-FFF2-40B4-BE49-F238E27FC236}">
                <a16:creationId xmlns:a16="http://schemas.microsoft.com/office/drawing/2014/main" id="{A2179566-3961-44A7-B2FC-B2FC1A7147FE}"/>
              </a:ext>
            </a:extLst>
          </p:cNvPr>
          <p:cNvSpPr txBox="1"/>
          <p:nvPr/>
        </p:nvSpPr>
        <p:spPr>
          <a:xfrm>
            <a:off x="8724551" y="5476136"/>
            <a:ext cx="3279518" cy="1170449"/>
          </a:xfrm>
          <a:prstGeom prst="rect">
            <a:avLst/>
          </a:prstGeom>
          <a:solidFill>
            <a:schemeClr val="bg1"/>
          </a:solidFill>
          <a:ln>
            <a:solidFill>
              <a:srgbClr val="00B050"/>
            </a:solidFill>
          </a:ln>
        </p:spPr>
        <p:txBody>
          <a:bodyPr wrap="square" rtlCol="0">
            <a:spAutoFit/>
          </a:bodyPr>
          <a:lstStyle/>
          <a:p>
            <a:pPr marL="171454" indent="-171454">
              <a:buFontTx/>
              <a:buChar char="-"/>
            </a:pPr>
            <a:r>
              <a:rPr lang="en-AU" sz="1001" dirty="0"/>
              <a:t>Create relevant fields for user registration and profiles such as ‘username’ and ‘password’</a:t>
            </a:r>
          </a:p>
          <a:p>
            <a:pPr marL="171454" indent="-171454">
              <a:buFontTx/>
              <a:buChar char="-"/>
            </a:pPr>
            <a:r>
              <a:rPr lang="en-AU" sz="1001" dirty="0"/>
              <a:t>Generate code to register and store data inputted by users through generated forms</a:t>
            </a:r>
          </a:p>
          <a:p>
            <a:pPr marL="171454" indent="-171454">
              <a:buFontTx/>
              <a:buChar char="-"/>
            </a:pPr>
            <a:r>
              <a:rPr lang="en-AU" sz="1001" dirty="0"/>
              <a:t>Create an alert system for users with varying settings</a:t>
            </a:r>
          </a:p>
          <a:p>
            <a:pPr marL="171454" indent="-171454">
              <a:buFontTx/>
              <a:buChar char="-"/>
            </a:pPr>
            <a:r>
              <a:rPr lang="en-AU" sz="1001" dirty="0"/>
              <a:t>Create method for the encryption and decryption of data to respect privacy of users</a:t>
            </a:r>
          </a:p>
        </p:txBody>
      </p:sp>
      <p:pic>
        <p:nvPicPr>
          <p:cNvPr id="23" name="Picture 2" descr="Check, circle, correct, mark, success, tick, yes icon">
            <a:extLst>
              <a:ext uri="{FF2B5EF4-FFF2-40B4-BE49-F238E27FC236}">
                <a16:creationId xmlns:a16="http://schemas.microsoft.com/office/drawing/2014/main" id="{57F41556-713B-4D33-817E-7E84A1E28F6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37567" y="5638209"/>
            <a:ext cx="214388" cy="277890"/>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 descr="Check, circle, correct, mark, success, tick, yes icon">
            <a:extLst>
              <a:ext uri="{FF2B5EF4-FFF2-40B4-BE49-F238E27FC236}">
                <a16:creationId xmlns:a16="http://schemas.microsoft.com/office/drawing/2014/main" id="{EA94A93D-155B-42F6-9833-6DEB8E6DA40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17064" y="5797184"/>
            <a:ext cx="214388" cy="27789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Check, circle, correct, mark, success, tick, yes icon">
            <a:extLst>
              <a:ext uri="{FF2B5EF4-FFF2-40B4-BE49-F238E27FC236}">
                <a16:creationId xmlns:a16="http://schemas.microsoft.com/office/drawing/2014/main" id="{591E8B2E-0861-4C95-8521-5E0981B83E0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79876" y="5952110"/>
            <a:ext cx="214388" cy="27789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 descr="Check, circle, correct, mark, success, tick, yes icon">
            <a:extLst>
              <a:ext uri="{FF2B5EF4-FFF2-40B4-BE49-F238E27FC236}">
                <a16:creationId xmlns:a16="http://schemas.microsoft.com/office/drawing/2014/main" id="{B2DCCFCF-57E1-4D55-AA40-6A7471882F2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21750" y="6091056"/>
            <a:ext cx="214388" cy="277890"/>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 descr="Check, circle, correct, mark, success, tick, yes icon">
            <a:extLst>
              <a:ext uri="{FF2B5EF4-FFF2-40B4-BE49-F238E27FC236}">
                <a16:creationId xmlns:a16="http://schemas.microsoft.com/office/drawing/2014/main" id="{0AB45A99-0E2A-4CB9-B8B5-4F81D97E62D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38646" y="6244201"/>
            <a:ext cx="214388" cy="27789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 descr="Check, circle, correct, mark, success, tick, yes icon">
            <a:extLst>
              <a:ext uri="{FF2B5EF4-FFF2-40B4-BE49-F238E27FC236}">
                <a16:creationId xmlns:a16="http://schemas.microsoft.com/office/drawing/2014/main" id="{7BF67AC1-575B-4A17-81E3-9CE229D2A1E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62779" y="6444172"/>
            <a:ext cx="214388" cy="27789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 descr="Check, circle, correct, mark, success, tick, yes icon">
            <a:extLst>
              <a:ext uri="{FF2B5EF4-FFF2-40B4-BE49-F238E27FC236}">
                <a16:creationId xmlns:a16="http://schemas.microsoft.com/office/drawing/2014/main" id="{A026DF63-6728-42A8-B6D9-E73E798683F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820860" y="5638209"/>
            <a:ext cx="214388" cy="27789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 descr="Check, circle, correct, mark, success, tick, yes icon">
            <a:extLst>
              <a:ext uri="{FF2B5EF4-FFF2-40B4-BE49-F238E27FC236}">
                <a16:creationId xmlns:a16="http://schemas.microsoft.com/office/drawing/2014/main" id="{B2760E46-F5BC-4C2E-839C-F1C23E817B9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63564" y="5924985"/>
            <a:ext cx="214388" cy="277890"/>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 descr="Check, circle, correct, mark, success, tick, yes icon">
            <a:extLst>
              <a:ext uri="{FF2B5EF4-FFF2-40B4-BE49-F238E27FC236}">
                <a16:creationId xmlns:a16="http://schemas.microsoft.com/office/drawing/2014/main" id="{928A8CEB-94A1-4137-B889-5FBD0C41CD0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743332" y="6075074"/>
            <a:ext cx="214388" cy="277890"/>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descr="Check, circle, correct, mark, success, tick, yes icon">
            <a:extLst>
              <a:ext uri="{FF2B5EF4-FFF2-40B4-BE49-F238E27FC236}">
                <a16:creationId xmlns:a16="http://schemas.microsoft.com/office/drawing/2014/main" id="{CB80F294-4661-4A55-A3B2-EB0D9C8744E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63564" y="6397349"/>
            <a:ext cx="214388" cy="277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34092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290943"/>
            <a:ext cx="5352590" cy="987103"/>
          </a:xfrm>
        </p:spPr>
        <p:txBody>
          <a:bodyPr>
            <a:normAutofit/>
          </a:bodyPr>
          <a:lstStyle/>
          <a:p>
            <a:r>
              <a:rPr lang="en-AU" sz="2400" b="1" dirty="0"/>
              <a:t>Evaluation- Testing and Recommendations</a:t>
            </a:r>
          </a:p>
        </p:txBody>
      </p:sp>
      <p:sp>
        <p:nvSpPr>
          <p:cNvPr id="3" name="TextBox 2">
            <a:extLst>
              <a:ext uri="{FF2B5EF4-FFF2-40B4-BE49-F238E27FC236}">
                <a16:creationId xmlns:a16="http://schemas.microsoft.com/office/drawing/2014/main" id="{9FE08282-D3A8-4A11-BEEA-6BA7CB9F771C}"/>
              </a:ext>
            </a:extLst>
          </p:cNvPr>
          <p:cNvSpPr txBox="1"/>
          <p:nvPr/>
        </p:nvSpPr>
        <p:spPr>
          <a:xfrm>
            <a:off x="5352589" y="387649"/>
            <a:ext cx="3878698" cy="6160276"/>
          </a:xfrm>
          <a:prstGeom prst="rect">
            <a:avLst/>
          </a:prstGeom>
          <a:solidFill>
            <a:schemeClr val="bg1"/>
          </a:solidFill>
          <a:ln>
            <a:solidFill>
              <a:srgbClr val="00B050"/>
            </a:solidFill>
          </a:ln>
        </p:spPr>
        <p:txBody>
          <a:bodyPr wrap="square" rtlCol="0">
            <a:spAutoFit/>
          </a:bodyPr>
          <a:lstStyle/>
          <a:p>
            <a:r>
              <a:rPr lang="en-AU" sz="1200" dirty="0"/>
              <a:t>Accessibility Checklist </a:t>
            </a:r>
          </a:p>
          <a:p>
            <a:endParaRPr lang="en-AU" sz="1200" dirty="0"/>
          </a:p>
          <a:p>
            <a:pPr marL="171454" indent="-171454">
              <a:buFontTx/>
              <a:buChar char="-"/>
            </a:pPr>
            <a:r>
              <a:rPr lang="en-AU" sz="1001" dirty="0"/>
              <a:t>A clear navigation bar that gives access to tabs such as ‘Users’, ‘Home’ and ‘Threads’</a:t>
            </a:r>
          </a:p>
          <a:p>
            <a:endParaRPr lang="en-AU" sz="1001" dirty="0"/>
          </a:p>
          <a:p>
            <a:pPr marL="171454" indent="-171454">
              <a:buFontTx/>
              <a:buChar char="-"/>
            </a:pPr>
            <a:r>
              <a:rPr lang="en-AU" sz="1001" dirty="0"/>
              <a:t>Forms are correctly aligned for greater useability and learnability</a:t>
            </a:r>
          </a:p>
          <a:p>
            <a:endParaRPr lang="en-AU" sz="1001" dirty="0"/>
          </a:p>
          <a:p>
            <a:pPr marL="171454" indent="-171454">
              <a:buFontTx/>
              <a:buChar char="-"/>
            </a:pPr>
            <a:r>
              <a:rPr lang="en-AU" sz="1001" dirty="0"/>
              <a:t>Clear borders used for objects such as threads and comments</a:t>
            </a:r>
          </a:p>
          <a:p>
            <a:endParaRPr lang="en-AU" sz="1001" dirty="0"/>
          </a:p>
          <a:p>
            <a:pPr marL="171454" indent="-171454">
              <a:buFontTx/>
              <a:buChar char="-"/>
            </a:pPr>
            <a:r>
              <a:rPr lang="en-AU" sz="1001" dirty="0"/>
              <a:t>Colour contrast between text and background</a:t>
            </a:r>
          </a:p>
          <a:p>
            <a:endParaRPr lang="en-AU" sz="1001" dirty="0"/>
          </a:p>
          <a:p>
            <a:pPr marL="171454" indent="-171454">
              <a:buFontTx/>
              <a:buChar char="-"/>
            </a:pPr>
            <a:r>
              <a:rPr lang="en-AU" sz="1001" dirty="0"/>
              <a:t>Links describe the URL location accurately and efficiently</a:t>
            </a:r>
          </a:p>
          <a:p>
            <a:endParaRPr lang="en-AU" sz="1001" dirty="0">
              <a:highlight>
                <a:srgbClr val="FFFF00"/>
              </a:highlight>
            </a:endParaRPr>
          </a:p>
          <a:p>
            <a:pPr marL="171454" indent="-171454">
              <a:buFontTx/>
              <a:buChar char="-"/>
            </a:pPr>
            <a:r>
              <a:rPr lang="en-AU" sz="1001" dirty="0"/>
              <a:t>Colour not used to display information (body text is not coloured)</a:t>
            </a:r>
          </a:p>
          <a:p>
            <a:endParaRPr lang="en-AU" sz="1001" dirty="0"/>
          </a:p>
          <a:p>
            <a:pPr marL="171454" indent="-171454">
              <a:buFontTx/>
              <a:buChar char="-"/>
            </a:pPr>
            <a:r>
              <a:rPr lang="en-AU" sz="1001" dirty="0"/>
              <a:t>Text size can be manipulated and augmented by the user</a:t>
            </a:r>
          </a:p>
          <a:p>
            <a:endParaRPr lang="en-AU" sz="1001" dirty="0"/>
          </a:p>
          <a:p>
            <a:pPr marL="171454" indent="-171454">
              <a:buFontTx/>
              <a:buChar char="-"/>
            </a:pPr>
            <a:r>
              <a:rPr lang="en-AU" sz="1001" dirty="0"/>
              <a:t>Fields that are mandatory are indicated to be so (Fields that are ‘NON NULLABLE’ within the SQL Table)</a:t>
            </a:r>
          </a:p>
          <a:p>
            <a:endParaRPr lang="en-AU" sz="1001" dirty="0"/>
          </a:p>
          <a:p>
            <a:pPr marL="171454" indent="-171454">
              <a:buFontTx/>
              <a:buChar char="-"/>
            </a:pPr>
            <a:r>
              <a:rPr lang="en-AU" sz="1001" dirty="0"/>
              <a:t>Users can customise their profile with a profile image</a:t>
            </a:r>
          </a:p>
          <a:p>
            <a:endParaRPr lang="en-AU" sz="1001" dirty="0"/>
          </a:p>
          <a:p>
            <a:pPr marL="171454" indent="-171454">
              <a:buFontTx/>
              <a:buChar char="-"/>
            </a:pPr>
            <a:r>
              <a:rPr lang="en-AU" sz="1001" dirty="0"/>
              <a:t>Breadcrumbs are implemented to assist with navigation for the useability and learnability of the site</a:t>
            </a:r>
          </a:p>
          <a:p>
            <a:endParaRPr lang="en-AU" sz="1001" dirty="0"/>
          </a:p>
          <a:p>
            <a:pPr marL="171454" indent="-171454">
              <a:buFontTx/>
              <a:buChar char="-"/>
            </a:pPr>
            <a:r>
              <a:rPr lang="en-AU" sz="1001" dirty="0"/>
              <a:t>Multiple files can be uploaded such as .csv files</a:t>
            </a:r>
          </a:p>
          <a:p>
            <a:endParaRPr lang="en-AU" sz="1001" dirty="0"/>
          </a:p>
          <a:p>
            <a:pPr marL="171454" indent="-171454">
              <a:buFontTx/>
              <a:buChar char="-"/>
            </a:pPr>
            <a:r>
              <a:rPr lang="en-AU" sz="1001" dirty="0"/>
              <a:t>Labels are positioned close to the information related</a:t>
            </a:r>
          </a:p>
          <a:p>
            <a:pPr marL="171454" indent="-171454">
              <a:buFontTx/>
              <a:buChar char="-"/>
            </a:pPr>
            <a:endParaRPr lang="en-AU" sz="1001" dirty="0"/>
          </a:p>
          <a:p>
            <a:pPr marL="171454" indent="-171454">
              <a:buFontTx/>
              <a:buChar char="-"/>
            </a:pPr>
            <a:r>
              <a:rPr lang="en-AU" sz="1001" dirty="0"/>
              <a:t>There is equal proximity between most/ all objects within any given web page</a:t>
            </a:r>
          </a:p>
          <a:p>
            <a:endParaRPr lang="en-AU" sz="1001" dirty="0"/>
          </a:p>
          <a:p>
            <a:pPr marL="171454" indent="-171454">
              <a:buFontTx/>
              <a:buChar char="-"/>
            </a:pPr>
            <a:r>
              <a:rPr lang="en-AU" sz="1001" dirty="0"/>
              <a:t>URLs are readable, easy to interpret and navigate</a:t>
            </a:r>
          </a:p>
          <a:p>
            <a:endParaRPr lang="en-AU" sz="1001" dirty="0"/>
          </a:p>
          <a:p>
            <a:pPr marL="171454" indent="-171454">
              <a:buFontTx/>
              <a:buChar char="-"/>
            </a:pPr>
            <a:r>
              <a:rPr lang="en-AU" sz="1001" dirty="0"/>
              <a:t>Alerts are readable and have adequate settings for the magnitude of the error</a:t>
            </a:r>
          </a:p>
          <a:p>
            <a:endParaRPr lang="en-AU" sz="1001" dirty="0"/>
          </a:p>
          <a:p>
            <a:pPr marL="171454" indent="-171454">
              <a:buFontTx/>
              <a:buChar char="-"/>
            </a:pPr>
            <a:r>
              <a:rPr lang="en-AU" sz="1001" dirty="0"/>
              <a:t>The Bundaberg FIFA eSports Web App main colours can be seen throughout all the app’s UI components</a:t>
            </a:r>
          </a:p>
        </p:txBody>
      </p:sp>
      <p:pic>
        <p:nvPicPr>
          <p:cNvPr id="7" name="Picture 2" descr="Check, circle, correct, mark, success, tick, yes icon">
            <a:extLst>
              <a:ext uri="{FF2B5EF4-FFF2-40B4-BE49-F238E27FC236}">
                <a16:creationId xmlns:a16="http://schemas.microsoft.com/office/drawing/2014/main" id="{009643B7-5A27-4286-BF29-A0C09A21FCE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814961" y="759792"/>
            <a:ext cx="214388" cy="27789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Check, circle, correct, mark, success, tick, yes icon">
            <a:extLst>
              <a:ext uri="{FF2B5EF4-FFF2-40B4-BE49-F238E27FC236}">
                <a16:creationId xmlns:a16="http://schemas.microsoft.com/office/drawing/2014/main" id="{6332D2EF-066C-4CE2-B37B-6D4826BABF6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60802" y="1213943"/>
            <a:ext cx="214388" cy="27789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Check, circle, correct, mark, success, tick, yes icon">
            <a:extLst>
              <a:ext uri="{FF2B5EF4-FFF2-40B4-BE49-F238E27FC236}">
                <a16:creationId xmlns:a16="http://schemas.microsoft.com/office/drawing/2014/main" id="{D4F1C72C-5558-471F-AA4F-97BC4527280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802512" y="1490301"/>
            <a:ext cx="214388" cy="27789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Check, circle, correct, mark, success, tick, yes icon">
            <a:extLst>
              <a:ext uri="{FF2B5EF4-FFF2-40B4-BE49-F238E27FC236}">
                <a16:creationId xmlns:a16="http://schemas.microsoft.com/office/drawing/2014/main" id="{DEE797D9-DC5C-48CF-AC71-D2B90388231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70013" y="1810105"/>
            <a:ext cx="214388" cy="27789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Check, circle, correct, mark, success, tick, yes icon">
            <a:extLst>
              <a:ext uri="{FF2B5EF4-FFF2-40B4-BE49-F238E27FC236}">
                <a16:creationId xmlns:a16="http://schemas.microsoft.com/office/drawing/2014/main" id="{C7E328A1-5D16-4F38-B611-78EA468D914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88124" y="2091264"/>
            <a:ext cx="214388" cy="27789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Check, circle, correct, mark, success, tick, yes icon">
            <a:extLst>
              <a:ext uri="{FF2B5EF4-FFF2-40B4-BE49-F238E27FC236}">
                <a16:creationId xmlns:a16="http://schemas.microsoft.com/office/drawing/2014/main" id="{34E4FF21-7977-4A14-8E04-6D6A5DF92F1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16900" y="2425846"/>
            <a:ext cx="214388" cy="27789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Check, circle, correct, mark, success, tick, yes icon">
            <a:extLst>
              <a:ext uri="{FF2B5EF4-FFF2-40B4-BE49-F238E27FC236}">
                <a16:creationId xmlns:a16="http://schemas.microsoft.com/office/drawing/2014/main" id="{27035967-EF9D-4982-98B9-42E357CF124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69748" y="2692227"/>
            <a:ext cx="214388" cy="27789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Check, circle, correct, mark, success, tick, yes icon">
            <a:extLst>
              <a:ext uri="{FF2B5EF4-FFF2-40B4-BE49-F238E27FC236}">
                <a16:creationId xmlns:a16="http://schemas.microsoft.com/office/drawing/2014/main" id="{D2599497-579E-4EB2-92B0-46001241103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92536" y="3187522"/>
            <a:ext cx="214388" cy="27789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Check, circle, correct, mark, success, tick, yes icon">
            <a:extLst>
              <a:ext uri="{FF2B5EF4-FFF2-40B4-BE49-F238E27FC236}">
                <a16:creationId xmlns:a16="http://schemas.microsoft.com/office/drawing/2014/main" id="{6D3F59C9-519E-4E9A-B9CC-71A78F620ED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73736" y="3503101"/>
            <a:ext cx="214388" cy="27789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Check, circle, correct, mark, success, tick, yes icon">
            <a:extLst>
              <a:ext uri="{FF2B5EF4-FFF2-40B4-BE49-F238E27FC236}">
                <a16:creationId xmlns:a16="http://schemas.microsoft.com/office/drawing/2014/main" id="{C231EB42-0109-44CD-99BE-869E379D985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77380" y="3956021"/>
            <a:ext cx="214388" cy="27789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Check, circle, correct, mark, success, tick, yes icon">
            <a:extLst>
              <a:ext uri="{FF2B5EF4-FFF2-40B4-BE49-F238E27FC236}">
                <a16:creationId xmlns:a16="http://schemas.microsoft.com/office/drawing/2014/main" id="{06749631-CA01-4573-885E-AACCD3F1C4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70013" y="4233911"/>
            <a:ext cx="214388" cy="277890"/>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Check, circle, correct, mark, success, tick, yes icon">
            <a:extLst>
              <a:ext uri="{FF2B5EF4-FFF2-40B4-BE49-F238E27FC236}">
                <a16:creationId xmlns:a16="http://schemas.microsoft.com/office/drawing/2014/main" id="{AB0224AF-E23E-4B43-9223-183CB11B46C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01933" y="4527683"/>
            <a:ext cx="214388" cy="277890"/>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Check, circle, correct, mark, success, tick, yes icon">
            <a:extLst>
              <a:ext uri="{FF2B5EF4-FFF2-40B4-BE49-F238E27FC236}">
                <a16:creationId xmlns:a16="http://schemas.microsoft.com/office/drawing/2014/main" id="{B1874211-464D-4F9F-A24A-279FE02D8B3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75812" y="5015134"/>
            <a:ext cx="214388" cy="27789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descr="Check, circle, correct, mark, success, tick, yes icon">
            <a:extLst>
              <a:ext uri="{FF2B5EF4-FFF2-40B4-BE49-F238E27FC236}">
                <a16:creationId xmlns:a16="http://schemas.microsoft.com/office/drawing/2014/main" id="{7A3CA99B-9675-487F-8F74-E7F1F089BDB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77207" y="5293024"/>
            <a:ext cx="214388" cy="277890"/>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 descr="Check, circle, correct, mark, success, tick, yes icon">
            <a:extLst>
              <a:ext uri="{FF2B5EF4-FFF2-40B4-BE49-F238E27FC236}">
                <a16:creationId xmlns:a16="http://schemas.microsoft.com/office/drawing/2014/main" id="{A767293F-0380-4C8D-81D4-872EE8A50EB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92536" y="6208275"/>
            <a:ext cx="214388" cy="27789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descr="Check, circle, correct, mark, success, tick, yes icon">
            <a:extLst>
              <a:ext uri="{FF2B5EF4-FFF2-40B4-BE49-F238E27FC236}">
                <a16:creationId xmlns:a16="http://schemas.microsoft.com/office/drawing/2014/main" id="{69284219-EF40-46DA-9833-B576EF1A0B4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83007" y="5787811"/>
            <a:ext cx="214388" cy="27789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le 22">
            <a:extLst>
              <a:ext uri="{FF2B5EF4-FFF2-40B4-BE49-F238E27FC236}">
                <a16:creationId xmlns:a16="http://schemas.microsoft.com/office/drawing/2014/main" id="{B173B484-1B29-4C04-9AC9-6F9073A61391}"/>
              </a:ext>
            </a:extLst>
          </p:cNvPr>
          <p:cNvGraphicFramePr>
            <a:graphicFrameLocks noGrp="1"/>
          </p:cNvGraphicFramePr>
          <p:nvPr>
            <p:extLst>
              <p:ext uri="{D42A27DB-BD31-4B8C-83A1-F6EECF244321}">
                <p14:modId xmlns:p14="http://schemas.microsoft.com/office/powerpoint/2010/main" val="562989789"/>
              </p:ext>
            </p:extLst>
          </p:nvPr>
        </p:nvGraphicFramePr>
        <p:xfrm>
          <a:off x="65017" y="457201"/>
          <a:ext cx="5222556" cy="6410196"/>
        </p:xfrm>
        <a:graphic>
          <a:graphicData uri="http://schemas.openxmlformats.org/drawingml/2006/table">
            <a:tbl>
              <a:tblPr firstRow="1" bandRow="1">
                <a:tableStyleId>{93296810-A885-4BE3-A3E7-6D5BEEA58F35}</a:tableStyleId>
              </a:tblPr>
              <a:tblGrid>
                <a:gridCol w="1105006">
                  <a:extLst>
                    <a:ext uri="{9D8B030D-6E8A-4147-A177-3AD203B41FA5}">
                      <a16:colId xmlns:a16="http://schemas.microsoft.com/office/drawing/2014/main" val="146717592"/>
                    </a:ext>
                  </a:extLst>
                </a:gridCol>
                <a:gridCol w="1789611">
                  <a:extLst>
                    <a:ext uri="{9D8B030D-6E8A-4147-A177-3AD203B41FA5}">
                      <a16:colId xmlns:a16="http://schemas.microsoft.com/office/drawing/2014/main" val="3891164820"/>
                    </a:ext>
                  </a:extLst>
                </a:gridCol>
                <a:gridCol w="1031966">
                  <a:extLst>
                    <a:ext uri="{9D8B030D-6E8A-4147-A177-3AD203B41FA5}">
                      <a16:colId xmlns:a16="http://schemas.microsoft.com/office/drawing/2014/main" val="954210858"/>
                    </a:ext>
                  </a:extLst>
                </a:gridCol>
                <a:gridCol w="1295973">
                  <a:extLst>
                    <a:ext uri="{9D8B030D-6E8A-4147-A177-3AD203B41FA5}">
                      <a16:colId xmlns:a16="http://schemas.microsoft.com/office/drawing/2014/main" val="3588653914"/>
                    </a:ext>
                  </a:extLst>
                </a:gridCol>
              </a:tblGrid>
              <a:tr h="466580">
                <a:tc>
                  <a:txBody>
                    <a:bodyPr/>
                    <a:lstStyle/>
                    <a:p>
                      <a:r>
                        <a:rPr lang="en-AU" sz="1200" dirty="0"/>
                        <a:t>Event/ Action</a:t>
                      </a:r>
                    </a:p>
                  </a:txBody>
                  <a:tcPr marT="45721" marB="45721"/>
                </a:tc>
                <a:tc>
                  <a:txBody>
                    <a:bodyPr/>
                    <a:lstStyle/>
                    <a:p>
                      <a:r>
                        <a:rPr lang="en-AU" sz="1200" dirty="0"/>
                        <a:t>Theoretical Output</a:t>
                      </a:r>
                    </a:p>
                  </a:txBody>
                  <a:tcPr marT="45721" marB="45721"/>
                </a:tc>
                <a:tc>
                  <a:txBody>
                    <a:bodyPr/>
                    <a:lstStyle/>
                    <a:p>
                      <a:r>
                        <a:rPr lang="en-AU" sz="1200" dirty="0"/>
                        <a:t>Actual Output</a:t>
                      </a:r>
                    </a:p>
                  </a:txBody>
                  <a:tcPr marT="45721" marB="45721"/>
                </a:tc>
                <a:tc>
                  <a:txBody>
                    <a:bodyPr/>
                    <a:lstStyle/>
                    <a:p>
                      <a:r>
                        <a:rPr lang="en-AU" sz="1200" dirty="0"/>
                        <a:t>Improvements/ Extensions</a:t>
                      </a:r>
                    </a:p>
                  </a:txBody>
                  <a:tcPr marT="45721" marB="45721"/>
                </a:tc>
                <a:extLst>
                  <a:ext uri="{0D108BD9-81ED-4DB2-BD59-A6C34878D82A}">
                    <a16:rowId xmlns:a16="http://schemas.microsoft.com/office/drawing/2014/main" val="2983456073"/>
                  </a:ext>
                </a:extLst>
              </a:tr>
              <a:tr h="640080">
                <a:tc>
                  <a:txBody>
                    <a:bodyPr/>
                    <a:lstStyle/>
                    <a:p>
                      <a:r>
                        <a:rPr lang="en-AU" sz="900" dirty="0"/>
                        <a:t>Test inserting models such as threads, comments and users</a:t>
                      </a:r>
                    </a:p>
                  </a:txBody>
                  <a:tcPr marT="45721" marB="45721"/>
                </a:tc>
                <a:tc>
                  <a:txBody>
                    <a:bodyPr/>
                    <a:lstStyle/>
                    <a:p>
                      <a:r>
                        <a:rPr lang="en-AU" sz="900" dirty="0"/>
                        <a:t>Models should be inserted into SQL table and should be outputted as normally</a:t>
                      </a:r>
                    </a:p>
                  </a:txBody>
                  <a:tcPr marT="45721" marB="45721"/>
                </a:tc>
                <a:tc>
                  <a:txBody>
                    <a:bodyPr/>
                    <a:lstStyle/>
                    <a:p>
                      <a:r>
                        <a:rPr lang="en-AU" sz="900" dirty="0"/>
                        <a:t>Worked as expected</a:t>
                      </a:r>
                    </a:p>
                  </a:txBody>
                  <a:tcPr marT="45721" marB="45721"/>
                </a:tc>
                <a:tc>
                  <a:txBody>
                    <a:bodyPr/>
                    <a:lstStyle/>
                    <a:p>
                      <a:endParaRPr lang="en-AU" sz="900" dirty="0"/>
                    </a:p>
                  </a:txBody>
                  <a:tcPr marT="45721" marB="45721"/>
                </a:tc>
                <a:extLst>
                  <a:ext uri="{0D108BD9-81ED-4DB2-BD59-A6C34878D82A}">
                    <a16:rowId xmlns:a16="http://schemas.microsoft.com/office/drawing/2014/main" val="4253693825"/>
                  </a:ext>
                </a:extLst>
              </a:tr>
              <a:tr h="914400">
                <a:tc>
                  <a:txBody>
                    <a:bodyPr/>
                    <a:lstStyle/>
                    <a:p>
                      <a:r>
                        <a:rPr lang="en-AU" sz="900" dirty="0"/>
                        <a:t>Test registering a user</a:t>
                      </a:r>
                    </a:p>
                  </a:txBody>
                  <a:tcPr marT="45721" marB="45721"/>
                </a:tc>
                <a:tc>
                  <a:txBody>
                    <a:bodyPr/>
                    <a:lstStyle/>
                    <a:p>
                      <a:r>
                        <a:rPr lang="en-AU" sz="900" dirty="0"/>
                        <a:t>All fields such as username, </a:t>
                      </a:r>
                      <a:r>
                        <a:rPr lang="en-AU" sz="900" dirty="0" err="1"/>
                        <a:t>first_name</a:t>
                      </a:r>
                      <a:r>
                        <a:rPr lang="en-AU" sz="900" dirty="0"/>
                        <a:t>, </a:t>
                      </a:r>
                      <a:r>
                        <a:rPr lang="en-AU" sz="900" dirty="0" err="1"/>
                        <a:t>last_name</a:t>
                      </a:r>
                      <a:r>
                        <a:rPr lang="en-AU" sz="900" dirty="0"/>
                        <a:t> and password should be inputted into the SQL table along with password being encrypted</a:t>
                      </a:r>
                    </a:p>
                  </a:txBody>
                  <a:tcPr marT="45721" marB="45721"/>
                </a:tc>
                <a:tc>
                  <a:txBody>
                    <a:bodyPr/>
                    <a:lstStyle/>
                    <a:p>
                      <a:r>
                        <a:rPr lang="en-AU" sz="900" dirty="0"/>
                        <a:t>Worked as expected, with the addition of Django’s auto-generated ‘id’ column</a:t>
                      </a:r>
                    </a:p>
                  </a:txBody>
                  <a:tcPr marT="45721" marB="45721"/>
                </a:tc>
                <a:tc>
                  <a:txBody>
                    <a:bodyPr/>
                    <a:lstStyle/>
                    <a:p>
                      <a:r>
                        <a:rPr lang="en-AU" sz="900" dirty="0"/>
                        <a:t>The password encryption could be used from an external source</a:t>
                      </a:r>
                    </a:p>
                  </a:txBody>
                  <a:tcPr marT="45721" marB="45721"/>
                </a:tc>
                <a:extLst>
                  <a:ext uri="{0D108BD9-81ED-4DB2-BD59-A6C34878D82A}">
                    <a16:rowId xmlns:a16="http://schemas.microsoft.com/office/drawing/2014/main" val="1585715010"/>
                  </a:ext>
                </a:extLst>
              </a:tr>
              <a:tr h="640080">
                <a:tc>
                  <a:txBody>
                    <a:bodyPr/>
                    <a:lstStyle/>
                    <a:p>
                      <a:r>
                        <a:rPr lang="en-AU" sz="900" dirty="0"/>
                        <a:t>Test adding a thread via the </a:t>
                      </a:r>
                      <a:r>
                        <a:rPr lang="en-AU" sz="900" dirty="0" err="1"/>
                        <a:t>ThreadForm</a:t>
                      </a:r>
                      <a:endParaRPr lang="en-AU" sz="900" dirty="0"/>
                    </a:p>
                  </a:txBody>
                  <a:tcPr marT="45721" marB="45721"/>
                </a:tc>
                <a:tc>
                  <a:txBody>
                    <a:bodyPr/>
                    <a:lstStyle/>
                    <a:p>
                      <a:r>
                        <a:rPr lang="en-AU" sz="900" dirty="0"/>
                        <a:t>The fields should be transferred via the python code to the SQL table and the page should refresh with the new table</a:t>
                      </a:r>
                    </a:p>
                  </a:txBody>
                  <a:tcPr marT="45721" marB="45721"/>
                </a:tc>
                <a:tc>
                  <a:txBody>
                    <a:bodyPr/>
                    <a:lstStyle/>
                    <a:p>
                      <a:r>
                        <a:rPr lang="en-AU" sz="900" dirty="0"/>
                        <a:t>Worked as expected</a:t>
                      </a:r>
                    </a:p>
                  </a:txBody>
                  <a:tcPr marT="45721" marB="45721"/>
                </a:tc>
                <a:tc>
                  <a:txBody>
                    <a:bodyPr/>
                    <a:lstStyle/>
                    <a:p>
                      <a:endParaRPr lang="en-AU" sz="900" dirty="0"/>
                    </a:p>
                  </a:txBody>
                  <a:tcPr marT="45721" marB="45721"/>
                </a:tc>
                <a:extLst>
                  <a:ext uri="{0D108BD9-81ED-4DB2-BD59-A6C34878D82A}">
                    <a16:rowId xmlns:a16="http://schemas.microsoft.com/office/drawing/2014/main" val="2446615137"/>
                  </a:ext>
                </a:extLst>
              </a:tr>
              <a:tr h="777241">
                <a:tc>
                  <a:txBody>
                    <a:bodyPr/>
                    <a:lstStyle/>
                    <a:p>
                      <a:r>
                        <a:rPr lang="en-AU" sz="900" dirty="0"/>
                        <a:t>Test uploading images</a:t>
                      </a:r>
                    </a:p>
                  </a:txBody>
                  <a:tcPr marT="45721" marB="45721"/>
                </a:tc>
                <a:tc>
                  <a:txBody>
                    <a:bodyPr/>
                    <a:lstStyle/>
                    <a:p>
                      <a:r>
                        <a:rPr lang="en-AU" sz="900" dirty="0"/>
                        <a:t>The Image should be filed into a datastore and be rendered within HTML code to display to the front-end</a:t>
                      </a:r>
                    </a:p>
                  </a:txBody>
                  <a:tcPr marT="45721" marB="45721"/>
                </a:tc>
                <a:tc>
                  <a:txBody>
                    <a:bodyPr/>
                    <a:lstStyle/>
                    <a:p>
                      <a:r>
                        <a:rPr lang="en-AU" sz="900" dirty="0"/>
                        <a:t>Worked as expected</a:t>
                      </a:r>
                    </a:p>
                  </a:txBody>
                  <a:tcPr marT="45721" marB="45721"/>
                </a:tc>
                <a:tc>
                  <a:txBody>
                    <a:bodyPr/>
                    <a:lstStyle/>
                    <a:p>
                      <a:r>
                        <a:rPr lang="en-AU" sz="900" dirty="0"/>
                        <a:t>Unreliable as only a flat-file database used for this. A larger more reliable database is needed</a:t>
                      </a:r>
                    </a:p>
                  </a:txBody>
                  <a:tcPr marT="45721" marB="45721"/>
                </a:tc>
                <a:extLst>
                  <a:ext uri="{0D108BD9-81ED-4DB2-BD59-A6C34878D82A}">
                    <a16:rowId xmlns:a16="http://schemas.microsoft.com/office/drawing/2014/main" val="1894452738"/>
                  </a:ext>
                </a:extLst>
              </a:tr>
              <a:tr h="777241">
                <a:tc>
                  <a:txBody>
                    <a:bodyPr/>
                    <a:lstStyle/>
                    <a:p>
                      <a:r>
                        <a:rPr lang="en-AU" sz="900" dirty="0"/>
                        <a:t>Test attempting to reach admin controls with a non-admin account</a:t>
                      </a:r>
                    </a:p>
                  </a:txBody>
                  <a:tcPr marT="45721" marB="45721"/>
                </a:tc>
                <a:tc>
                  <a:txBody>
                    <a:bodyPr/>
                    <a:lstStyle/>
                    <a:p>
                      <a:r>
                        <a:rPr lang="en-AU" sz="900" dirty="0"/>
                        <a:t>The user should be denied of access</a:t>
                      </a:r>
                    </a:p>
                  </a:txBody>
                  <a:tcPr marT="45721" marB="45721"/>
                </a:tc>
                <a:tc>
                  <a:txBody>
                    <a:bodyPr/>
                    <a:lstStyle/>
                    <a:p>
                      <a:r>
                        <a:rPr lang="en-AU" sz="900" dirty="0"/>
                        <a:t>Worked as expected, within the Django admin panel</a:t>
                      </a:r>
                    </a:p>
                  </a:txBody>
                  <a:tcPr marT="45721" marB="45721"/>
                </a:tc>
                <a:tc>
                  <a:txBody>
                    <a:bodyPr/>
                    <a:lstStyle/>
                    <a:p>
                      <a:r>
                        <a:rPr lang="en-AU" sz="900" dirty="0"/>
                        <a:t>A more customised admin panel could be implemented, more suited to  the FIFA Web app</a:t>
                      </a:r>
                    </a:p>
                  </a:txBody>
                  <a:tcPr marT="45721" marB="45721"/>
                </a:tc>
                <a:extLst>
                  <a:ext uri="{0D108BD9-81ED-4DB2-BD59-A6C34878D82A}">
                    <a16:rowId xmlns:a16="http://schemas.microsoft.com/office/drawing/2014/main" val="2965338525"/>
                  </a:ext>
                </a:extLst>
              </a:tr>
              <a:tr h="640080">
                <a:tc>
                  <a:txBody>
                    <a:bodyPr/>
                    <a:lstStyle/>
                    <a:p>
                      <a:r>
                        <a:rPr lang="en-AU" sz="900" dirty="0"/>
                        <a:t>Test the hyperlinks and various URLs</a:t>
                      </a:r>
                    </a:p>
                  </a:txBody>
                  <a:tcPr marT="45721" marB="45721"/>
                </a:tc>
                <a:tc>
                  <a:txBody>
                    <a:bodyPr/>
                    <a:lstStyle/>
                    <a:p>
                      <a:r>
                        <a:rPr lang="en-AU" sz="900" dirty="0"/>
                        <a:t>The links direct the user to the correct page, with the correct text and titles displaying links</a:t>
                      </a:r>
                    </a:p>
                  </a:txBody>
                  <a:tcPr marT="45721" marB="45721"/>
                </a:tc>
                <a:tc>
                  <a:txBody>
                    <a:bodyPr/>
                    <a:lstStyle/>
                    <a:p>
                      <a:r>
                        <a:rPr lang="en-AU" sz="900" dirty="0"/>
                        <a:t>Worked as expected</a:t>
                      </a:r>
                    </a:p>
                  </a:txBody>
                  <a:tcPr marT="45721" marB="45721"/>
                </a:tc>
                <a:tc>
                  <a:txBody>
                    <a:bodyPr/>
                    <a:lstStyle/>
                    <a:p>
                      <a:r>
                        <a:rPr lang="en-AU" sz="900" dirty="0"/>
                        <a:t>Make links more clear as a link, blue underline is often universally accepted as a link</a:t>
                      </a:r>
                    </a:p>
                  </a:txBody>
                  <a:tcPr marT="45721" marB="45721"/>
                </a:tc>
                <a:extLst>
                  <a:ext uri="{0D108BD9-81ED-4DB2-BD59-A6C34878D82A}">
                    <a16:rowId xmlns:a16="http://schemas.microsoft.com/office/drawing/2014/main" val="3525682958"/>
                  </a:ext>
                </a:extLst>
              </a:tr>
              <a:tr h="777241">
                <a:tc>
                  <a:txBody>
                    <a:bodyPr/>
                    <a:lstStyle/>
                    <a:p>
                      <a:r>
                        <a:rPr lang="en-AU" sz="900" dirty="0"/>
                        <a:t>Test adding a comment via the </a:t>
                      </a:r>
                      <a:r>
                        <a:rPr lang="en-AU" sz="900" dirty="0" err="1"/>
                        <a:t>CommentForm</a:t>
                      </a:r>
                      <a:endParaRPr lang="en-AU" sz="900" dirty="0"/>
                    </a:p>
                  </a:txBody>
                  <a:tcPr marT="45721" marB="45721"/>
                </a:tc>
                <a:tc>
                  <a:txBody>
                    <a:bodyPr/>
                    <a:lstStyle/>
                    <a:p>
                      <a:r>
                        <a:rPr lang="en-AU" sz="900" dirty="0"/>
                        <a:t>Similar to the </a:t>
                      </a:r>
                      <a:r>
                        <a:rPr lang="en-AU" sz="900" dirty="0" err="1"/>
                        <a:t>ThreadForm</a:t>
                      </a:r>
                      <a:r>
                        <a:rPr lang="en-AU" sz="900" dirty="0"/>
                        <a:t>, the fields should be transferred via python to the SQL table, the page should refresh with the comments rendered</a:t>
                      </a:r>
                    </a:p>
                  </a:txBody>
                  <a:tcPr marT="45721" marB="45721"/>
                </a:tc>
                <a:tc>
                  <a:txBody>
                    <a:bodyPr/>
                    <a:lstStyle/>
                    <a:p>
                      <a:r>
                        <a:rPr lang="en-AU" sz="900" dirty="0"/>
                        <a:t>Worked as expected</a:t>
                      </a:r>
                    </a:p>
                  </a:txBody>
                  <a:tcPr marT="45721" marB="45721"/>
                </a:tc>
                <a:tc>
                  <a:txBody>
                    <a:bodyPr/>
                    <a:lstStyle/>
                    <a:p>
                      <a:endParaRPr lang="en-AU" sz="900" dirty="0"/>
                    </a:p>
                  </a:txBody>
                  <a:tcPr marT="45721" marB="45721"/>
                </a:tc>
                <a:extLst>
                  <a:ext uri="{0D108BD9-81ED-4DB2-BD59-A6C34878D82A}">
                    <a16:rowId xmlns:a16="http://schemas.microsoft.com/office/drawing/2014/main" val="2001803587"/>
                  </a:ext>
                </a:extLst>
              </a:tr>
              <a:tr h="777241">
                <a:tc>
                  <a:txBody>
                    <a:bodyPr/>
                    <a:lstStyle/>
                    <a:p>
                      <a:r>
                        <a:rPr lang="en-AU" sz="900" dirty="0"/>
                        <a:t>Test inserting a thread with no fields</a:t>
                      </a:r>
                    </a:p>
                  </a:txBody>
                  <a:tcPr marT="45721" marB="45721"/>
                </a:tc>
                <a:tc>
                  <a:txBody>
                    <a:bodyPr/>
                    <a:lstStyle/>
                    <a:p>
                      <a:r>
                        <a:rPr lang="en-AU" sz="900" dirty="0"/>
                        <a:t>The thread is not added</a:t>
                      </a:r>
                    </a:p>
                  </a:txBody>
                  <a:tcPr marT="45721" marB="45721"/>
                </a:tc>
                <a:tc>
                  <a:txBody>
                    <a:bodyPr/>
                    <a:lstStyle/>
                    <a:p>
                      <a:r>
                        <a:rPr lang="en-AU" sz="900" dirty="0"/>
                        <a:t>Thread was added with autogenerated ‘id’ and null for all nullable fields</a:t>
                      </a:r>
                    </a:p>
                  </a:txBody>
                  <a:tcPr marT="45721" marB="45721"/>
                </a:tc>
                <a:tc>
                  <a:txBody>
                    <a:bodyPr/>
                    <a:lstStyle/>
                    <a:p>
                      <a:r>
                        <a:rPr lang="en-AU" sz="900" dirty="0"/>
                        <a:t>Implement a requirement for one or more fields to be NON-NULLABLE in the Thread Model</a:t>
                      </a:r>
                    </a:p>
                  </a:txBody>
                  <a:tcPr marT="45721" marB="45721"/>
                </a:tc>
                <a:extLst>
                  <a:ext uri="{0D108BD9-81ED-4DB2-BD59-A6C34878D82A}">
                    <a16:rowId xmlns:a16="http://schemas.microsoft.com/office/drawing/2014/main" val="1863486440"/>
                  </a:ext>
                </a:extLst>
              </a:tr>
            </a:tbl>
          </a:graphicData>
        </a:graphic>
      </p:graphicFrame>
      <p:sp>
        <p:nvSpPr>
          <p:cNvPr id="25" name="TextBox 24">
            <a:extLst>
              <a:ext uri="{FF2B5EF4-FFF2-40B4-BE49-F238E27FC236}">
                <a16:creationId xmlns:a16="http://schemas.microsoft.com/office/drawing/2014/main" id="{9C8C0F9D-CBB4-4B4B-A3B5-1EE99AFD9C52}"/>
              </a:ext>
            </a:extLst>
          </p:cNvPr>
          <p:cNvSpPr txBox="1"/>
          <p:nvPr/>
        </p:nvSpPr>
        <p:spPr>
          <a:xfrm>
            <a:off x="9312979" y="43460"/>
            <a:ext cx="2814009" cy="6776342"/>
          </a:xfrm>
          <a:prstGeom prst="rect">
            <a:avLst/>
          </a:prstGeom>
          <a:solidFill>
            <a:schemeClr val="bg1"/>
          </a:solidFill>
          <a:ln>
            <a:solidFill>
              <a:srgbClr val="00B050"/>
            </a:solidFill>
          </a:ln>
        </p:spPr>
        <p:txBody>
          <a:bodyPr wrap="square" rtlCol="0">
            <a:spAutoFit/>
          </a:bodyPr>
          <a:lstStyle/>
          <a:p>
            <a:r>
              <a:rPr lang="en-AU" sz="1200" dirty="0"/>
              <a:t>Further Recommendations</a:t>
            </a:r>
          </a:p>
          <a:p>
            <a:endParaRPr lang="en-AU" sz="1200" dirty="0"/>
          </a:p>
          <a:p>
            <a:r>
              <a:rPr lang="en-AU" sz="1001" dirty="0"/>
              <a:t>Despite the completion of the prototype, it is evident that there is potential for many of the functionalities and aspects to be improved or extended upon. Although the prototype showed to have many integral features within many web apps such as users, registration/login and a forum, there is much eSport and FIFA related content that can yet be added. </a:t>
            </a:r>
          </a:p>
          <a:p>
            <a:endParaRPr lang="en-AU" sz="1001" dirty="0"/>
          </a:p>
          <a:p>
            <a:r>
              <a:rPr lang="en-AU" sz="1001" dirty="0"/>
              <a:t>An eSport feature that is common within eSport hubs online is a streaming feature. Using modules from ‘Twitch’ or other streaming platforms would attribute to the eSport experience. This could be added upon with a live chat for users to collaborate in the midst of an eSport event. Whilst explored, the app never solidified the concept of adding eSport ‘team pages’ for FIFA Professional eSport gaming teams. Team pages can be customisable and much access can be given to other team developers. Schedules can be implemented  for the competition along with ladders and tables with live scores. The implementation of these eSport companies and teams would attribute greatly to the Economic factor of the Bundaberg FIFA Web app.</a:t>
            </a:r>
          </a:p>
          <a:p>
            <a:endParaRPr lang="en-AU" sz="1001" dirty="0"/>
          </a:p>
          <a:p>
            <a:r>
              <a:rPr lang="en-AU" sz="1001" dirty="0"/>
              <a:t>There are also many FIFA specific components that can be added. FIFA, being a constantly updating and changing game with data such as player statistics and league expectations being changed regularly, there could be more standardised output of this data within the Bundaberg FIFA Web app. As opposed to leaving this discussion to the forum, official pages such as ‘FIFA Updates’ could be implemented.</a:t>
            </a:r>
          </a:p>
          <a:p>
            <a:endParaRPr lang="en-AU" sz="1001" dirty="0"/>
          </a:p>
          <a:p>
            <a:r>
              <a:rPr lang="en-AU" sz="1001" dirty="0"/>
              <a:t>More connection to Bundaberg was needed. This could be done by locating an area for meeting development and maintenance of this site in Bundaberg along with a map located on the home page.</a:t>
            </a:r>
          </a:p>
        </p:txBody>
      </p:sp>
    </p:spTree>
    <p:extLst>
      <p:ext uri="{BB962C8B-B14F-4D97-AF65-F5344CB8AC3E}">
        <p14:creationId xmlns:p14="http://schemas.microsoft.com/office/powerpoint/2010/main" val="35714286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22763</TotalTime>
  <Words>6077</Words>
  <Application>Microsoft Office PowerPoint</Application>
  <PresentationFormat>Widescreen</PresentationFormat>
  <Paragraphs>439</Paragraphs>
  <Slides>14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Courier New</vt:lpstr>
      <vt:lpstr>Office Theme</vt:lpstr>
      <vt:lpstr>  Bundaberg eSports FIFA Web App IA2 Project; Prototype</vt:lpstr>
      <vt:lpstr>PowerPoint Presentation</vt:lpstr>
      <vt:lpstr>Development- Solution overview and Criteria</vt:lpstr>
      <vt:lpstr>Development- User Interface</vt:lpstr>
      <vt:lpstr>Development- User Interface and Data</vt:lpstr>
      <vt:lpstr>Development- Data 1</vt:lpstr>
      <vt:lpstr>Development- Data 2</vt:lpstr>
      <vt:lpstr>Development- Algorithms</vt:lpstr>
      <vt:lpstr>Generate- User interface (HTML code)</vt:lpstr>
      <vt:lpstr>Generate- Code</vt:lpstr>
      <vt:lpstr>Generate- Code</vt:lpstr>
      <vt:lpstr>Generate- Code</vt:lpstr>
      <vt:lpstr>Evaluation and References- Impacts</vt:lpstr>
      <vt:lpstr>Evaluation- Testing and Recommendations</vt:lpstr>
    </vt:vector>
  </TitlesOfParts>
  <Company>Shalom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IA 2- Technical proposal; Student response</dc:title>
  <dc:creator>Paddy Maher</dc:creator>
  <cp:lastModifiedBy>Paddy Maher</cp:lastModifiedBy>
  <cp:revision>185</cp:revision>
  <dcterms:created xsi:type="dcterms:W3CDTF">2020-03-24T00:46:48Z</dcterms:created>
  <dcterms:modified xsi:type="dcterms:W3CDTF">2021-08-17T11:37:08Z</dcterms:modified>
</cp:coreProperties>
</file>